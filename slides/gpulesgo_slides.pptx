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5F6B76"/>
                </a:solidFill>
                <a:latin typeface="Calibri"/>
              </a:defRPr>
            </a:pPr>
            <a:r>
              <a:rPr sz="1500" b="0" i="0" u="none" strike="noStrike">
                <a:solidFill>
                  <a:srgbClr val="5F6B76"/>
                </a:solidFill>
                <a:latin typeface="Calibri"/>
              </a:rPr>
              <a:t>Speedup over the fastest CPU run</a:t>
            </a:r>
          </a:p>
        </c:rich>
      </c:tx>
      <c:layout/>
      <c:overlay val="0"/>
    </c:title>
    <c:autoTitleDeleted val="0"/>
    <c:plotArea>
      <c:layout/>
      <c:barChart>
        <c:barDir val="bar"/>
        <c:grouping val="clustered"/>
        <c:varyColors val="0"/>
        <c:ser>
          <c:idx val="0"/>
          <c:order val="0"/>
          <c:tx>
            <c:strRef>
              <c:f>Sheet1!$B$1</c:f>
              <c:strCache>
                <c:ptCount val="1"/>
                <c:pt idx="0">
                  <c:v>Speedup vs. CPU</c:v>
                </c:pt>
              </c:strCache>
            </c:strRef>
          </c:tx>
          <c:spPr>
            <a:solidFill>
              <a:srgbClr val="9AA8B5"/>
            </a:solidFill>
            <a:effectLst/>
          </c:spPr>
          <c:invertIfNegative val="0"/>
          <c:dLbls>
            <c:numFmt formatCode="0.0&quot;×&quot;" sourceLinked="0"/>
            <c:txPr>
              <a:bodyPr/>
              <a:lstStyle/>
              <a:p>
                <a:pPr>
                  <a:defRPr b="1" i="0" strike="noStrike" sz="1500" u="none">
                    <a:solidFill>
                      <a:srgbClr val="1B2631"/>
                    </a:solidFill>
                    <a:latin typeface="Calibri"/>
                  </a:defRPr>
                </a:pPr>
              </a:p>
            </c:txPr>
            <c:showLegendKey val="0"/>
            <c:showVal val="1"/>
            <c:showCatName val="0"/>
            <c:showSerName val="0"/>
            <c:showPercent val="0"/>
            <c:showBubbleSize val="0"/>
            <c:showLeaderLines val="0"/>
          </c:dLbls>
          <c:dPt>
            <c:idx val="0"/>
            <c:invertIfNegative val="0"/>
            <c:bubble3D val="0"/>
            <c:spPr>
              <a:solidFill>
                <a:srgbClr val="9AA8B5"/>
              </a:solidFill>
              <a:effectLst/>
            </c:spPr>
          </c:dPt>
          <c:dPt>
            <c:idx val="1"/>
            <c:invertIfNegative val="0"/>
            <c:bubble3D val="0"/>
            <c:spPr>
              <a:solidFill>
                <a:srgbClr val="0072B2"/>
              </a:solidFill>
              <a:effectLst/>
            </c:spPr>
          </c:dPt>
          <c:dPt>
            <c:idx val="2"/>
            <c:invertIfNegative val="0"/>
            <c:bubble3D val="0"/>
            <c:spPr>
              <a:solidFill>
                <a:srgbClr val="0072B2"/>
              </a:solidFill>
              <a:effectLst/>
            </c:spPr>
          </c:dPt>
          <c:dPt>
            <c:idx val="3"/>
            <c:invertIfNegative val="0"/>
            <c:bubble3D val="0"/>
            <c:spPr>
              <a:solidFill>
                <a:srgbClr val="0072B2"/>
              </a:solidFill>
              <a:effectLst/>
            </c:spPr>
          </c:dPt>
          <c:dPt>
            <c:idx val="4"/>
            <c:invertIfNegative val="0"/>
            <c:bubble3D val="0"/>
            <c:spPr>
              <a:solidFill>
                <a:srgbClr val="0072B2"/>
              </a:solidFill>
              <a:effectLst/>
            </c:spPr>
          </c:dPt>
          <c:dPt>
            <c:idx val="5"/>
            <c:invertIfNegative val="0"/>
            <c:bubble3D val="0"/>
            <c:spPr>
              <a:solidFill>
                <a:srgbClr val="D55E00"/>
              </a:solidFill>
              <a:effectLst/>
            </c:spPr>
          </c:dPt>
          <c:cat>
            <c:multiLvlStrRef>
              <c:f>Sheet1!$A$2:$A$7</c:f>
              <c:multiLvlStrCache>
                <c:ptCount val="6"/>
                <c:lvl>
                  <c:pt idx="0">
                    <c:v>CPU, fastest config</c:v>
                  </c:pt>
                  <c:pt idx="1">
                    <c:v>Explicit residency</c:v>
                  </c:pt>
                  <c:pt idx="2">
                    <c:v>+ Actuator line on GPU</c:v>
                  </c:pt>
                  <c:pt idx="3">
                    <c:v>+ Chunk pipelining</c:v>
                  </c:pt>
                  <c:pt idx="4">
                    <c:v>+ Batching</c:v>
                  </c:pt>
                  <c:pt idx="5">
                    <c:v>+ CPU–GPU overlap</c:v>
                  </c:pt>
                </c:lvl>
              </c:multiLvlStrCache>
            </c:multiLvlStrRef>
          </c:cat>
          <c:val>
            <c:numRef>
              <c:f>Sheet1!$B$2:$B$7</c:f>
              <c:numCache>
                <c:formatCode>General</c:formatCode>
                <c:ptCount val="6"/>
                <c:pt idx="0">
                  <c:v>1</c:v>
                </c:pt>
                <c:pt idx="1">
                  <c:v>4.9</c:v>
                </c:pt>
                <c:pt idx="2">
                  <c:v>11.3</c:v>
                </c:pt>
                <c:pt idx="3">
                  <c:v>21.4</c:v>
                </c:pt>
                <c:pt idx="4">
                  <c:v>33.8</c:v>
                </c:pt>
                <c:pt idx="5">
                  <c:v>40</c:v>
                </c:pt>
              </c:numCache>
            </c:numRef>
          </c:val>
        </c:ser>
        <c:dLbls>
          <c:numFmt formatCode="0.0&quot;×&quot;" sourceLinked="0"/>
          <c:txPr>
            <a:bodyPr/>
            <a:lstStyle/>
            <a:p>
              <a:pPr>
                <a:defRPr b="1" i="0" strike="noStrike" sz="1500" u="none">
                  <a:solidFill>
                    <a:srgbClr val="1B263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1B2631"/>
                </a:solidFill>
                <a:latin typeface="Calibri"/>
              </a:defRPr>
            </a:pPr>
            <a:endParaRPr lang="en-US"/>
          </a:p>
        </c:txPr>
        <c:crossAx val="2094734552"/>
        <c:crosses val="autoZero"/>
        <c:auto val="1"/>
        <c:lblAlgn val="ctr"/>
        <c:noMultiLvlLbl val="1"/>
      </c:catAx>
      <c:valAx>
        <c:axId val="2094734552"/>
        <c:scaling>
          <c:orientation val="minMax"/>
          <c:max val="4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talk presents the first GPU port of LESGO, a pseudo-spectral large-eddy simulation code for wind farms. The image shows the 60-turbine production case we use throughout: blue streaks are turbine wakes.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Wake losses reduce farm output by 10 to 20 percent. LES is the standard tool, and LESGO is a widely used pseudo-spectral code for this regime. The problem: a production run of our 60-turbine case needs hundreds of thousands of steps, and the CPU code tops out at 6.48 seconds per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has six stages, colored as in the paper's Algorithm 1. Derivatives, convection, and pressure are FFT-driven. The LASD subgrid model and the actuator-line turbine model are irregular: filtering, trajectory interpolation, and thousands of moving off-grid points. Nearly every kernel sweeps large 3D fields, so data placement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LESGO splits the domain into horizontal slabs along z. This keeps 2D FFTs local but makes the pressure solve a serial chain across processes. On Perlmutter CPU nodes, 16 to 64 cores gives only 1.08x, 128 processes run out of memory, and four nodes plateau at 6.48 seconds per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tried the two common strategies. With array mirroring, Nsight shows only 13 of 220 ms on the GPU; the rest is PCIe transfers and host sync. Twelve full fields move every step even though the host reads about 5 MB. Managed memory is easy but page faults stall execution. Both point to the same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port keeps device memory as the primary copy of every field. We declare arrays device-resident at module scope and assert presence in every kernel, which exposes every coupling point. We then classify each coupling point and apply four treatments in order: gate, relocate, slice, and overlap. We move to the next only if the previous one does not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all nine classes we found in LESGO, what a naive port pays per step, and the treatment we apply. Most full-field transfers are either relocated to the GPU or sliced to a tiny footprint. After all treatments, steady-state PCIe traffic is 1.6 MB up and 2.0 MB down per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slice in practice. The batched tridiagonal solve for all non-zero modes runs on the GPU. The DC mode needs a tiny serial recurrence that is faster on the CPU. Our first port wrapped it in full 3D transfers, three 34 MB round trips per step. Slicing moves only the 1 KB column in and out, with the exact same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pressure solve gives about 590 thousand independent tridiagonal systems, each distributed across all processes. The Thomas algorithm is serial along z, so processes wait on each other. Because the systems are independent, we split them into chunks and pipeline them, and the last process turns around each chunk immediately. The inner loops are unchanged, so results match the sequential solve. This gives a 1.9x step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components break into many small independent units. For the turbines, we batch the whole farm: one sampling kernel, one projection kernel, and a single packed reduction instead of over a thousand. Removing in-loop device allocations also sped up other stages by 15 to 18 percent. For the LASD model, promoting 2D scratch planes to 3D lets one batched cuFFT call filter every vertical level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Blade-force evaluation actually ran slower on the GPU: only 10,800 points, and the airfoil lookups branch per point. So it stays on the CPU. Its inputs are fixed at the start of the step and its outputs are not needed until force projection. We split the turbine model into two phases around convection, so the CPU works while the GPU drains its backlog. This saves 30 ms per step and raises GPU utilization to 93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runs use Perlmutter A100 nodes; CPU baselines use its Milan CPU nodes, and we always compare against the fastest CPU configuration. Before measuring speed, we checked correctness with matched single-turbine runs: after 1,000 steps the GPU-minus-CPU difference is at roundoff, around 1e-13.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technique fixes a different bottleneck, and the gains multiply. Explicit residency alone gives 4.9x. Moving the actuator line to the GPU adds 2.3x, pipelining 1.9x, batching 1.6x, and overlap the final 1.2x, for 40x overall. The final profile shows the GPU busy 93 percent of the time and only a few MB of PCIe traffic per step: no O(N^3) transfers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scaling at three grid sizes. On the production grid, 64 GPUs reach 0.072 s per step, 90x the best CPU run. Efficiency stays around 87 to 90 percent per doubling. The stage breakdown shows compute stages shrinking, pressure scaling superlinearly as the pipeline deepens, and a roughly constant 'Other' floor from latency-bound collectives and kernel launches.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production load of 29.5 million cells per GPU, weak scaling keeps 90 percent efficiency out to 64 GPUs. The roofline shows the main kernels sitting on the bandwidth roof: custom field kernels reach 67 to 88 percent of peak DRAM bandwidth. The remaining gap is inside cuFFT library kernels. The 1D slab layout is enough for this physics, since grid size is set by turbulence scales, not domain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is the first GPU port of LESGO. The key lesson is that for this class of solver, data movement, not kernel speed, sets performance, and a small set of treatments covers every coupling point. With three further optimizations, we get 40 to 90x over the best CPU runs, which turns months-long production campaigns into days. The code will be open-sourced.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p:bgPr>
    </p:bg>
    <p:spTree>
      <p:nvGrpSpPr>
        <p:cNvPr id="1" name=""/>
        <p:cNvGrpSpPr/>
        <p:nvPr/>
      </p:nvGrpSpPr>
      <p:grpSpPr>
        <a:xfrm>
          <a:off x="0" y="0"/>
          <a:ext cx="0" cy="0"/>
          <a:chOff x="0" y="0"/>
          <a:chExt cx="0" cy="0"/>
        </a:xfrm>
      </p:grpSpPr>
      <p:pic>
        <p:nvPicPr>
          <p:cNvPr id="2" name="Image 0" descr="/tmp/claude-1000/-home-wcy-paper-papers-2026-gpulesgo/7d05cab0-2291-40fa-8322-177e3a69b1f0/scratchpad/figs/wf60_transparent.png">    </p:cNvPr>
          <p:cNvPicPr>
            <a:picLocks noChangeAspect="1"/>
          </p:cNvPicPr>
          <p:nvPr/>
        </p:nvPicPr>
        <p:blipFill>
          <a:blip r:embed="rId1"/>
          <a:stretch>
            <a:fillRect/>
          </a:stretch>
        </p:blipFill>
        <p:spPr>
          <a:xfrm>
            <a:off x="4800600" y="3063240"/>
            <a:ext cx="7132320" cy="3540783"/>
          </a:xfrm>
          <a:prstGeom prst="rect">
            <a:avLst/>
          </a:prstGeom>
        </p:spPr>
      </p:pic>
      <p:sp>
        <p:nvSpPr>
          <p:cNvPr id="3" name="Text 0"/>
          <p:cNvSpPr txBox="1"/>
          <p:nvPr/>
        </p:nvSpPr>
        <p:spPr>
          <a:xfrm>
            <a:off x="548640" y="548640"/>
            <a:ext cx="8412480" cy="16002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Accelerating Production-Scale Large Eddy Simulations of Wind Farms on GPUs</a:t>
            </a:r>
            <a:endParaRPr lang="en-US" sz="3800" dirty="0"/>
          </a:p>
        </p:txBody>
      </p:sp>
      <p:sp>
        <p:nvSpPr>
          <p:cNvPr id="4" name="Text 1"/>
          <p:cNvSpPr txBox="1"/>
          <p:nvPr/>
        </p:nvSpPr>
        <p:spPr>
          <a:xfrm>
            <a:off x="548640" y="2194560"/>
            <a:ext cx="8412480" cy="411480"/>
          </a:xfrm>
          <a:prstGeom prst="rect">
            <a:avLst/>
          </a:prstGeom>
          <a:noFill/>
          <a:ln/>
        </p:spPr>
        <p:txBody>
          <a:bodyPr wrap="square" lIns="0" tIns="0" rIns="0" bIns="0" rtlCol="0" anchor="t"/>
          <a:lstStyle/>
          <a:p>
            <a:pPr indent="0" marL="0">
              <a:buNone/>
            </a:pPr>
            <a:r>
              <a:rPr lang="en-US" sz="2000" dirty="0">
                <a:solidFill>
                  <a:srgbClr val="9FC7E6"/>
                </a:solidFill>
                <a:latin typeface="Calibri" pitchFamily="34" charset="0"/>
                <a:ea typeface="Calibri" pitchFamily="34" charset="-122"/>
                <a:cs typeface="Calibri" pitchFamily="34" charset="-120"/>
              </a:rPr>
              <a:t>Porting the LESGO pseudo-spectral wind-farm solver to GPUs with OpenACC</a:t>
            </a:r>
            <a:endParaRPr lang="en-US" sz="2000" dirty="0"/>
          </a:p>
        </p:txBody>
      </p:sp>
      <p:sp>
        <p:nvSpPr>
          <p:cNvPr id="5" name="Text 2"/>
          <p:cNvSpPr txBox="1"/>
          <p:nvPr/>
        </p:nvSpPr>
        <p:spPr>
          <a:xfrm>
            <a:off x="548640" y="2926080"/>
            <a:ext cx="5852160" cy="566928"/>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Cunyang Wei, Wenyuan Chen, Abhinav Bhatele,</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Charles Meneveau, Zheng Li</a:t>
            </a:r>
            <a:endParaRPr lang="en-US" sz="1600" dirty="0"/>
          </a:p>
        </p:txBody>
      </p:sp>
      <p:sp>
        <p:nvSpPr>
          <p:cNvPr id="6" name="Text 3"/>
          <p:cNvSpPr txBox="1"/>
          <p:nvPr/>
        </p:nvSpPr>
        <p:spPr>
          <a:xfrm>
            <a:off x="548640" y="3611880"/>
            <a:ext cx="4754880" cy="50292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University of Maryland  ·  Morgan State University</a:t>
            </a:r>
            <a:endParaRPr lang="en-US" sz="1300" dirty="0"/>
          </a:p>
          <a:p>
            <a:pPr indent="0" marL="0">
              <a:buNone/>
            </a:pPr>
            <a:r>
              <a:rPr lang="en-US" sz="1300" dirty="0">
                <a:solidFill>
                  <a:srgbClr val="C9D6E3"/>
                </a:solidFill>
                <a:latin typeface="Calibri" pitchFamily="34" charset="0"/>
                <a:ea typeface="Calibri" pitchFamily="34" charset="-122"/>
                <a:cs typeface="Calibri" pitchFamily="34" charset="-120"/>
              </a:rPr>
              <a:t>Johns Hopkins University</a:t>
            </a:r>
            <a:endParaRPr lang="en-US" sz="1300" dirty="0"/>
          </a:p>
        </p:txBody>
      </p:sp>
      <p:sp>
        <p:nvSpPr>
          <p:cNvPr id="7" name="Text 4"/>
          <p:cNvSpPr txBox="1"/>
          <p:nvPr/>
        </p:nvSpPr>
        <p:spPr>
          <a:xfrm>
            <a:off x="548640" y="6172200"/>
            <a:ext cx="4114800" cy="274320"/>
          </a:xfrm>
          <a:prstGeom prst="rect">
            <a:avLst/>
          </a:prstGeom>
          <a:noFill/>
          <a:ln/>
        </p:spPr>
        <p:txBody>
          <a:bodyPr wrap="square" lIns="0" tIns="0" rIns="0" bIns="0" rtlCol="0" anchor="t"/>
          <a:lstStyle/>
          <a:p>
            <a:pPr indent="0" marL="0">
              <a:buNone/>
            </a:pPr>
            <a:r>
              <a:rPr lang="en-US" sz="1100" i="1" dirty="0">
                <a:solidFill>
                  <a:srgbClr val="C9D6E3"/>
                </a:solidFill>
                <a:latin typeface="Calibri" pitchFamily="34" charset="0"/>
                <a:ea typeface="Calibri" pitchFamily="34" charset="-122"/>
                <a:cs typeface="Calibri" pitchFamily="34" charset="-120"/>
              </a:rPr>
              <a:t>Streamwise velocity in the 60-turbine wf60 farm at t = 1800 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Why Accelerate Wind-Farm LES?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Fidelity needs fine grids and long physical times. The CPU code can't provide both.</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2</a:t>
            </a:r>
            <a:endParaRPr lang="en-US" sz="1100" dirty="0"/>
          </a:p>
        </p:txBody>
      </p:sp>
      <p:sp>
        <p:nvSpPr>
          <p:cNvPr id="5" name="Shape 3"/>
          <p:cNvSpPr/>
          <p:nvPr/>
        </p:nvSpPr>
        <p:spPr>
          <a:xfrm>
            <a:off x="548640" y="1783080"/>
            <a:ext cx="658368" cy="658368"/>
          </a:xfrm>
          <a:prstGeom prst="ellipse">
            <a:avLst/>
          </a:prstGeom>
          <a:solidFill>
            <a:srgbClr val="0072B2"/>
          </a:solidFill>
          <a:ln w="12700">
            <a:solidFill>
              <a:srgbClr val="0072B2"/>
            </a:solidFill>
            <a:prstDash val="solid"/>
          </a:ln>
        </p:spPr>
      </p:sp>
      <p:pic>
        <p:nvPicPr>
          <p:cNvPr id="6" name="Image 0" descr="preencoded.png">    </p:cNvPr>
          <p:cNvPicPr>
            <a:picLocks noChangeAspect="1"/>
          </p:cNvPicPr>
          <p:nvPr/>
        </p:nvPicPr>
        <p:blipFill>
          <a:blip r:embed="rId1"/>
          <a:stretch>
            <a:fillRect/>
          </a:stretch>
        </p:blipFill>
        <p:spPr>
          <a:xfrm>
            <a:off x="693481" y="1927921"/>
            <a:ext cx="368686" cy="368686"/>
          </a:xfrm>
          <a:prstGeom prst="rect">
            <a:avLst/>
          </a:prstGeom>
        </p:spPr>
      </p:pic>
      <p:sp>
        <p:nvSpPr>
          <p:cNvPr id="7" name="Text 4"/>
          <p:cNvSpPr txBox="1"/>
          <p:nvPr/>
        </p:nvSpPr>
        <p:spPr>
          <a:xfrm>
            <a:off x="1417320" y="1764792"/>
            <a:ext cx="4297680" cy="384048"/>
          </a:xfrm>
          <a:prstGeom prst="rect">
            <a:avLst/>
          </a:prstGeom>
          <a:noFill/>
          <a:ln/>
        </p:spPr>
        <p:txBody>
          <a:bodyPr wrap="square" lIns="0" tIns="0" rIns="0" bIns="0" rtlCol="0" anchor="t"/>
          <a:lstStyle/>
          <a:p>
            <a:pPr indent="0" marL="0">
              <a:buNone/>
            </a:pPr>
            <a:r>
              <a:rPr lang="en-US" sz="1900" b="1" dirty="0">
                <a:solidFill>
                  <a:srgbClr val="1B2631"/>
                </a:solidFill>
                <a:latin typeface="Calibri" pitchFamily="34" charset="0"/>
                <a:ea typeface="Calibri" pitchFamily="34" charset="-122"/>
                <a:cs typeface="Calibri" pitchFamily="34" charset="-120"/>
              </a:rPr>
              <a:t>Wakes cost 10–20% of farm power</a:t>
            </a:r>
            <a:endParaRPr lang="en-US" sz="1900" dirty="0"/>
          </a:p>
        </p:txBody>
      </p:sp>
      <p:sp>
        <p:nvSpPr>
          <p:cNvPr id="8" name="Text 5"/>
          <p:cNvSpPr txBox="1"/>
          <p:nvPr/>
        </p:nvSpPr>
        <p:spPr>
          <a:xfrm>
            <a:off x="1417320" y="2167128"/>
            <a:ext cx="4297680" cy="9144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Studying them means tens of turbines in kilometers of turbulent atmosphere, over hours of physical time.</a:t>
            </a:r>
            <a:endParaRPr lang="en-US" sz="1500" dirty="0"/>
          </a:p>
        </p:txBody>
      </p:sp>
      <p:sp>
        <p:nvSpPr>
          <p:cNvPr id="9" name="Shape 6"/>
          <p:cNvSpPr/>
          <p:nvPr/>
        </p:nvSpPr>
        <p:spPr>
          <a:xfrm>
            <a:off x="548640" y="3291840"/>
            <a:ext cx="658368" cy="658368"/>
          </a:xfrm>
          <a:prstGeom prst="ellipse">
            <a:avLst/>
          </a:prstGeom>
          <a:solidFill>
            <a:srgbClr val="0072B2"/>
          </a:solidFill>
          <a:ln w="12700">
            <a:solidFill>
              <a:srgbClr val="0072B2"/>
            </a:solidFill>
            <a:prstDash val="solid"/>
          </a:ln>
        </p:spPr>
      </p:sp>
      <p:pic>
        <p:nvPicPr>
          <p:cNvPr id="10" name="Image 1" descr="preencoded.png">    </p:cNvPr>
          <p:cNvPicPr>
            <a:picLocks noChangeAspect="1"/>
          </p:cNvPicPr>
          <p:nvPr/>
        </p:nvPicPr>
        <p:blipFill>
          <a:blip r:embed="rId2"/>
          <a:stretch>
            <a:fillRect/>
          </a:stretch>
        </p:blipFill>
        <p:spPr>
          <a:xfrm>
            <a:off x="693481" y="3436681"/>
            <a:ext cx="368686" cy="368686"/>
          </a:xfrm>
          <a:prstGeom prst="rect">
            <a:avLst/>
          </a:prstGeom>
        </p:spPr>
      </p:pic>
      <p:sp>
        <p:nvSpPr>
          <p:cNvPr id="11" name="Text 7"/>
          <p:cNvSpPr txBox="1"/>
          <p:nvPr/>
        </p:nvSpPr>
        <p:spPr>
          <a:xfrm>
            <a:off x="1417320" y="3273552"/>
            <a:ext cx="4297680" cy="384048"/>
          </a:xfrm>
          <a:prstGeom prst="rect">
            <a:avLst/>
          </a:prstGeom>
          <a:noFill/>
          <a:ln/>
        </p:spPr>
        <p:txBody>
          <a:bodyPr wrap="square" lIns="0" tIns="0" rIns="0" bIns="0" rtlCol="0" anchor="t"/>
          <a:lstStyle/>
          <a:p>
            <a:pPr indent="0" marL="0">
              <a:buNone/>
            </a:pPr>
            <a:r>
              <a:rPr lang="en-US" sz="1900" b="1" dirty="0">
                <a:solidFill>
                  <a:srgbClr val="1B2631"/>
                </a:solidFill>
                <a:latin typeface="Calibri" pitchFamily="34" charset="0"/>
                <a:ea typeface="Calibri" pitchFamily="34" charset="-122"/>
                <a:cs typeface="Calibri" pitchFamily="34" charset="-120"/>
              </a:rPr>
              <a:t>LES resolves the turbulence directly</a:t>
            </a:r>
            <a:endParaRPr lang="en-US" sz="1900" dirty="0"/>
          </a:p>
        </p:txBody>
      </p:sp>
      <p:sp>
        <p:nvSpPr>
          <p:cNvPr id="12" name="Text 8"/>
          <p:cNvSpPr txBox="1"/>
          <p:nvPr/>
        </p:nvSpPr>
        <p:spPr>
          <a:xfrm>
            <a:off x="1417320" y="3675888"/>
            <a:ext cx="4297680" cy="9144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LESGO is a widely used open-source pseudo-spectral LES code: little numerical dissipation, high accuracy per grid point.</a:t>
            </a:r>
            <a:endParaRPr lang="en-US" sz="1500" dirty="0"/>
          </a:p>
        </p:txBody>
      </p:sp>
      <p:sp>
        <p:nvSpPr>
          <p:cNvPr id="13" name="Shape 9"/>
          <p:cNvSpPr/>
          <p:nvPr/>
        </p:nvSpPr>
        <p:spPr>
          <a:xfrm>
            <a:off x="548640" y="4800600"/>
            <a:ext cx="658368" cy="658368"/>
          </a:xfrm>
          <a:prstGeom prst="ellipse">
            <a:avLst/>
          </a:prstGeom>
          <a:solidFill>
            <a:srgbClr val="D55E00"/>
          </a:solidFill>
          <a:ln w="12700">
            <a:solidFill>
              <a:srgbClr val="D55E00"/>
            </a:solidFill>
            <a:prstDash val="solid"/>
          </a:ln>
        </p:spPr>
      </p:sp>
      <p:pic>
        <p:nvPicPr>
          <p:cNvPr id="14" name="Image 2" descr="preencoded.png">    </p:cNvPr>
          <p:cNvPicPr>
            <a:picLocks noChangeAspect="1"/>
          </p:cNvPicPr>
          <p:nvPr/>
        </p:nvPicPr>
        <p:blipFill>
          <a:blip r:embed="rId3"/>
          <a:stretch>
            <a:fillRect/>
          </a:stretch>
        </p:blipFill>
        <p:spPr>
          <a:xfrm>
            <a:off x="693481" y="4945441"/>
            <a:ext cx="368686" cy="368686"/>
          </a:xfrm>
          <a:prstGeom prst="rect">
            <a:avLst/>
          </a:prstGeom>
        </p:spPr>
      </p:pic>
      <p:sp>
        <p:nvSpPr>
          <p:cNvPr id="15" name="Text 10"/>
          <p:cNvSpPr txBox="1"/>
          <p:nvPr/>
        </p:nvSpPr>
        <p:spPr>
          <a:xfrm>
            <a:off x="1417320" y="4782312"/>
            <a:ext cx="4297680" cy="384048"/>
          </a:xfrm>
          <a:prstGeom prst="rect">
            <a:avLst/>
          </a:prstGeom>
          <a:noFill/>
          <a:ln/>
        </p:spPr>
        <p:txBody>
          <a:bodyPr wrap="square" lIns="0" tIns="0" rIns="0" bIns="0" rtlCol="0" anchor="t"/>
          <a:lstStyle/>
          <a:p>
            <a:pPr indent="0" marL="0">
              <a:buNone/>
            </a:pPr>
            <a:r>
              <a:rPr lang="en-US" sz="1900" b="1" dirty="0">
                <a:solidFill>
                  <a:srgbClr val="1B2631"/>
                </a:solidFill>
                <a:latin typeface="Calibri" pitchFamily="34" charset="0"/>
                <a:ea typeface="Calibri" pitchFamily="34" charset="-122"/>
                <a:cs typeface="Calibri" pitchFamily="34" charset="-120"/>
              </a:rPr>
              <a:t>Production runs take hours to days</a:t>
            </a:r>
            <a:endParaRPr lang="en-US" sz="1900" dirty="0"/>
          </a:p>
        </p:txBody>
      </p:sp>
      <p:sp>
        <p:nvSpPr>
          <p:cNvPr id="16" name="Text 11"/>
          <p:cNvSpPr txBox="1"/>
          <p:nvPr/>
        </p:nvSpPr>
        <p:spPr>
          <a:xfrm>
            <a:off x="1417320" y="5184648"/>
            <a:ext cx="4297680" cy="9144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Converged statistics need hundreds of thousands of steps, at 6.48 s per step on 4 CPU nodes.</a:t>
            </a:r>
            <a:endParaRPr lang="en-US" sz="1500" dirty="0"/>
          </a:p>
        </p:txBody>
      </p:sp>
      <p:pic>
        <p:nvPicPr>
          <p:cNvPr id="17" name="Image 3" descr="/tmp/claude-1000/-home-wcy-paper-papers-2026-gpulesgo/7d05cab0-2291-40fa-8322-177e3a69b1f0/scratchpad/figs/wf60_raw.png">    </p:cNvPr>
          <p:cNvPicPr>
            <a:picLocks noChangeAspect="1"/>
          </p:cNvPicPr>
          <p:nvPr/>
        </p:nvPicPr>
        <p:blipFill>
          <a:blip r:embed="rId4"/>
          <a:stretch>
            <a:fillRect/>
          </a:stretch>
        </p:blipFill>
        <p:spPr>
          <a:xfrm>
            <a:off x="6172200" y="1737360"/>
            <a:ext cx="5440680" cy="2480950"/>
          </a:xfrm>
          <a:prstGeom prst="rect">
            <a:avLst/>
          </a:prstGeom>
        </p:spPr>
      </p:pic>
      <p:sp>
        <p:nvSpPr>
          <p:cNvPr id="18" name="Text 12"/>
          <p:cNvSpPr txBox="1"/>
          <p:nvPr/>
        </p:nvSpPr>
        <p:spPr>
          <a:xfrm>
            <a:off x="6172200" y="4264030"/>
            <a:ext cx="5440680" cy="274320"/>
          </a:xfrm>
          <a:prstGeom prst="rect">
            <a:avLst/>
          </a:prstGeom>
          <a:noFill/>
          <a:ln/>
        </p:spPr>
        <p:txBody>
          <a:bodyPr wrap="square" lIns="0" tIns="0" rIns="0" bIns="0" rtlCol="0" anchor="t"/>
          <a:lstStyle/>
          <a:p>
            <a:pPr indent="0" marL="0">
              <a:buNone/>
            </a:pPr>
            <a:r>
              <a:rPr lang="en-US" sz="1100" i="1" dirty="0">
                <a:solidFill>
                  <a:srgbClr val="5F6B76"/>
                </a:solidFill>
                <a:latin typeface="Calibri" pitchFamily="34" charset="0"/>
                <a:ea typeface="Calibri" pitchFamily="34" charset="-122"/>
                <a:cs typeface="Calibri" pitchFamily="34" charset="-120"/>
              </a:rPr>
              <a:t>Production benchmark wf60: instantaneous streamwise velocity, 4×4 turbine section</a:t>
            </a:r>
            <a:endParaRPr lang="en-US" sz="1100" dirty="0"/>
          </a:p>
        </p:txBody>
      </p:sp>
      <p:sp>
        <p:nvSpPr>
          <p:cNvPr id="19" name="Shape 13"/>
          <p:cNvSpPr/>
          <p:nvPr/>
        </p:nvSpPr>
        <p:spPr>
          <a:xfrm>
            <a:off x="6172200" y="5074920"/>
            <a:ext cx="1691640" cy="1188720"/>
          </a:xfrm>
          <a:prstGeom prst="roundRect">
            <a:avLst>
              <a:gd name="adj" fmla="val 9231"/>
            </a:avLst>
          </a:prstGeom>
          <a:solidFill>
            <a:srgbClr val="F1F5F9"/>
          </a:solidFill>
          <a:ln w="12700">
            <a:solidFill>
              <a:srgbClr val="F1F5F9"/>
            </a:solidFill>
            <a:prstDash val="solid"/>
          </a:ln>
        </p:spPr>
      </p:sp>
      <p:sp>
        <p:nvSpPr>
          <p:cNvPr id="20" name="Text 14"/>
          <p:cNvSpPr txBox="1"/>
          <p:nvPr/>
        </p:nvSpPr>
        <p:spPr>
          <a:xfrm>
            <a:off x="6355080" y="5166360"/>
            <a:ext cx="1325880" cy="653796"/>
          </a:xfrm>
          <a:prstGeom prst="rect">
            <a:avLst/>
          </a:prstGeom>
          <a:noFill/>
          <a:ln/>
        </p:spPr>
        <p:txBody>
          <a:bodyPr wrap="square" lIns="0" tIns="0" rIns="0" bIns="0" rtlCol="0" anchor="ctr"/>
          <a:lstStyle/>
          <a:p>
            <a:pPr indent="0" marL="0">
              <a:buNone/>
            </a:pPr>
            <a:r>
              <a:rPr lang="en-US" sz="3000" b="1" dirty="0">
                <a:solidFill>
                  <a:srgbClr val="0072B2"/>
                </a:solidFill>
                <a:latin typeface="Calibri" pitchFamily="34" charset="0"/>
                <a:ea typeface="Calibri" pitchFamily="34" charset="-122"/>
                <a:cs typeface="Calibri" pitchFamily="34" charset="-120"/>
              </a:rPr>
              <a:t>60</a:t>
            </a:r>
            <a:endParaRPr lang="en-US" sz="3000" dirty="0"/>
          </a:p>
        </p:txBody>
      </p:sp>
      <p:sp>
        <p:nvSpPr>
          <p:cNvPr id="21" name="Text 15"/>
          <p:cNvSpPr txBox="1"/>
          <p:nvPr/>
        </p:nvSpPr>
        <p:spPr>
          <a:xfrm>
            <a:off x="6355080" y="5820156"/>
            <a:ext cx="1325880" cy="352044"/>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wind turbines</a:t>
            </a:r>
            <a:endParaRPr lang="en-US" sz="1300" dirty="0"/>
          </a:p>
        </p:txBody>
      </p:sp>
      <p:sp>
        <p:nvSpPr>
          <p:cNvPr id="22" name="Shape 16"/>
          <p:cNvSpPr/>
          <p:nvPr/>
        </p:nvSpPr>
        <p:spPr>
          <a:xfrm>
            <a:off x="8046720" y="5074920"/>
            <a:ext cx="1691640" cy="1188720"/>
          </a:xfrm>
          <a:prstGeom prst="roundRect">
            <a:avLst>
              <a:gd name="adj" fmla="val 9231"/>
            </a:avLst>
          </a:prstGeom>
          <a:solidFill>
            <a:srgbClr val="F1F5F9"/>
          </a:solidFill>
          <a:ln w="12700">
            <a:solidFill>
              <a:srgbClr val="F1F5F9"/>
            </a:solidFill>
            <a:prstDash val="solid"/>
          </a:ln>
        </p:spPr>
      </p:sp>
      <p:sp>
        <p:nvSpPr>
          <p:cNvPr id="23" name="Text 17"/>
          <p:cNvSpPr txBox="1"/>
          <p:nvPr/>
        </p:nvSpPr>
        <p:spPr>
          <a:xfrm>
            <a:off x="8229600" y="5166360"/>
            <a:ext cx="1325880" cy="653796"/>
          </a:xfrm>
          <a:prstGeom prst="rect">
            <a:avLst/>
          </a:prstGeom>
          <a:noFill/>
          <a:ln/>
        </p:spPr>
        <p:txBody>
          <a:bodyPr wrap="square" lIns="0" tIns="0" rIns="0" bIns="0" rtlCol="0" anchor="ctr"/>
          <a:lstStyle/>
          <a:p>
            <a:pPr indent="0" marL="0">
              <a:buNone/>
            </a:pPr>
            <a:r>
              <a:rPr lang="en-US" sz="3000" b="1" dirty="0">
                <a:solidFill>
                  <a:srgbClr val="0072B2"/>
                </a:solidFill>
                <a:latin typeface="Calibri" pitchFamily="34" charset="0"/>
                <a:ea typeface="Calibri" pitchFamily="34" charset="-122"/>
                <a:cs typeface="Calibri" pitchFamily="34" charset="-120"/>
              </a:rPr>
              <a:t>604M</a:t>
            </a:r>
            <a:endParaRPr lang="en-US" sz="3000" dirty="0"/>
          </a:p>
        </p:txBody>
      </p:sp>
      <p:sp>
        <p:nvSpPr>
          <p:cNvPr id="24" name="Text 18"/>
          <p:cNvSpPr txBox="1"/>
          <p:nvPr/>
        </p:nvSpPr>
        <p:spPr>
          <a:xfrm>
            <a:off x="8229600" y="5820156"/>
            <a:ext cx="1325880" cy="352044"/>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grid cells</a:t>
            </a:r>
            <a:endParaRPr lang="en-US" sz="1300" dirty="0"/>
          </a:p>
        </p:txBody>
      </p:sp>
      <p:sp>
        <p:nvSpPr>
          <p:cNvPr id="25" name="Shape 19"/>
          <p:cNvSpPr/>
          <p:nvPr/>
        </p:nvSpPr>
        <p:spPr>
          <a:xfrm>
            <a:off x="9921240" y="5074920"/>
            <a:ext cx="1691640" cy="1188720"/>
          </a:xfrm>
          <a:prstGeom prst="roundRect">
            <a:avLst>
              <a:gd name="adj" fmla="val 9231"/>
            </a:avLst>
          </a:prstGeom>
          <a:solidFill>
            <a:srgbClr val="F1F5F9"/>
          </a:solidFill>
          <a:ln w="12700">
            <a:solidFill>
              <a:srgbClr val="F1F5F9"/>
            </a:solidFill>
            <a:prstDash val="solid"/>
          </a:ln>
        </p:spPr>
      </p:sp>
      <p:sp>
        <p:nvSpPr>
          <p:cNvPr id="26" name="Text 20"/>
          <p:cNvSpPr txBox="1"/>
          <p:nvPr/>
        </p:nvSpPr>
        <p:spPr>
          <a:xfrm>
            <a:off x="10104120" y="5166360"/>
            <a:ext cx="1325880" cy="653796"/>
          </a:xfrm>
          <a:prstGeom prst="rect">
            <a:avLst/>
          </a:prstGeom>
          <a:noFill/>
          <a:ln/>
        </p:spPr>
        <p:txBody>
          <a:bodyPr wrap="square" lIns="0" tIns="0" rIns="0" bIns="0" rtlCol="0" anchor="ctr"/>
          <a:lstStyle/>
          <a:p>
            <a:pPr indent="0" marL="0">
              <a:buNone/>
            </a:pPr>
            <a:r>
              <a:rPr lang="en-US" sz="3000" b="1" dirty="0">
                <a:solidFill>
                  <a:srgbClr val="0072B2"/>
                </a:solidFill>
                <a:latin typeface="Calibri" pitchFamily="34" charset="0"/>
                <a:ea typeface="Calibri" pitchFamily="34" charset="-122"/>
                <a:cs typeface="Calibri" pitchFamily="34" charset="-120"/>
              </a:rPr>
              <a:t>28 km</a:t>
            </a:r>
            <a:endParaRPr lang="en-US" sz="3000" dirty="0"/>
          </a:p>
        </p:txBody>
      </p:sp>
      <p:sp>
        <p:nvSpPr>
          <p:cNvPr id="27" name="Text 21"/>
          <p:cNvSpPr txBox="1"/>
          <p:nvPr/>
        </p:nvSpPr>
        <p:spPr>
          <a:xfrm>
            <a:off x="10104120" y="5820156"/>
            <a:ext cx="1325880" cy="352044"/>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streamwise domain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LESGO: Anatomy of One Time Step</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FFT-heavy spectral numerics plus two irregular physics models.</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3</a:t>
            </a:r>
            <a:endParaRPr lang="en-US" sz="1100" dirty="0"/>
          </a:p>
        </p:txBody>
      </p:sp>
      <p:sp>
        <p:nvSpPr>
          <p:cNvPr id="5" name="Shape 3"/>
          <p:cNvSpPr/>
          <p:nvPr/>
        </p:nvSpPr>
        <p:spPr>
          <a:xfrm>
            <a:off x="548640" y="1737360"/>
            <a:ext cx="1810512" cy="566928"/>
          </a:xfrm>
          <a:prstGeom prst="homePlate">
            <a:avLst/>
          </a:prstGeom>
          <a:solidFill>
            <a:srgbClr val="009E73"/>
          </a:solidFill>
          <a:ln w="12700">
            <a:solidFill>
              <a:srgbClr val="009E73"/>
            </a:solidFill>
            <a:prstDash val="solid"/>
          </a:ln>
        </p:spPr>
      </p:sp>
      <p:sp>
        <p:nvSpPr>
          <p:cNvPr id="6" name="Text 4"/>
          <p:cNvSpPr txBox="1"/>
          <p:nvPr/>
        </p:nvSpPr>
        <p:spPr>
          <a:xfrm>
            <a:off x="658368"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Derivatives</a:t>
            </a:r>
            <a:endParaRPr lang="en-US" sz="1500" dirty="0"/>
          </a:p>
        </p:txBody>
      </p:sp>
      <p:sp>
        <p:nvSpPr>
          <p:cNvPr id="7" name="Shape 5"/>
          <p:cNvSpPr/>
          <p:nvPr/>
        </p:nvSpPr>
        <p:spPr>
          <a:xfrm>
            <a:off x="566928" y="2487168"/>
            <a:ext cx="1664208" cy="2194560"/>
          </a:xfrm>
          <a:prstGeom prst="roundRect">
            <a:avLst>
              <a:gd name="adj" fmla="val 6593"/>
            </a:avLst>
          </a:prstGeom>
          <a:solidFill>
            <a:srgbClr val="F1F5F9"/>
          </a:solidFill>
          <a:ln w="12700">
            <a:solidFill>
              <a:srgbClr val="F1F5F9"/>
            </a:solidFill>
            <a:prstDash val="solid"/>
          </a:ln>
        </p:spPr>
      </p:sp>
      <p:sp>
        <p:nvSpPr>
          <p:cNvPr id="8" name="Text 6"/>
          <p:cNvSpPr txBox="1"/>
          <p:nvPr/>
        </p:nvSpPr>
        <p:spPr>
          <a:xfrm>
            <a:off x="694944"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Spectral x–y derivatives via 2D FFTs; 2nd-order finite differences in z. Wall-stress model at the boundary.</a:t>
            </a:r>
            <a:endParaRPr lang="en-US" sz="1400" dirty="0"/>
          </a:p>
        </p:txBody>
      </p:sp>
      <p:sp>
        <p:nvSpPr>
          <p:cNvPr id="9" name="Shape 7"/>
          <p:cNvSpPr/>
          <p:nvPr/>
        </p:nvSpPr>
        <p:spPr>
          <a:xfrm>
            <a:off x="2399386" y="1737360"/>
            <a:ext cx="1810512" cy="566928"/>
          </a:xfrm>
          <a:prstGeom prst="chevron">
            <a:avLst/>
          </a:prstGeom>
          <a:solidFill>
            <a:srgbClr val="0072B2"/>
          </a:solidFill>
          <a:ln w="12700">
            <a:solidFill>
              <a:srgbClr val="0072B2"/>
            </a:solidFill>
            <a:prstDash val="solid"/>
          </a:ln>
        </p:spPr>
      </p:sp>
      <p:sp>
        <p:nvSpPr>
          <p:cNvPr id="10" name="Text 8"/>
          <p:cNvSpPr txBox="1"/>
          <p:nvPr/>
        </p:nvSpPr>
        <p:spPr>
          <a:xfrm>
            <a:off x="2655418"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SGS</a:t>
            </a:r>
            <a:endParaRPr lang="en-US" sz="1500" dirty="0"/>
          </a:p>
        </p:txBody>
      </p:sp>
      <p:sp>
        <p:nvSpPr>
          <p:cNvPr id="11" name="Shape 9"/>
          <p:cNvSpPr/>
          <p:nvPr/>
        </p:nvSpPr>
        <p:spPr>
          <a:xfrm>
            <a:off x="2417674" y="2487168"/>
            <a:ext cx="1664208" cy="2194560"/>
          </a:xfrm>
          <a:prstGeom prst="roundRect">
            <a:avLst>
              <a:gd name="adj" fmla="val 6593"/>
            </a:avLst>
          </a:prstGeom>
          <a:solidFill>
            <a:srgbClr val="F1F5F9"/>
          </a:solidFill>
          <a:ln w="12700">
            <a:solidFill>
              <a:srgbClr val="F1F5F9"/>
            </a:solidFill>
            <a:prstDash val="solid"/>
          </a:ln>
        </p:spPr>
      </p:sp>
      <p:sp>
        <p:nvSpPr>
          <p:cNvPr id="12" name="Text 10"/>
          <p:cNvSpPr txBox="1"/>
          <p:nvPr/>
        </p:nvSpPr>
        <p:spPr>
          <a:xfrm>
            <a:off x="2545690"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Lagrangian scale-dependent dynamic model (LASD): two test filters on 9 tensor fields, averaged along particle paths.</a:t>
            </a:r>
            <a:endParaRPr lang="en-US" sz="1400" dirty="0"/>
          </a:p>
        </p:txBody>
      </p:sp>
      <p:sp>
        <p:nvSpPr>
          <p:cNvPr id="13" name="Shape 11"/>
          <p:cNvSpPr/>
          <p:nvPr/>
        </p:nvSpPr>
        <p:spPr>
          <a:xfrm>
            <a:off x="4250131" y="1737360"/>
            <a:ext cx="1810512" cy="566928"/>
          </a:xfrm>
          <a:prstGeom prst="chevron">
            <a:avLst/>
          </a:prstGeom>
          <a:solidFill>
            <a:srgbClr val="646464"/>
          </a:solidFill>
          <a:ln w="12700">
            <a:solidFill>
              <a:srgbClr val="646464"/>
            </a:solidFill>
            <a:prstDash val="solid"/>
          </a:ln>
        </p:spPr>
      </p:sp>
      <p:sp>
        <p:nvSpPr>
          <p:cNvPr id="14" name="Text 12"/>
          <p:cNvSpPr txBox="1"/>
          <p:nvPr/>
        </p:nvSpPr>
        <p:spPr>
          <a:xfrm>
            <a:off x="4506163"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Convection</a:t>
            </a:r>
            <a:endParaRPr lang="en-US" sz="1500" dirty="0"/>
          </a:p>
        </p:txBody>
      </p:sp>
      <p:sp>
        <p:nvSpPr>
          <p:cNvPr id="15" name="Shape 13"/>
          <p:cNvSpPr/>
          <p:nvPr/>
        </p:nvSpPr>
        <p:spPr>
          <a:xfrm>
            <a:off x="4268419" y="2487168"/>
            <a:ext cx="1664208" cy="2194560"/>
          </a:xfrm>
          <a:prstGeom prst="roundRect">
            <a:avLst>
              <a:gd name="adj" fmla="val 6593"/>
            </a:avLst>
          </a:prstGeom>
          <a:solidFill>
            <a:srgbClr val="F1F5F9"/>
          </a:solidFill>
          <a:ln w="12700">
            <a:solidFill>
              <a:srgbClr val="F1F5F9"/>
            </a:solidFill>
            <a:prstDash val="solid"/>
          </a:ln>
        </p:spPr>
      </p:sp>
      <p:sp>
        <p:nvSpPr>
          <p:cNvPr id="16" name="Text 14"/>
          <p:cNvSpPr txBox="1"/>
          <p:nvPr/>
        </p:nvSpPr>
        <p:spPr>
          <a:xfrm>
            <a:off x="4396435"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Nonlinear term with 3/2-rule dealiasing: forward and inverse FFTs on a padded grid. The most FFT-intensive stage.</a:t>
            </a:r>
            <a:endParaRPr lang="en-US" sz="1400" dirty="0"/>
          </a:p>
        </p:txBody>
      </p:sp>
      <p:sp>
        <p:nvSpPr>
          <p:cNvPr id="17" name="Shape 15"/>
          <p:cNvSpPr/>
          <p:nvPr/>
        </p:nvSpPr>
        <p:spPr>
          <a:xfrm>
            <a:off x="6100877" y="1737360"/>
            <a:ext cx="1810512" cy="566928"/>
          </a:xfrm>
          <a:prstGeom prst="chevron">
            <a:avLst/>
          </a:prstGeom>
          <a:solidFill>
            <a:srgbClr val="800080"/>
          </a:solidFill>
          <a:ln w="12700">
            <a:solidFill>
              <a:srgbClr val="800080"/>
            </a:solidFill>
            <a:prstDash val="solid"/>
          </a:ln>
        </p:spPr>
      </p:sp>
      <p:sp>
        <p:nvSpPr>
          <p:cNvPr id="18" name="Text 16"/>
          <p:cNvSpPr txBox="1"/>
          <p:nvPr/>
        </p:nvSpPr>
        <p:spPr>
          <a:xfrm>
            <a:off x="6356909"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Turbines</a:t>
            </a:r>
            <a:endParaRPr lang="en-US" sz="1500" dirty="0"/>
          </a:p>
        </p:txBody>
      </p:sp>
      <p:sp>
        <p:nvSpPr>
          <p:cNvPr id="19" name="Shape 17"/>
          <p:cNvSpPr/>
          <p:nvPr/>
        </p:nvSpPr>
        <p:spPr>
          <a:xfrm>
            <a:off x="6119165" y="2487168"/>
            <a:ext cx="1664208" cy="2194560"/>
          </a:xfrm>
          <a:prstGeom prst="roundRect">
            <a:avLst>
              <a:gd name="adj" fmla="val 6593"/>
            </a:avLst>
          </a:prstGeom>
          <a:solidFill>
            <a:srgbClr val="F1F5F9"/>
          </a:solidFill>
          <a:ln w="12700">
            <a:solidFill>
              <a:srgbClr val="F1F5F9"/>
            </a:solidFill>
            <a:prstDash val="solid"/>
          </a:ln>
        </p:spPr>
      </p:sp>
      <p:sp>
        <p:nvSpPr>
          <p:cNvPr id="20" name="Text 18"/>
          <p:cNvSpPr txBox="1"/>
          <p:nvPr/>
        </p:nvSpPr>
        <p:spPr>
          <a:xfrm>
            <a:off x="6247181"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Actuator-line model: sample velocity at blade points, look up airfoil polars, spread forces with a Gaussian kernel.</a:t>
            </a:r>
            <a:endParaRPr lang="en-US" sz="1400" dirty="0"/>
          </a:p>
        </p:txBody>
      </p:sp>
      <p:sp>
        <p:nvSpPr>
          <p:cNvPr id="21" name="Shape 19"/>
          <p:cNvSpPr/>
          <p:nvPr/>
        </p:nvSpPr>
        <p:spPr>
          <a:xfrm>
            <a:off x="7951622" y="1737360"/>
            <a:ext cx="1810512" cy="566928"/>
          </a:xfrm>
          <a:prstGeom prst="chevron">
            <a:avLst/>
          </a:prstGeom>
          <a:solidFill>
            <a:srgbClr val="D55E00"/>
          </a:solidFill>
          <a:ln w="12700">
            <a:solidFill>
              <a:srgbClr val="D55E00"/>
            </a:solidFill>
            <a:prstDash val="solid"/>
          </a:ln>
        </p:spPr>
      </p:sp>
      <p:sp>
        <p:nvSpPr>
          <p:cNvPr id="22" name="Text 20"/>
          <p:cNvSpPr txBox="1"/>
          <p:nvPr/>
        </p:nvSpPr>
        <p:spPr>
          <a:xfrm>
            <a:off x="8207654"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Pressure</a:t>
            </a:r>
            <a:endParaRPr lang="en-US" sz="1500" dirty="0"/>
          </a:p>
        </p:txBody>
      </p:sp>
      <p:sp>
        <p:nvSpPr>
          <p:cNvPr id="23" name="Shape 21"/>
          <p:cNvSpPr/>
          <p:nvPr/>
        </p:nvSpPr>
        <p:spPr>
          <a:xfrm>
            <a:off x="7969910" y="2487168"/>
            <a:ext cx="1664208" cy="2194560"/>
          </a:xfrm>
          <a:prstGeom prst="roundRect">
            <a:avLst>
              <a:gd name="adj" fmla="val 6593"/>
            </a:avLst>
          </a:prstGeom>
          <a:solidFill>
            <a:srgbClr val="F1F5F9"/>
          </a:solidFill>
          <a:ln w="12700">
            <a:solidFill>
              <a:srgbClr val="F1F5F9"/>
            </a:solidFill>
            <a:prstDash val="solid"/>
          </a:ln>
        </p:spPr>
      </p:sp>
      <p:sp>
        <p:nvSpPr>
          <p:cNvPr id="24" name="Text 22"/>
          <p:cNvSpPr txBox="1"/>
          <p:nvPr/>
        </p:nvSpPr>
        <p:spPr>
          <a:xfrm>
            <a:off x="8097926"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AB2 advance, then a Poisson solve: 2D FFTs decouple it into ~590K tridiagonal systems along z.</a:t>
            </a:r>
            <a:endParaRPr lang="en-US" sz="1400" dirty="0"/>
          </a:p>
        </p:txBody>
      </p:sp>
      <p:sp>
        <p:nvSpPr>
          <p:cNvPr id="25" name="Shape 23"/>
          <p:cNvSpPr/>
          <p:nvPr/>
        </p:nvSpPr>
        <p:spPr>
          <a:xfrm>
            <a:off x="9802368" y="1737360"/>
            <a:ext cx="1810512" cy="566928"/>
          </a:xfrm>
          <a:prstGeom prst="chevron">
            <a:avLst/>
          </a:prstGeom>
          <a:solidFill>
            <a:srgbClr val="B4568A"/>
          </a:solidFill>
          <a:ln w="12700">
            <a:solidFill>
              <a:srgbClr val="B4568A"/>
            </a:solidFill>
            <a:prstDash val="solid"/>
          </a:ln>
        </p:spPr>
      </p:sp>
      <p:sp>
        <p:nvSpPr>
          <p:cNvPr id="26" name="Text 24"/>
          <p:cNvSpPr txBox="1"/>
          <p:nvPr/>
        </p:nvSpPr>
        <p:spPr>
          <a:xfrm>
            <a:off x="10058400" y="1737360"/>
            <a:ext cx="1353312"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Projection</a:t>
            </a:r>
            <a:endParaRPr lang="en-US" sz="1500" dirty="0"/>
          </a:p>
        </p:txBody>
      </p:sp>
      <p:sp>
        <p:nvSpPr>
          <p:cNvPr id="27" name="Shape 25"/>
          <p:cNvSpPr/>
          <p:nvPr/>
        </p:nvSpPr>
        <p:spPr>
          <a:xfrm>
            <a:off x="9820656" y="2487168"/>
            <a:ext cx="1664208" cy="2194560"/>
          </a:xfrm>
          <a:prstGeom prst="roundRect">
            <a:avLst>
              <a:gd name="adj" fmla="val 6593"/>
            </a:avLst>
          </a:prstGeom>
          <a:solidFill>
            <a:srgbClr val="F1F5F9"/>
          </a:solidFill>
          <a:ln w="12700">
            <a:solidFill>
              <a:srgbClr val="F1F5F9"/>
            </a:solidFill>
            <a:prstDash val="solid"/>
          </a:ln>
        </p:spPr>
      </p:sp>
      <p:sp>
        <p:nvSpPr>
          <p:cNvPr id="28" name="Text 26"/>
          <p:cNvSpPr txBox="1"/>
          <p:nvPr/>
        </p:nvSpPr>
        <p:spPr>
          <a:xfrm>
            <a:off x="9948672" y="2624328"/>
            <a:ext cx="1426464" cy="1965960"/>
          </a:xfrm>
          <a:prstGeom prst="rect">
            <a:avLst/>
          </a:prstGeom>
          <a:noFill/>
          <a:ln/>
        </p:spPr>
        <p:txBody>
          <a:bodyPr wrap="square" lIns="0" tIns="0" rIns="0" bIns="0" rtlCol="0" anchor="t"/>
          <a:lstStyle/>
          <a:p>
            <a:pPr indent="0" marL="0">
              <a:buNone/>
            </a:pPr>
            <a:r>
              <a:rPr lang="en-US" sz="1400" dirty="0">
                <a:solidFill>
                  <a:srgbClr val="1B2631"/>
                </a:solidFill>
                <a:latin typeface="Calibri" pitchFamily="34" charset="0"/>
                <a:ea typeface="Calibri" pitchFamily="34" charset="-122"/>
                <a:cs typeface="Calibri" pitchFamily="34" charset="-120"/>
              </a:rPr>
              <a:t>Subtract the pressure gradient to make velocity divergence-free, then exchange halo planes.</a:t>
            </a:r>
            <a:endParaRPr lang="en-US" sz="1400" dirty="0"/>
          </a:p>
        </p:txBody>
      </p:sp>
      <p:sp>
        <p:nvSpPr>
          <p:cNvPr id="29" name="Shape 27"/>
          <p:cNvSpPr/>
          <p:nvPr/>
        </p:nvSpPr>
        <p:spPr>
          <a:xfrm>
            <a:off x="548640" y="4983480"/>
            <a:ext cx="11064240" cy="1051560"/>
          </a:xfrm>
          <a:prstGeom prst="roundRect">
            <a:avLst>
              <a:gd name="adj" fmla="val 10435"/>
            </a:avLst>
          </a:prstGeom>
          <a:solidFill>
            <a:srgbClr val="E8F1F8"/>
          </a:solidFill>
          <a:ln w="12700">
            <a:solidFill>
              <a:srgbClr val="E8F1F8"/>
            </a:solidFill>
            <a:prstDash val="solid"/>
          </a:ln>
        </p:spPr>
      </p:sp>
      <p:sp>
        <p:nvSpPr>
          <p:cNvPr id="30" name="Shape 28"/>
          <p:cNvSpPr/>
          <p:nvPr/>
        </p:nvSpPr>
        <p:spPr>
          <a:xfrm>
            <a:off x="777240" y="5212080"/>
            <a:ext cx="594360" cy="594360"/>
          </a:xfrm>
          <a:prstGeom prst="ellipse">
            <a:avLst/>
          </a:prstGeom>
          <a:solidFill>
            <a:srgbClr val="0072B2"/>
          </a:solidFill>
          <a:ln w="12700">
            <a:solidFill>
              <a:srgbClr val="0072B2"/>
            </a:solidFill>
            <a:prstDash val="solid"/>
          </a:ln>
        </p:spPr>
      </p:sp>
      <p:pic>
        <p:nvPicPr>
          <p:cNvPr id="31" name="Image 0" descr="preencoded.png">    </p:cNvPr>
          <p:cNvPicPr>
            <a:picLocks noChangeAspect="1"/>
          </p:cNvPicPr>
          <p:nvPr/>
        </p:nvPicPr>
        <p:blipFill>
          <a:blip r:embed="rId1"/>
          <a:stretch>
            <a:fillRect/>
          </a:stretch>
        </p:blipFill>
        <p:spPr>
          <a:xfrm>
            <a:off x="907999" y="5342839"/>
            <a:ext cx="332842" cy="332842"/>
          </a:xfrm>
          <a:prstGeom prst="rect">
            <a:avLst/>
          </a:prstGeom>
        </p:spPr>
      </p:pic>
      <p:sp>
        <p:nvSpPr>
          <p:cNvPr id="32" name="Text 29"/>
          <p:cNvSpPr txBox="1"/>
          <p:nvPr/>
        </p:nvSpPr>
        <p:spPr>
          <a:xfrm>
            <a:off x="1600200" y="5120640"/>
            <a:ext cx="9829800" cy="777240"/>
          </a:xfrm>
          <a:prstGeom prst="rect">
            <a:avLst/>
          </a:prstGeom>
          <a:noFill/>
          <a:ln/>
        </p:spPr>
        <p:txBody>
          <a:bodyPr wrap="square" lIns="0" tIns="0" rIns="0" bIns="0" rtlCol="0" anchor="ctr"/>
          <a:lstStyle/>
          <a:p>
            <a:pPr indent="0" marL="0">
              <a:buNone/>
            </a:pPr>
            <a:r>
              <a:rPr lang="en-US" sz="1500" b="1" dirty="0">
                <a:solidFill>
                  <a:srgbClr val="1B2631"/>
                </a:solidFill>
                <a:latin typeface="Calibri" pitchFamily="34" charset="0"/>
                <a:ea typeface="Calibri" pitchFamily="34" charset="-122"/>
                <a:cs typeface="Calibri" pitchFamily="34" charset="-120"/>
              </a:rPr>
              <a:t>Why it matters on GPUs: </a:t>
            </a:r>
            <a:r>
              <a:rPr lang="en-US" sz="1500" dirty="0">
                <a:solidFill>
                  <a:srgbClr val="1B2631"/>
                </a:solidFill>
                <a:latin typeface="Calibri" pitchFamily="34" charset="0"/>
                <a:ea typeface="Calibri" pitchFamily="34" charset="-122"/>
                <a:cs typeface="Calibri" pitchFamily="34" charset="-120"/>
              </a:rPr>
              <a:t>the solver state is dozens of persistent O(N³) arrays (velocity, gradients, SGS stress, padded spectral scratch). Any needless host–device sync moves O(N³) bytes.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1D Slab Decomposition Hits a CPU Ceiling</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More cores barely help: the node saturates memory bandwidth, then runs out of memory.</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4</a:t>
            </a:r>
            <a:endParaRPr lang="en-US" sz="1100" dirty="0"/>
          </a:p>
        </p:txBody>
      </p:sp>
      <p:sp>
        <p:nvSpPr>
          <p:cNvPr id="5" name="Shape 3"/>
          <p:cNvSpPr/>
          <p:nvPr/>
        </p:nvSpPr>
        <p:spPr>
          <a:xfrm>
            <a:off x="1234440" y="1783080"/>
            <a:ext cx="3474720" cy="475488"/>
          </a:xfrm>
          <a:prstGeom prst="rect">
            <a:avLst/>
          </a:prstGeom>
          <a:solidFill>
            <a:srgbClr val="BFD9EC"/>
          </a:solidFill>
          <a:ln w="12700">
            <a:solidFill>
              <a:srgbClr val="FFFFFF"/>
            </a:solidFill>
            <a:prstDash val="solid"/>
          </a:ln>
        </p:spPr>
      </p:sp>
      <p:sp>
        <p:nvSpPr>
          <p:cNvPr id="6" name="Text 4"/>
          <p:cNvSpPr txBox="1"/>
          <p:nvPr/>
        </p:nvSpPr>
        <p:spPr>
          <a:xfrm>
            <a:off x="1371600" y="1783080"/>
            <a:ext cx="3200400" cy="475488"/>
          </a:xfrm>
          <a:prstGeom prst="rect">
            <a:avLst/>
          </a:prstGeom>
          <a:noFill/>
          <a:ln/>
        </p:spPr>
        <p:txBody>
          <a:bodyPr wrap="square" lIns="0" tIns="0" rIns="0" bIns="0" rtlCol="0" anchor="ctr"/>
          <a:lstStyle/>
          <a:p>
            <a:pPr indent="0" marL="0">
              <a:buNone/>
            </a:pPr>
            <a:r>
              <a:rPr lang="en-US" sz="1300" dirty="0">
                <a:solidFill>
                  <a:srgbClr val="1B2631"/>
                </a:solidFill>
                <a:latin typeface="Calibri" pitchFamily="34" charset="0"/>
                <a:ea typeface="Calibri" pitchFamily="34" charset="-122"/>
                <a:cs typeface="Calibri" pitchFamily="34" charset="-120"/>
              </a:rPr>
              <a:t>Process 3  ·  full x–y planes</a:t>
            </a:r>
            <a:endParaRPr lang="en-US" sz="1300" dirty="0"/>
          </a:p>
        </p:txBody>
      </p:sp>
      <p:sp>
        <p:nvSpPr>
          <p:cNvPr id="7" name="Shape 5"/>
          <p:cNvSpPr/>
          <p:nvPr/>
        </p:nvSpPr>
        <p:spPr>
          <a:xfrm>
            <a:off x="1234440" y="2331720"/>
            <a:ext cx="3474720" cy="475488"/>
          </a:xfrm>
          <a:prstGeom prst="rect">
            <a:avLst/>
          </a:prstGeom>
          <a:solidFill>
            <a:srgbClr val="A4CAE5"/>
          </a:solidFill>
          <a:ln w="12700">
            <a:solidFill>
              <a:srgbClr val="FFFFFF"/>
            </a:solidFill>
            <a:prstDash val="solid"/>
          </a:ln>
        </p:spPr>
      </p:sp>
      <p:sp>
        <p:nvSpPr>
          <p:cNvPr id="8" name="Text 6"/>
          <p:cNvSpPr txBox="1"/>
          <p:nvPr/>
        </p:nvSpPr>
        <p:spPr>
          <a:xfrm>
            <a:off x="1371600" y="2331720"/>
            <a:ext cx="3200400" cy="475488"/>
          </a:xfrm>
          <a:prstGeom prst="rect">
            <a:avLst/>
          </a:prstGeom>
          <a:noFill/>
          <a:ln/>
        </p:spPr>
        <p:txBody>
          <a:bodyPr wrap="square" lIns="0" tIns="0" rIns="0" bIns="0" rtlCol="0" anchor="ctr"/>
          <a:lstStyle/>
          <a:p>
            <a:pPr indent="0" marL="0">
              <a:buNone/>
            </a:pPr>
            <a:r>
              <a:rPr lang="en-US" sz="1300" dirty="0">
                <a:solidFill>
                  <a:srgbClr val="1B2631"/>
                </a:solidFill>
                <a:latin typeface="Calibri" pitchFamily="34" charset="0"/>
                <a:ea typeface="Calibri" pitchFamily="34" charset="-122"/>
                <a:cs typeface="Calibri" pitchFamily="34" charset="-120"/>
              </a:rPr>
              <a:t>Process 2  ·  full x–y planes</a:t>
            </a:r>
            <a:endParaRPr lang="en-US" sz="1300" dirty="0"/>
          </a:p>
        </p:txBody>
      </p:sp>
      <p:sp>
        <p:nvSpPr>
          <p:cNvPr id="9" name="Shape 7"/>
          <p:cNvSpPr/>
          <p:nvPr/>
        </p:nvSpPr>
        <p:spPr>
          <a:xfrm>
            <a:off x="1234440" y="2880360"/>
            <a:ext cx="3474720" cy="475488"/>
          </a:xfrm>
          <a:prstGeom prst="rect">
            <a:avLst/>
          </a:prstGeom>
          <a:solidFill>
            <a:srgbClr val="88BADD"/>
          </a:solidFill>
          <a:ln w="12700">
            <a:solidFill>
              <a:srgbClr val="FFFFFF"/>
            </a:solidFill>
            <a:prstDash val="solid"/>
          </a:ln>
        </p:spPr>
      </p:sp>
      <p:sp>
        <p:nvSpPr>
          <p:cNvPr id="10" name="Text 8"/>
          <p:cNvSpPr txBox="1"/>
          <p:nvPr/>
        </p:nvSpPr>
        <p:spPr>
          <a:xfrm>
            <a:off x="1371600" y="2880360"/>
            <a:ext cx="3200400" cy="475488"/>
          </a:xfrm>
          <a:prstGeom prst="rect">
            <a:avLst/>
          </a:prstGeom>
          <a:noFill/>
          <a:ln/>
        </p:spPr>
        <p:txBody>
          <a:bodyPr wrap="square" lIns="0" tIns="0" rIns="0" bIns="0" rtlCol="0" anchor="ctr"/>
          <a:lstStyle/>
          <a:p>
            <a:pPr indent="0" marL="0">
              <a:buNone/>
            </a:pPr>
            <a:r>
              <a:rPr lang="en-US" sz="1300" dirty="0">
                <a:solidFill>
                  <a:srgbClr val="1B2631"/>
                </a:solidFill>
                <a:latin typeface="Calibri" pitchFamily="34" charset="0"/>
                <a:ea typeface="Calibri" pitchFamily="34" charset="-122"/>
                <a:cs typeface="Calibri" pitchFamily="34" charset="-120"/>
              </a:rPr>
              <a:t>Process 1  ·  full x–y planes</a:t>
            </a:r>
            <a:endParaRPr lang="en-US" sz="1300" dirty="0"/>
          </a:p>
        </p:txBody>
      </p:sp>
      <p:sp>
        <p:nvSpPr>
          <p:cNvPr id="11" name="Shape 9"/>
          <p:cNvSpPr/>
          <p:nvPr/>
        </p:nvSpPr>
        <p:spPr>
          <a:xfrm>
            <a:off x="1234440" y="3429000"/>
            <a:ext cx="3474720" cy="475488"/>
          </a:xfrm>
          <a:prstGeom prst="rect">
            <a:avLst/>
          </a:prstGeom>
          <a:solidFill>
            <a:srgbClr val="6DAAD5"/>
          </a:solidFill>
          <a:ln w="12700">
            <a:solidFill>
              <a:srgbClr val="FFFFFF"/>
            </a:solidFill>
            <a:prstDash val="solid"/>
          </a:ln>
        </p:spPr>
      </p:sp>
      <p:sp>
        <p:nvSpPr>
          <p:cNvPr id="12" name="Text 10"/>
          <p:cNvSpPr txBox="1"/>
          <p:nvPr/>
        </p:nvSpPr>
        <p:spPr>
          <a:xfrm>
            <a:off x="1371600" y="3429000"/>
            <a:ext cx="3200400" cy="475488"/>
          </a:xfrm>
          <a:prstGeom prst="rect">
            <a:avLst/>
          </a:prstGeom>
          <a:noFill/>
          <a:ln/>
        </p:spPr>
        <p:txBody>
          <a:bodyPr wrap="square" lIns="0" tIns="0" rIns="0" bIns="0" rtlCol="0" anchor="ctr"/>
          <a:lstStyle/>
          <a:p>
            <a:pPr indent="0" marL="0">
              <a:buNone/>
            </a:pPr>
            <a:r>
              <a:rPr lang="en-US" sz="1300" dirty="0">
                <a:solidFill>
                  <a:srgbClr val="1B2631"/>
                </a:solidFill>
                <a:latin typeface="Calibri" pitchFamily="34" charset="0"/>
                <a:ea typeface="Calibri" pitchFamily="34" charset="-122"/>
                <a:cs typeface="Calibri" pitchFamily="34" charset="-120"/>
              </a:rPr>
              <a:t>Process 0  ·  full x–y planes</a:t>
            </a:r>
            <a:endParaRPr lang="en-US" sz="1300" dirty="0"/>
          </a:p>
        </p:txBody>
      </p:sp>
      <p:sp>
        <p:nvSpPr>
          <p:cNvPr id="13" name="Shape 11"/>
          <p:cNvSpPr/>
          <p:nvPr/>
        </p:nvSpPr>
        <p:spPr>
          <a:xfrm>
            <a:off x="868680" y="1783080"/>
            <a:ext cx="0" cy="2121408"/>
          </a:xfrm>
          <a:prstGeom prst="line">
            <a:avLst/>
          </a:prstGeom>
          <a:noFill/>
          <a:ln w="19050">
            <a:solidFill>
              <a:srgbClr val="1B2631"/>
            </a:solidFill>
            <a:prstDash val="solid"/>
            <a:headEnd type="triangle"/>
          </a:ln>
        </p:spPr>
      </p:sp>
      <p:sp>
        <p:nvSpPr>
          <p:cNvPr id="14" name="Text 12"/>
          <p:cNvSpPr txBox="1"/>
          <p:nvPr/>
        </p:nvSpPr>
        <p:spPr>
          <a:xfrm>
            <a:off x="566928" y="2660904"/>
            <a:ext cx="274320" cy="365760"/>
          </a:xfrm>
          <a:prstGeom prst="rect">
            <a:avLst/>
          </a:prstGeom>
          <a:noFill/>
          <a:ln/>
        </p:spPr>
        <p:txBody>
          <a:bodyPr wrap="square" lIns="0" tIns="0" rIns="0" bIns="0" rtlCol="0" anchor="ctr"/>
          <a:lstStyle/>
          <a:p>
            <a:pPr indent="0" marL="0">
              <a:buNone/>
            </a:pPr>
            <a:r>
              <a:rPr lang="en-US" sz="1600" b="1" i="1" dirty="0">
                <a:solidFill>
                  <a:srgbClr val="1B2631"/>
                </a:solidFill>
                <a:latin typeface="Calibri" pitchFamily="34" charset="0"/>
                <a:ea typeface="Calibri" pitchFamily="34" charset="-122"/>
                <a:cs typeface="Calibri" pitchFamily="34" charset="-120"/>
              </a:rPr>
              <a:t>z</a:t>
            </a:r>
            <a:endParaRPr lang="en-US" sz="1600" dirty="0"/>
          </a:p>
        </p:txBody>
      </p:sp>
      <p:sp>
        <p:nvSpPr>
          <p:cNvPr id="15" name="Text 13"/>
          <p:cNvSpPr txBox="1"/>
          <p:nvPr/>
        </p:nvSpPr>
        <p:spPr>
          <a:xfrm>
            <a:off x="548640" y="4206240"/>
            <a:ext cx="4754880" cy="2103120"/>
          </a:xfrm>
          <a:prstGeom prst="rect">
            <a:avLst/>
          </a:prstGeom>
          <a:noFill/>
          <a:ln/>
        </p:spPr>
        <p:txBody>
          <a:bodyPr wrap="square" lIns="0" tIns="0" rIns="0" bIns="0" rtlCol="0" anchor="t"/>
          <a:lstStyle/>
          <a:p>
            <a:pPr marL="228600" indent="-228600">
              <a:spcAft>
                <a:spcPts val="1200"/>
              </a:spcAft>
              <a:buSzPct val="100000"/>
              <a:buChar char="•"/>
            </a:pPr>
            <a:r>
              <a:rPr lang="en-US" sz="1600" b="1" dirty="0">
                <a:solidFill>
                  <a:srgbClr val="1B2631"/>
                </a:solidFill>
                <a:latin typeface="Calibri" pitchFamily="34" charset="0"/>
                <a:ea typeface="Calibri" pitchFamily="34" charset="-122"/>
                <a:cs typeface="Calibri" pitchFamily="34" charset="-120"/>
              </a:rPr>
              <a:t>2D horizontal FFTs stay local: </a:t>
            </a:r>
            <a:r>
              <a:rPr lang="en-US" sz="1600" dirty="0">
                <a:solidFill>
                  <a:srgbClr val="1B2631"/>
                </a:solidFill>
                <a:latin typeface="Calibri" pitchFamily="34" charset="0"/>
                <a:ea typeface="Calibri" pitchFamily="34" charset="-122"/>
                <a:cs typeface="Calibri" pitchFamily="34" charset="-120"/>
              </a:rPr>
              <a:t>no all-to-all transposes</a:t>
            </a:r>
            <a:endParaRPr lang="en-US" sz="1600" dirty="0"/>
          </a:p>
          <a:p>
            <a:pPr marL="228600" indent="-228600">
              <a:spcAft>
                <a:spcPts val="1200"/>
              </a:spcAft>
              <a:buSzPct val="100000"/>
              <a:buChar char="•"/>
            </a:pPr>
            <a:r>
              <a:rPr lang="en-US" sz="1600" b="1" dirty="0">
                <a:solidFill>
                  <a:srgbClr val="1B2631"/>
                </a:solidFill>
                <a:latin typeface="Calibri" pitchFamily="34" charset="0"/>
                <a:ea typeface="Calibri" pitchFamily="34" charset="-122"/>
                <a:cs typeface="Calibri" pitchFamily="34" charset="-120"/>
              </a:rPr>
              <a:t>Halo exchange: </a:t>
            </a:r>
            <a:r>
              <a:rPr lang="en-US" sz="1600" dirty="0">
                <a:solidFill>
                  <a:srgbClr val="1B2631"/>
                </a:solidFill>
                <a:latin typeface="Calibri" pitchFamily="34" charset="0"/>
                <a:ea typeface="Calibri" pitchFamily="34" charset="-122"/>
                <a:cs typeface="Calibri" pitchFamily="34" charset="-120"/>
              </a:rPr>
              <a:t>single planes between neighbors</a:t>
            </a:r>
            <a:endParaRPr lang="en-US" sz="1600" dirty="0"/>
          </a:p>
          <a:p>
            <a:pPr marL="228600" indent="-228600">
              <a:spcAft>
                <a:spcPts val="1200"/>
              </a:spcAft>
              <a:buSzPct val="100000"/>
              <a:buChar char="•"/>
            </a:pPr>
            <a:r>
              <a:rPr lang="en-US" sz="1600" b="1" dirty="0">
                <a:solidFill>
                  <a:srgbClr val="1B2631"/>
                </a:solidFill>
                <a:latin typeface="Calibri" pitchFamily="34" charset="0"/>
                <a:ea typeface="Calibri" pitchFamily="34" charset="-122"/>
                <a:cs typeface="Calibri" pitchFamily="34" charset="-120"/>
              </a:rPr>
              <a:t>Poisson solve is global: </a:t>
            </a:r>
            <a:r>
              <a:rPr lang="en-US" sz="1600" dirty="0">
                <a:solidFill>
                  <a:srgbClr val="1B2631"/>
                </a:solidFill>
                <a:latin typeface="Calibri" pitchFamily="34" charset="0"/>
                <a:ea typeface="Calibri" pitchFamily="34" charset="-122"/>
                <a:cs typeface="Calibri" pitchFamily="34" charset="-120"/>
              </a:rPr>
              <a:t>every tridiagonal system spans all processes in z</a:t>
            </a:r>
            <a:endParaRPr lang="en-US" sz="1600" dirty="0"/>
          </a:p>
        </p:txBody>
      </p:sp>
      <p:pic>
        <p:nvPicPr>
          <p:cNvPr id="16" name="Image 0" descr="/tmp/claude-1000/-home-wcy-paper-papers-2026-gpulesgo/7d05cab0-2291-40fa-8322-177e3a69b1f0/scratchpad/figs/fig_ceiling.png">    </p:cNvPr>
          <p:cNvPicPr>
            <a:picLocks noChangeAspect="1"/>
          </p:cNvPicPr>
          <p:nvPr/>
        </p:nvPicPr>
        <p:blipFill>
          <a:blip r:embed="rId1"/>
          <a:stretch>
            <a:fillRect/>
          </a:stretch>
        </p:blipFill>
        <p:spPr>
          <a:xfrm>
            <a:off x="5715000" y="1572768"/>
            <a:ext cx="5897880" cy="3538728"/>
          </a:xfrm>
          <a:prstGeom prst="rect">
            <a:avLst/>
          </a:prstGeom>
        </p:spPr>
      </p:pic>
      <p:sp>
        <p:nvSpPr>
          <p:cNvPr id="17" name="Shape 14"/>
          <p:cNvSpPr/>
          <p:nvPr/>
        </p:nvSpPr>
        <p:spPr>
          <a:xfrm>
            <a:off x="5715000" y="5276088"/>
            <a:ext cx="1844040" cy="1005840"/>
          </a:xfrm>
          <a:prstGeom prst="roundRect">
            <a:avLst>
              <a:gd name="adj" fmla="val 10909"/>
            </a:avLst>
          </a:prstGeom>
          <a:solidFill>
            <a:srgbClr val="F1F5F9"/>
          </a:solidFill>
          <a:ln w="12700">
            <a:solidFill>
              <a:srgbClr val="F1F5F9"/>
            </a:solidFill>
            <a:prstDash val="solid"/>
          </a:ln>
        </p:spPr>
      </p:sp>
      <p:sp>
        <p:nvSpPr>
          <p:cNvPr id="18" name="Text 15"/>
          <p:cNvSpPr txBox="1"/>
          <p:nvPr/>
        </p:nvSpPr>
        <p:spPr>
          <a:xfrm>
            <a:off x="5897880" y="5367528"/>
            <a:ext cx="1478280" cy="553212"/>
          </a:xfrm>
          <a:prstGeom prst="rect">
            <a:avLst/>
          </a:prstGeom>
          <a:noFill/>
          <a:ln/>
        </p:spPr>
        <p:txBody>
          <a:bodyPr wrap="square" lIns="0" tIns="0" rIns="0" bIns="0" rtlCol="0" anchor="ctr"/>
          <a:lstStyle/>
          <a:p>
            <a:pPr indent="0" marL="0">
              <a:buNone/>
            </a:pPr>
            <a:r>
              <a:rPr lang="en-US" sz="2600" b="1" dirty="0">
                <a:solidFill>
                  <a:srgbClr val="D55E00"/>
                </a:solidFill>
                <a:latin typeface="Calibri" pitchFamily="34" charset="0"/>
                <a:ea typeface="Calibri" pitchFamily="34" charset="-122"/>
                <a:cs typeface="Calibri" pitchFamily="34" charset="-120"/>
              </a:rPr>
              <a:t>1.08×</a:t>
            </a:r>
            <a:endParaRPr lang="en-US" sz="2600" dirty="0"/>
          </a:p>
        </p:txBody>
      </p:sp>
      <p:sp>
        <p:nvSpPr>
          <p:cNvPr id="19" name="Text 16"/>
          <p:cNvSpPr txBox="1"/>
          <p:nvPr/>
        </p:nvSpPr>
        <p:spPr>
          <a:xfrm>
            <a:off x="5897880" y="5920740"/>
            <a:ext cx="1478280" cy="269748"/>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16 → 64 cores</a:t>
            </a:r>
            <a:endParaRPr lang="en-US" sz="1300" dirty="0"/>
          </a:p>
        </p:txBody>
      </p:sp>
      <p:sp>
        <p:nvSpPr>
          <p:cNvPr id="20" name="Shape 17"/>
          <p:cNvSpPr/>
          <p:nvPr/>
        </p:nvSpPr>
        <p:spPr>
          <a:xfrm>
            <a:off x="7741920" y="5276088"/>
            <a:ext cx="1844040" cy="1005840"/>
          </a:xfrm>
          <a:prstGeom prst="roundRect">
            <a:avLst>
              <a:gd name="adj" fmla="val 10909"/>
            </a:avLst>
          </a:prstGeom>
          <a:solidFill>
            <a:srgbClr val="F1F5F9"/>
          </a:solidFill>
          <a:ln w="12700">
            <a:solidFill>
              <a:srgbClr val="F1F5F9"/>
            </a:solidFill>
            <a:prstDash val="solid"/>
          </a:ln>
        </p:spPr>
      </p:sp>
      <p:sp>
        <p:nvSpPr>
          <p:cNvPr id="21" name="Text 18"/>
          <p:cNvSpPr txBox="1"/>
          <p:nvPr/>
        </p:nvSpPr>
        <p:spPr>
          <a:xfrm>
            <a:off x="7924800" y="5367528"/>
            <a:ext cx="1478280" cy="553212"/>
          </a:xfrm>
          <a:prstGeom prst="rect">
            <a:avLst/>
          </a:prstGeom>
          <a:noFill/>
          <a:ln/>
        </p:spPr>
        <p:txBody>
          <a:bodyPr wrap="square" lIns="0" tIns="0" rIns="0" bIns="0" rtlCol="0" anchor="ctr"/>
          <a:lstStyle/>
          <a:p>
            <a:pPr indent="0" marL="0">
              <a:buNone/>
            </a:pPr>
            <a:r>
              <a:rPr lang="en-US" sz="2600" b="1" dirty="0">
                <a:solidFill>
                  <a:srgbClr val="D55E00"/>
                </a:solidFill>
                <a:latin typeface="Calibri" pitchFamily="34" charset="0"/>
                <a:ea typeface="Calibri" pitchFamily="34" charset="-122"/>
                <a:cs typeface="Calibri" pitchFamily="34" charset="-120"/>
              </a:rPr>
              <a:t>OOM</a:t>
            </a:r>
            <a:endParaRPr lang="en-US" sz="2600" dirty="0"/>
          </a:p>
        </p:txBody>
      </p:sp>
      <p:sp>
        <p:nvSpPr>
          <p:cNvPr id="22" name="Text 19"/>
          <p:cNvSpPr txBox="1"/>
          <p:nvPr/>
        </p:nvSpPr>
        <p:spPr>
          <a:xfrm>
            <a:off x="7924800" y="5920740"/>
            <a:ext cx="1478280" cy="269748"/>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at 128 processes</a:t>
            </a:r>
            <a:endParaRPr lang="en-US" sz="1300" dirty="0"/>
          </a:p>
        </p:txBody>
      </p:sp>
      <p:sp>
        <p:nvSpPr>
          <p:cNvPr id="23" name="Shape 20"/>
          <p:cNvSpPr/>
          <p:nvPr/>
        </p:nvSpPr>
        <p:spPr>
          <a:xfrm>
            <a:off x="9768840" y="5276088"/>
            <a:ext cx="1844040" cy="1005840"/>
          </a:xfrm>
          <a:prstGeom prst="roundRect">
            <a:avLst>
              <a:gd name="adj" fmla="val 10909"/>
            </a:avLst>
          </a:prstGeom>
          <a:solidFill>
            <a:srgbClr val="F1F5F9"/>
          </a:solidFill>
          <a:ln w="12700">
            <a:solidFill>
              <a:srgbClr val="F1F5F9"/>
            </a:solidFill>
            <a:prstDash val="solid"/>
          </a:ln>
        </p:spPr>
      </p:sp>
      <p:sp>
        <p:nvSpPr>
          <p:cNvPr id="24" name="Text 21"/>
          <p:cNvSpPr txBox="1"/>
          <p:nvPr/>
        </p:nvSpPr>
        <p:spPr>
          <a:xfrm>
            <a:off x="9951720" y="5367528"/>
            <a:ext cx="1478280" cy="553212"/>
          </a:xfrm>
          <a:prstGeom prst="rect">
            <a:avLst/>
          </a:prstGeom>
          <a:noFill/>
          <a:ln/>
        </p:spPr>
        <p:txBody>
          <a:bodyPr wrap="square" lIns="0" tIns="0" rIns="0" bIns="0" rtlCol="0" anchor="ctr"/>
          <a:lstStyle/>
          <a:p>
            <a:pPr indent="0" marL="0">
              <a:buNone/>
            </a:pPr>
            <a:r>
              <a:rPr lang="en-US" sz="2600" b="1" dirty="0">
                <a:solidFill>
                  <a:srgbClr val="D55E00"/>
                </a:solidFill>
                <a:latin typeface="Calibri" pitchFamily="34" charset="0"/>
                <a:ea typeface="Calibri" pitchFamily="34" charset="-122"/>
                <a:cs typeface="Calibri" pitchFamily="34" charset="-120"/>
              </a:rPr>
              <a:t>2.1×</a:t>
            </a:r>
            <a:endParaRPr lang="en-US" sz="2600" dirty="0"/>
          </a:p>
        </p:txBody>
      </p:sp>
      <p:sp>
        <p:nvSpPr>
          <p:cNvPr id="25" name="Text 22"/>
          <p:cNvSpPr txBox="1"/>
          <p:nvPr/>
        </p:nvSpPr>
        <p:spPr>
          <a:xfrm>
            <a:off x="9951720" y="5920740"/>
            <a:ext cx="1478280" cy="269748"/>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4 nodes vs. 1 node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The Bottleneck Is Data Movement, Not Kernels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Both standard directive-based data strategies leave the GPU starving.</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5</a:t>
            </a:r>
            <a:endParaRPr lang="en-US" sz="1100" dirty="0"/>
          </a:p>
        </p:txBody>
      </p:sp>
      <p:sp>
        <p:nvSpPr>
          <p:cNvPr id="5" name="Shape 3"/>
          <p:cNvSpPr/>
          <p:nvPr/>
        </p:nvSpPr>
        <p:spPr>
          <a:xfrm>
            <a:off x="548640" y="1645920"/>
            <a:ext cx="7086600" cy="3794760"/>
          </a:xfrm>
          <a:prstGeom prst="roundRect">
            <a:avLst>
              <a:gd name="adj" fmla="val 2892"/>
            </a:avLst>
          </a:prstGeom>
          <a:solidFill>
            <a:srgbClr val="F1F5F9"/>
          </a:solidFill>
          <a:ln w="12700">
            <a:solidFill>
              <a:srgbClr val="F1F5F9"/>
            </a:solidFill>
            <a:prstDash val="solid"/>
          </a:ln>
        </p:spPr>
      </p:sp>
      <p:sp>
        <p:nvSpPr>
          <p:cNvPr id="6" name="Shape 4"/>
          <p:cNvSpPr/>
          <p:nvPr/>
        </p:nvSpPr>
        <p:spPr>
          <a:xfrm>
            <a:off x="777240" y="1828800"/>
            <a:ext cx="502920" cy="502920"/>
          </a:xfrm>
          <a:prstGeom prst="ellipse">
            <a:avLst/>
          </a:prstGeom>
          <a:solidFill>
            <a:srgbClr val="D55E00"/>
          </a:solidFill>
          <a:ln w="12700">
            <a:solidFill>
              <a:srgbClr val="D55E00"/>
            </a:solidFill>
            <a:prstDash val="solid"/>
          </a:ln>
        </p:spPr>
      </p:sp>
      <p:pic>
        <p:nvPicPr>
          <p:cNvPr id="7" name="Image 0" descr="preencoded.png">    </p:cNvPr>
          <p:cNvPicPr>
            <a:picLocks noChangeAspect="1"/>
          </p:cNvPicPr>
          <p:nvPr/>
        </p:nvPicPr>
        <p:blipFill>
          <a:blip r:embed="rId1"/>
          <a:stretch>
            <a:fillRect/>
          </a:stretch>
        </p:blipFill>
        <p:spPr>
          <a:xfrm>
            <a:off x="887882" y="1939442"/>
            <a:ext cx="281635" cy="281635"/>
          </a:xfrm>
          <a:prstGeom prst="rect">
            <a:avLst/>
          </a:prstGeom>
        </p:spPr>
      </p:pic>
      <p:sp>
        <p:nvSpPr>
          <p:cNvPr id="8" name="Text 5"/>
          <p:cNvSpPr txBox="1"/>
          <p:nvPr/>
        </p:nvSpPr>
        <p:spPr>
          <a:xfrm>
            <a:off x="1417320" y="1828800"/>
            <a:ext cx="3657600" cy="502920"/>
          </a:xfrm>
          <a:prstGeom prst="rect">
            <a:avLst/>
          </a:prstGeom>
          <a:noFill/>
          <a:ln/>
        </p:spPr>
        <p:txBody>
          <a:bodyPr wrap="square" lIns="0" tIns="0" rIns="0" bIns="0" rtlCol="0" anchor="ctr"/>
          <a:lstStyle/>
          <a:p>
            <a:pPr indent="0" marL="0">
              <a:buNone/>
            </a:pPr>
            <a:r>
              <a:rPr lang="en-US" sz="2000" b="1" dirty="0">
                <a:solidFill>
                  <a:srgbClr val="1B2631"/>
                </a:solidFill>
                <a:latin typeface="Calibri" pitchFamily="34" charset="0"/>
                <a:ea typeface="Calibri" pitchFamily="34" charset="-122"/>
                <a:cs typeface="Calibri" pitchFamily="34" charset="-120"/>
              </a:rPr>
              <a:t>Array mirroring</a:t>
            </a:r>
            <a:endParaRPr lang="en-US" sz="2000" dirty="0"/>
          </a:p>
        </p:txBody>
      </p:sp>
      <p:sp>
        <p:nvSpPr>
          <p:cNvPr id="9" name="Text 6"/>
          <p:cNvSpPr txBox="1"/>
          <p:nvPr/>
        </p:nvSpPr>
        <p:spPr>
          <a:xfrm>
            <a:off x="4206240" y="1828800"/>
            <a:ext cx="3200400" cy="502920"/>
          </a:xfrm>
          <a:prstGeom prst="rect">
            <a:avLst/>
          </a:prstGeom>
          <a:noFill/>
          <a:ln/>
        </p:spPr>
        <p:txBody>
          <a:bodyPr wrap="square" lIns="0" tIns="0" rIns="0" bIns="0" rtlCol="0" anchor="ctr"/>
          <a:lstStyle/>
          <a:p>
            <a:pPr algn="r" indent="0" marL="0">
              <a:buNone/>
            </a:pPr>
            <a:r>
              <a:rPr lang="en-US" sz="1300" dirty="0">
                <a:solidFill>
                  <a:srgbClr val="5F6B76"/>
                </a:solidFill>
                <a:latin typeface="Calibri" pitchFamily="34" charset="0"/>
                <a:ea typeface="Calibri" pitchFamily="34" charset="-122"/>
                <a:cs typeface="Calibri" pitchFamily="34" charset="-120"/>
              </a:rPr>
              <a:t>256³ grid, 2 turbines, 4 A100s</a:t>
            </a:r>
            <a:endParaRPr lang="en-US" sz="1300" dirty="0"/>
          </a:p>
        </p:txBody>
      </p:sp>
      <p:sp>
        <p:nvSpPr>
          <p:cNvPr id="10" name="Shape 7"/>
          <p:cNvSpPr/>
          <p:nvPr/>
        </p:nvSpPr>
        <p:spPr>
          <a:xfrm>
            <a:off x="777240" y="2468880"/>
            <a:ext cx="6629400" cy="1783080"/>
          </a:xfrm>
          <a:prstGeom prst="rect">
            <a:avLst/>
          </a:prstGeom>
          <a:solidFill>
            <a:srgbClr val="FFFFFF"/>
          </a:solidFill>
          <a:ln w="12700">
            <a:solidFill>
              <a:srgbClr val="FFFFFF"/>
            </a:solidFill>
            <a:prstDash val="solid"/>
          </a:ln>
        </p:spPr>
      </p:sp>
      <p:pic>
        <p:nvPicPr>
          <p:cNvPr id="11" name="Image 1" descr="/tmp/claude-1000/-home-wcy-paper-papers-2026-gpulesgo/7d05cab0-2291-40fa-8322-177e3a69b1f0/scratchpad/figs/fig_mirroring.png">    </p:cNvPr>
          <p:cNvPicPr>
            <a:picLocks noChangeAspect="1"/>
          </p:cNvPicPr>
          <p:nvPr/>
        </p:nvPicPr>
        <p:blipFill>
          <a:blip r:embed="rId2"/>
          <a:stretch>
            <a:fillRect/>
          </a:stretch>
        </p:blipFill>
        <p:spPr>
          <a:xfrm>
            <a:off x="822960" y="2496312"/>
            <a:ext cx="6537960" cy="1781840"/>
          </a:xfrm>
          <a:prstGeom prst="rect">
            <a:avLst/>
          </a:prstGeom>
        </p:spPr>
      </p:pic>
      <p:sp>
        <p:nvSpPr>
          <p:cNvPr id="12" name="Text 8"/>
          <p:cNvSpPr txBox="1"/>
          <p:nvPr/>
        </p:nvSpPr>
        <p:spPr>
          <a:xfrm>
            <a:off x="777240" y="4434840"/>
            <a:ext cx="6675120" cy="868680"/>
          </a:xfrm>
          <a:prstGeom prst="rect">
            <a:avLst/>
          </a:prstGeom>
          <a:noFill/>
          <a:ln/>
        </p:spPr>
        <p:txBody>
          <a:bodyPr wrap="square" lIns="0" tIns="0" rIns="0" bIns="0" rtlCol="0" anchor="t"/>
          <a:lstStyle/>
          <a:p>
            <a:pPr marL="228600" indent="-228600">
              <a:spcAft>
                <a:spcPts val="600"/>
              </a:spcAft>
              <a:buSzPct val="100000"/>
              <a:buChar char="•"/>
            </a:pPr>
            <a:r>
              <a:rPr lang="en-US" sz="1600" b="1" dirty="0">
                <a:solidFill>
                  <a:srgbClr val="1B2631"/>
                </a:solidFill>
                <a:latin typeface="Calibri" pitchFamily="34" charset="0"/>
                <a:ea typeface="Calibri" pitchFamily="34" charset="-122"/>
                <a:cs typeface="Calibri" pitchFamily="34" charset="-120"/>
              </a:rPr>
              <a:t>13 ms of a 220 ms step</a:t>
            </a:r>
            <a:r>
              <a:rPr lang="en-US" sz="1600" dirty="0">
                <a:solidFill>
                  <a:srgbClr val="1B2631"/>
                </a:solidFill>
                <a:latin typeface="Calibri" pitchFamily="34" charset="0"/>
                <a:ea typeface="Calibri" pitchFamily="34" charset="-122"/>
                <a:cs typeface="Calibri" pitchFamily="34" charset="-120"/>
              </a:rPr>
              <a:t> runs on the GPU: 94% idle</a:t>
            </a:r>
            <a:endParaRPr lang="en-US" sz="1600" dirty="0"/>
          </a:p>
          <a:p>
            <a:pPr marL="228600" indent="-228600">
              <a:spcAft>
                <a:spcPts val="600"/>
              </a:spcAft>
              <a:buSzPct val="100000"/>
              <a:buChar char="•"/>
            </a:pPr>
            <a:r>
              <a:rPr lang="en-US" sz="1600" dirty="0">
                <a:solidFill>
                  <a:srgbClr val="1B2631"/>
                </a:solidFill>
                <a:latin typeface="Calibri" pitchFamily="34" charset="0"/>
                <a:ea typeface="Calibri" pitchFamily="34" charset="-122"/>
                <a:cs typeface="Calibri" pitchFamily="34" charset="-120"/>
              </a:rPr>
              <a:t>12 full-field syncs move 420 MB/step; </a:t>
            </a:r>
            <a:r>
              <a:rPr lang="en-US" sz="1600" b="1" dirty="0">
                <a:solidFill>
                  <a:srgbClr val="1B2631"/>
                </a:solidFill>
                <a:latin typeface="Calibri" pitchFamily="34" charset="0"/>
                <a:ea typeface="Calibri" pitchFamily="34" charset="-122"/>
                <a:cs typeface="Calibri" pitchFamily="34" charset="-120"/>
              </a:rPr>
              <a:t>consumers read ~5 MB</a:t>
            </a:r>
            <a:endParaRPr lang="en-US" sz="1600" dirty="0"/>
          </a:p>
        </p:txBody>
      </p:sp>
      <p:sp>
        <p:nvSpPr>
          <p:cNvPr id="13" name="Shape 9"/>
          <p:cNvSpPr/>
          <p:nvPr/>
        </p:nvSpPr>
        <p:spPr>
          <a:xfrm>
            <a:off x="7863840" y="1645920"/>
            <a:ext cx="3749040" cy="3794760"/>
          </a:xfrm>
          <a:prstGeom prst="roundRect">
            <a:avLst>
              <a:gd name="adj" fmla="val 2927"/>
            </a:avLst>
          </a:prstGeom>
          <a:solidFill>
            <a:srgbClr val="F1F5F9"/>
          </a:solidFill>
          <a:ln w="12700">
            <a:solidFill>
              <a:srgbClr val="F1F5F9"/>
            </a:solidFill>
            <a:prstDash val="solid"/>
          </a:ln>
        </p:spPr>
      </p:sp>
      <p:sp>
        <p:nvSpPr>
          <p:cNvPr id="14" name="Shape 10"/>
          <p:cNvSpPr/>
          <p:nvPr/>
        </p:nvSpPr>
        <p:spPr>
          <a:xfrm>
            <a:off x="8092440" y="1828800"/>
            <a:ext cx="502920" cy="502920"/>
          </a:xfrm>
          <a:prstGeom prst="ellipse">
            <a:avLst/>
          </a:prstGeom>
          <a:solidFill>
            <a:srgbClr val="D55E00"/>
          </a:solidFill>
          <a:ln w="12700">
            <a:solidFill>
              <a:srgbClr val="D55E00"/>
            </a:solidFill>
            <a:prstDash val="solid"/>
          </a:ln>
        </p:spPr>
      </p:sp>
      <p:pic>
        <p:nvPicPr>
          <p:cNvPr id="15" name="Image 2" descr="preencoded.png">    </p:cNvPr>
          <p:cNvPicPr>
            <a:picLocks noChangeAspect="1"/>
          </p:cNvPicPr>
          <p:nvPr/>
        </p:nvPicPr>
        <p:blipFill>
          <a:blip r:embed="rId3"/>
          <a:stretch>
            <a:fillRect/>
          </a:stretch>
        </p:blipFill>
        <p:spPr>
          <a:xfrm>
            <a:off x="8203082" y="1939442"/>
            <a:ext cx="281635" cy="281635"/>
          </a:xfrm>
          <a:prstGeom prst="rect">
            <a:avLst/>
          </a:prstGeom>
        </p:spPr>
      </p:pic>
      <p:sp>
        <p:nvSpPr>
          <p:cNvPr id="16" name="Text 11"/>
          <p:cNvSpPr txBox="1"/>
          <p:nvPr/>
        </p:nvSpPr>
        <p:spPr>
          <a:xfrm>
            <a:off x="8732520" y="1828800"/>
            <a:ext cx="2743200" cy="502920"/>
          </a:xfrm>
          <a:prstGeom prst="rect">
            <a:avLst/>
          </a:prstGeom>
          <a:noFill/>
          <a:ln/>
        </p:spPr>
        <p:txBody>
          <a:bodyPr wrap="square" lIns="0" tIns="0" rIns="0" bIns="0" rtlCol="0" anchor="ctr"/>
          <a:lstStyle/>
          <a:p>
            <a:pPr indent="0" marL="0">
              <a:buNone/>
            </a:pPr>
            <a:r>
              <a:rPr lang="en-US" sz="2000" b="1" dirty="0">
                <a:solidFill>
                  <a:srgbClr val="1B2631"/>
                </a:solidFill>
                <a:latin typeface="Calibri" pitchFamily="34" charset="0"/>
                <a:ea typeface="Calibri" pitchFamily="34" charset="-122"/>
                <a:cs typeface="Calibri" pitchFamily="34" charset="-120"/>
              </a:rPr>
              <a:t>CUDA managed memory</a:t>
            </a:r>
            <a:endParaRPr lang="en-US" sz="2000" dirty="0"/>
          </a:p>
        </p:txBody>
      </p:sp>
      <p:sp>
        <p:nvSpPr>
          <p:cNvPr id="17" name="Text 12"/>
          <p:cNvSpPr txBox="1"/>
          <p:nvPr/>
        </p:nvSpPr>
        <p:spPr>
          <a:xfrm>
            <a:off x="8092440" y="2514600"/>
            <a:ext cx="3337560" cy="28346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2631"/>
                </a:solidFill>
                <a:latin typeface="Calibri" pitchFamily="34" charset="0"/>
                <a:ea typeface="Calibri" pitchFamily="34" charset="-122"/>
                <a:cs typeface="Calibri" pitchFamily="34" charset="-120"/>
              </a:rPr>
              <a:t>Least effort: one compiler flag</a:t>
            </a:r>
            <a:endParaRPr lang="en-US" sz="1500" dirty="0"/>
          </a:p>
          <a:p>
            <a:pPr marL="228600" indent="-228600">
              <a:spcAft>
                <a:spcPts val="800"/>
              </a:spcAft>
              <a:buSzPct val="100000"/>
              <a:buChar char="•"/>
            </a:pPr>
            <a:r>
              <a:rPr lang="en-US" sz="1500" dirty="0">
                <a:solidFill>
                  <a:srgbClr val="1B2631"/>
                </a:solidFill>
                <a:latin typeface="Calibri" pitchFamily="34" charset="0"/>
                <a:ea typeface="Calibri" pitchFamily="34" charset="-122"/>
                <a:cs typeface="Calibri" pitchFamily="34" charset="-120"/>
              </a:rPr>
              <a:t>Page faults and on-demand migration stall execution on 16 A100s</a:t>
            </a:r>
            <a:endParaRPr lang="en-US" sz="1500" dirty="0"/>
          </a:p>
          <a:p>
            <a:pPr marL="228600" indent="-228600">
              <a:spcAft>
                <a:spcPts val="800"/>
              </a:spcAft>
              <a:buSzPct val="100000"/>
              <a:buChar char="•"/>
            </a:pPr>
            <a:r>
              <a:rPr lang="en-US" sz="1500" dirty="0">
                <a:solidFill>
                  <a:srgbClr val="1B2631"/>
                </a:solidFill>
                <a:latin typeface="Calibri" pitchFamily="34" charset="0"/>
                <a:ea typeface="Calibri" pitchFamily="34" charset="-122"/>
                <a:cs typeface="Calibri" pitchFamily="34" charset="-120"/>
              </a:rPr>
              <a:t>Traffic is hidden from the source, so it can't be tuned</a:t>
            </a:r>
            <a:endParaRPr lang="en-US" sz="1500" dirty="0"/>
          </a:p>
          <a:p>
            <a:pPr marL="228600" indent="-228600">
              <a:spcAft>
                <a:spcPts val="800"/>
              </a:spcAft>
              <a:buSzPct val="100000"/>
              <a:buChar char="•"/>
            </a:pPr>
            <a:r>
              <a:rPr lang="en-US" sz="1500" dirty="0">
                <a:solidFill>
                  <a:srgbClr val="1B2631"/>
                </a:solidFill>
                <a:latin typeface="Calibri" pitchFamily="34" charset="0"/>
                <a:ea typeface="Calibri" pitchFamily="34" charset="-122"/>
                <a:cs typeface="Calibri" pitchFamily="34" charset="-120"/>
              </a:rPr>
              <a:t>Mirroring every array also wastes device memory, so the same grid needs more GPUs</a:t>
            </a:r>
            <a:endParaRPr lang="en-US" sz="1500" dirty="0"/>
          </a:p>
        </p:txBody>
      </p:sp>
      <p:sp>
        <p:nvSpPr>
          <p:cNvPr id="18" name="Shape 13"/>
          <p:cNvSpPr/>
          <p:nvPr/>
        </p:nvSpPr>
        <p:spPr>
          <a:xfrm>
            <a:off x="548640" y="5623560"/>
            <a:ext cx="11064240" cy="731520"/>
          </a:xfrm>
          <a:prstGeom prst="roundRect">
            <a:avLst>
              <a:gd name="adj" fmla="val 15000"/>
            </a:avLst>
          </a:prstGeom>
          <a:solidFill>
            <a:srgbClr val="0F2233"/>
          </a:solidFill>
          <a:ln w="12700">
            <a:solidFill>
              <a:srgbClr val="0F2233"/>
            </a:solidFill>
            <a:prstDash val="solid"/>
          </a:ln>
        </p:spPr>
      </p:sp>
      <p:sp>
        <p:nvSpPr>
          <p:cNvPr id="19" name="Text 14"/>
          <p:cNvSpPr txBox="1"/>
          <p:nvPr/>
        </p:nvSpPr>
        <p:spPr>
          <a:xfrm>
            <a:off x="822960" y="5623560"/>
            <a:ext cx="10607040" cy="731520"/>
          </a:xfrm>
          <a:prstGeom prst="rect">
            <a:avLst/>
          </a:prstGeom>
          <a:noFill/>
          <a:ln/>
        </p:spPr>
        <p:txBody>
          <a:bodyPr wrap="square" lIns="0" tIns="0" rIns="0" bIns="0" rtlCol="0" anchor="ctr"/>
          <a:lstStyle/>
          <a:p>
            <a:pPr indent="0" marL="0">
              <a:buNone/>
            </a:pPr>
            <a:r>
              <a:rPr lang="en-US" sz="1600" b="1" dirty="0">
                <a:solidFill>
                  <a:srgbClr val="FFB27A"/>
                </a:solidFill>
                <a:latin typeface="Calibri" pitchFamily="34" charset="0"/>
                <a:ea typeface="Calibri" pitchFamily="34" charset="-122"/>
                <a:cs typeface="Calibri" pitchFamily="34" charset="-120"/>
              </a:rPr>
              <a:t>Root cause: </a:t>
            </a:r>
            <a:r>
              <a:rPr lang="en-US" sz="1600" dirty="0">
                <a:solidFill>
                  <a:srgbClr val="FFFFFF"/>
                </a:solidFill>
                <a:latin typeface="Calibri" pitchFamily="34" charset="0"/>
                <a:ea typeface="Calibri" pitchFamily="34" charset="-122"/>
                <a:cs typeface="Calibri" pitchFamily="34" charset="-120"/>
              </a:rPr>
              <a:t>routines still on the host demand full-field transfers. We need residency control that knows what each host consumer reads.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Consumer-Driven Explicit Residency</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Keep every field on the device. Size each host transfer by what the host touches.</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6</a:t>
            </a:r>
            <a:endParaRPr lang="en-US" sz="1100" dirty="0"/>
          </a:p>
        </p:txBody>
      </p:sp>
      <p:sp>
        <p:nvSpPr>
          <p:cNvPr id="5" name="Shape 3"/>
          <p:cNvSpPr/>
          <p:nvPr/>
        </p:nvSpPr>
        <p:spPr>
          <a:xfrm>
            <a:off x="548640" y="1645920"/>
            <a:ext cx="5394960" cy="1005840"/>
          </a:xfrm>
          <a:prstGeom prst="roundRect">
            <a:avLst>
              <a:gd name="adj" fmla="val 10909"/>
            </a:avLst>
          </a:prstGeom>
          <a:solidFill>
            <a:srgbClr val="E8F1F8"/>
          </a:solidFill>
          <a:ln w="12700">
            <a:solidFill>
              <a:srgbClr val="E8F1F8"/>
            </a:solidFill>
            <a:prstDash val="solid"/>
          </a:ln>
        </p:spPr>
      </p:sp>
      <p:sp>
        <p:nvSpPr>
          <p:cNvPr id="6" name="Text 4"/>
          <p:cNvSpPr txBox="1"/>
          <p:nvPr/>
        </p:nvSpPr>
        <p:spPr>
          <a:xfrm>
            <a:off x="777240" y="1645920"/>
            <a:ext cx="5029200" cy="1005840"/>
          </a:xfrm>
          <a:prstGeom prst="rect">
            <a:avLst/>
          </a:prstGeom>
          <a:noFill/>
          <a:ln/>
        </p:spPr>
        <p:txBody>
          <a:bodyPr wrap="square" lIns="0" tIns="0" rIns="0" bIns="0" rtlCol="0" anchor="ctr"/>
          <a:lstStyle/>
          <a:p>
            <a:pPr indent="0" marL="0">
              <a:buNone/>
            </a:pPr>
            <a:r>
              <a:rPr lang="en-US" sz="1500" b="1" dirty="0">
                <a:solidFill>
                  <a:srgbClr val="1B2631"/>
                </a:solidFill>
                <a:latin typeface="Calibri" pitchFamily="34" charset="0"/>
                <a:ea typeface="Calibri" pitchFamily="34" charset="-122"/>
                <a:cs typeface="Calibri" pitchFamily="34" charset="-120"/>
              </a:rPr>
              <a:t>1  Residency by construction</a:t>
            </a:r>
            <a:endParaRPr lang="en-US" sz="1500" dirty="0"/>
          </a:p>
          <a:p>
            <a:pPr indent="0" marL="0">
              <a:buNone/>
            </a:pPr>
            <a:r>
              <a:rPr lang="en-US" sz="1500" dirty="0">
                <a:solidFill>
                  <a:srgbClr val="5F6B76"/>
                </a:solidFill>
                <a:latin typeface="Calibri" pitchFamily="34" charset="0"/>
                <a:ea typeface="Calibri" pitchFamily="34" charset="-122"/>
                <a:cs typeface="Calibri" pitchFamily="34" charset="-120"/>
              </a:rPr>
              <a:t>All persistent arrays use !$acc declare create; every kernel asserts default(present).</a:t>
            </a:r>
            <a:endParaRPr lang="en-US" sz="1500" dirty="0"/>
          </a:p>
        </p:txBody>
      </p:sp>
      <p:sp>
        <p:nvSpPr>
          <p:cNvPr id="7" name="Shape 5"/>
          <p:cNvSpPr/>
          <p:nvPr/>
        </p:nvSpPr>
        <p:spPr>
          <a:xfrm>
            <a:off x="6217920" y="1645920"/>
            <a:ext cx="5394960" cy="1005840"/>
          </a:xfrm>
          <a:prstGeom prst="roundRect">
            <a:avLst>
              <a:gd name="adj" fmla="val 10909"/>
            </a:avLst>
          </a:prstGeom>
          <a:solidFill>
            <a:srgbClr val="E8F1F8"/>
          </a:solidFill>
          <a:ln w="12700">
            <a:solidFill>
              <a:srgbClr val="E8F1F8"/>
            </a:solidFill>
            <a:prstDash val="solid"/>
          </a:ln>
        </p:spPr>
      </p:sp>
      <p:sp>
        <p:nvSpPr>
          <p:cNvPr id="8" name="Text 6"/>
          <p:cNvSpPr txBox="1"/>
          <p:nvPr/>
        </p:nvSpPr>
        <p:spPr>
          <a:xfrm>
            <a:off x="6446520" y="1645920"/>
            <a:ext cx="5029200" cy="1005840"/>
          </a:xfrm>
          <a:prstGeom prst="rect">
            <a:avLst/>
          </a:prstGeom>
          <a:noFill/>
          <a:ln/>
        </p:spPr>
        <p:txBody>
          <a:bodyPr wrap="square" lIns="0" tIns="0" rIns="0" bIns="0" rtlCol="0" anchor="ctr"/>
          <a:lstStyle/>
          <a:p>
            <a:pPr indent="0" marL="0">
              <a:buNone/>
            </a:pPr>
            <a:r>
              <a:rPr lang="en-US" sz="1500" b="1" dirty="0">
                <a:solidFill>
                  <a:srgbClr val="1B2631"/>
                </a:solidFill>
                <a:latin typeface="Calibri" pitchFamily="34" charset="0"/>
                <a:ea typeface="Calibri" pitchFamily="34" charset="-122"/>
                <a:cs typeface="Calibri" pitchFamily="34" charset="-120"/>
              </a:rPr>
              <a:t>2  Classify every coupling point</a:t>
            </a:r>
            <a:endParaRPr lang="en-US" sz="1500" dirty="0"/>
          </a:p>
          <a:p>
            <a:pPr indent="0" marL="0">
              <a:buNone/>
            </a:pPr>
            <a:r>
              <a:rPr lang="en-US" sz="1500" dirty="0">
                <a:solidFill>
                  <a:srgbClr val="5F6B76"/>
                </a:solidFill>
                <a:latin typeface="Calibri" pitchFamily="34" charset="0"/>
                <a:ea typeface="Calibri" pitchFamily="34" charset="-122"/>
                <a:cs typeface="Calibri" pitchFamily="34" charset="-120"/>
              </a:rPr>
              <a:t>By footprint (scalar, column, plane, subvolume), frequency, and access intent.</a:t>
            </a:r>
            <a:endParaRPr lang="en-US" sz="1500" dirty="0"/>
          </a:p>
        </p:txBody>
      </p:sp>
      <p:sp>
        <p:nvSpPr>
          <p:cNvPr id="9" name="Shape 7"/>
          <p:cNvSpPr/>
          <p:nvPr/>
        </p:nvSpPr>
        <p:spPr>
          <a:xfrm>
            <a:off x="548640" y="2926080"/>
            <a:ext cx="2542032" cy="3246120"/>
          </a:xfrm>
          <a:prstGeom prst="roundRect">
            <a:avLst>
              <a:gd name="adj" fmla="val 4317"/>
            </a:avLst>
          </a:prstGeom>
          <a:solidFill>
            <a:srgbClr val="F1F5F9"/>
          </a:solidFill>
          <a:ln w="12700">
            <a:solidFill>
              <a:srgbClr val="F1F5F9"/>
            </a:solidFill>
            <a:prstDash val="solid"/>
          </a:ln>
        </p:spPr>
      </p:sp>
      <p:sp>
        <p:nvSpPr>
          <p:cNvPr id="10" name="Shape 8"/>
          <p:cNvSpPr/>
          <p:nvPr/>
        </p:nvSpPr>
        <p:spPr>
          <a:xfrm>
            <a:off x="749808" y="3127248"/>
            <a:ext cx="566928" cy="566928"/>
          </a:xfrm>
          <a:prstGeom prst="ellipse">
            <a:avLst/>
          </a:prstGeom>
          <a:solidFill>
            <a:srgbClr val="7A4FA0"/>
          </a:solidFill>
          <a:ln w="12700">
            <a:solidFill>
              <a:srgbClr val="7A4FA0"/>
            </a:solidFill>
            <a:prstDash val="solid"/>
          </a:ln>
        </p:spPr>
      </p:sp>
      <p:pic>
        <p:nvPicPr>
          <p:cNvPr id="11" name="Image 0" descr="preencoded.png">    </p:cNvPr>
          <p:cNvPicPr>
            <a:picLocks noChangeAspect="1"/>
          </p:cNvPicPr>
          <p:nvPr/>
        </p:nvPicPr>
        <p:blipFill>
          <a:blip r:embed="rId1"/>
          <a:stretch>
            <a:fillRect/>
          </a:stretch>
        </p:blipFill>
        <p:spPr>
          <a:xfrm>
            <a:off x="874532" y="3251972"/>
            <a:ext cx="317480" cy="317480"/>
          </a:xfrm>
          <a:prstGeom prst="rect">
            <a:avLst/>
          </a:prstGeom>
        </p:spPr>
      </p:pic>
      <p:sp>
        <p:nvSpPr>
          <p:cNvPr id="12" name="Text 9"/>
          <p:cNvSpPr txBox="1"/>
          <p:nvPr/>
        </p:nvSpPr>
        <p:spPr>
          <a:xfrm>
            <a:off x="1463040" y="3127248"/>
            <a:ext cx="1536192" cy="566928"/>
          </a:xfrm>
          <a:prstGeom prst="rect">
            <a:avLst/>
          </a:prstGeom>
          <a:noFill/>
          <a:ln/>
        </p:spPr>
        <p:txBody>
          <a:bodyPr wrap="square" lIns="0" tIns="0" rIns="0" bIns="0" rtlCol="0" anchor="ctr"/>
          <a:lstStyle/>
          <a:p>
            <a:pPr indent="0" marL="0">
              <a:buNone/>
            </a:pPr>
            <a:r>
              <a:rPr lang="en-US" sz="2200" b="1" dirty="0">
                <a:solidFill>
                  <a:srgbClr val="7A4FA0"/>
                </a:solidFill>
                <a:latin typeface="Calibri" pitchFamily="34" charset="0"/>
                <a:ea typeface="Calibri" pitchFamily="34" charset="-122"/>
                <a:cs typeface="Calibri" pitchFamily="34" charset="-120"/>
              </a:rPr>
              <a:t>Gate</a:t>
            </a:r>
            <a:endParaRPr lang="en-US" sz="2200" dirty="0"/>
          </a:p>
        </p:txBody>
      </p:sp>
      <p:sp>
        <p:nvSpPr>
          <p:cNvPr id="13" name="Text 10"/>
          <p:cNvSpPr txBox="1"/>
          <p:nvPr/>
        </p:nvSpPr>
        <p:spPr>
          <a:xfrm>
            <a:off x="749808" y="3840480"/>
            <a:ext cx="2176272" cy="320040"/>
          </a:xfrm>
          <a:prstGeom prst="rect">
            <a:avLst/>
          </a:prstGeom>
          <a:noFill/>
          <a:ln/>
        </p:spPr>
        <p:txBody>
          <a:bodyPr wrap="square" lIns="0" tIns="0" rIns="0" bIns="0" rtlCol="0" anchor="t"/>
          <a:lstStyle/>
          <a:p>
            <a:pPr indent="0" marL="0">
              <a:buNone/>
            </a:pPr>
            <a:r>
              <a:rPr lang="en-US" sz="1300" i="1" dirty="0">
                <a:solidFill>
                  <a:srgbClr val="5F6B76"/>
                </a:solidFill>
                <a:latin typeface="Calibri" pitchFamily="34" charset="0"/>
                <a:ea typeface="Calibri" pitchFamily="34" charset="-122"/>
                <a:cs typeface="Calibri" pitchFamily="34" charset="-120"/>
              </a:rPr>
              <a:t>Exploits temporal frequency</a:t>
            </a:r>
            <a:endParaRPr lang="en-US" sz="1300" dirty="0"/>
          </a:p>
        </p:txBody>
      </p:sp>
      <p:sp>
        <p:nvSpPr>
          <p:cNvPr id="14" name="Text 11"/>
          <p:cNvSpPr txBox="1"/>
          <p:nvPr/>
        </p:nvSpPr>
        <p:spPr>
          <a:xfrm>
            <a:off x="749808" y="4187952"/>
            <a:ext cx="2176272" cy="9601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Skip the transfer on steps where its consumer does not run.</a:t>
            </a:r>
            <a:endParaRPr lang="en-US" sz="1500" dirty="0"/>
          </a:p>
        </p:txBody>
      </p:sp>
      <p:sp>
        <p:nvSpPr>
          <p:cNvPr id="15" name="Text 12"/>
          <p:cNvSpPr txBox="1"/>
          <p:nvPr/>
        </p:nvSpPr>
        <p:spPr>
          <a:xfrm>
            <a:off x="749808" y="5212080"/>
            <a:ext cx="2176272" cy="822960"/>
          </a:xfrm>
          <a:prstGeom prst="rect">
            <a:avLst/>
          </a:prstGeom>
          <a:noFill/>
          <a:ln/>
        </p:spPr>
        <p:txBody>
          <a:bodyPr wrap="square" lIns="0" tIns="0" rIns="0" bIns="0" rtlCol="0" anchor="t"/>
          <a:lstStyle/>
          <a:p>
            <a:pPr indent="0" marL="0">
              <a:buNone/>
            </a:pPr>
            <a:r>
              <a:rPr lang="en-US" sz="1300" b="1" dirty="0">
                <a:solidFill>
                  <a:srgbClr val="5F6B76"/>
                </a:solidFill>
                <a:latin typeface="Calibri" pitchFamily="34" charset="0"/>
                <a:ea typeface="Calibri" pitchFamily="34" charset="-122"/>
                <a:cs typeface="Calibri" pitchFamily="34" charset="-120"/>
              </a:rPr>
              <a:t>In LESGO: </a:t>
            </a:r>
            <a:r>
              <a:rPr lang="en-US" sz="1300" dirty="0">
                <a:solidFill>
                  <a:srgbClr val="5F6B76"/>
                </a:solidFill>
                <a:latin typeface="Calibri" pitchFamily="34" charset="0"/>
                <a:ea typeface="Calibri" pitchFamily="34" charset="-122"/>
                <a:cs typeface="Calibri" pitchFamily="34" charset="-120"/>
              </a:rPr>
              <a:t>SGS fallback gradients, output steps</a:t>
            </a:r>
            <a:endParaRPr lang="en-US" sz="1300" dirty="0"/>
          </a:p>
        </p:txBody>
      </p:sp>
      <p:sp>
        <p:nvSpPr>
          <p:cNvPr id="16" name="Shape 13"/>
          <p:cNvSpPr/>
          <p:nvPr/>
        </p:nvSpPr>
        <p:spPr>
          <a:xfrm>
            <a:off x="3145536" y="4430268"/>
            <a:ext cx="192024" cy="237744"/>
          </a:xfrm>
          <a:prstGeom prst="rightArrow">
            <a:avLst/>
          </a:prstGeom>
          <a:solidFill>
            <a:srgbClr val="9AA8B5"/>
          </a:solidFill>
          <a:ln w="12700">
            <a:solidFill>
              <a:srgbClr val="9AA8B5"/>
            </a:solidFill>
            <a:prstDash val="solid"/>
          </a:ln>
        </p:spPr>
      </p:sp>
      <p:sp>
        <p:nvSpPr>
          <p:cNvPr id="17" name="Shape 14"/>
          <p:cNvSpPr/>
          <p:nvPr/>
        </p:nvSpPr>
        <p:spPr>
          <a:xfrm>
            <a:off x="3392424" y="2926080"/>
            <a:ext cx="2542032" cy="3246120"/>
          </a:xfrm>
          <a:prstGeom prst="roundRect">
            <a:avLst>
              <a:gd name="adj" fmla="val 4317"/>
            </a:avLst>
          </a:prstGeom>
          <a:solidFill>
            <a:srgbClr val="F1F5F9"/>
          </a:solidFill>
          <a:ln w="12700">
            <a:solidFill>
              <a:srgbClr val="F1F5F9"/>
            </a:solidFill>
            <a:prstDash val="solid"/>
          </a:ln>
        </p:spPr>
      </p:sp>
      <p:sp>
        <p:nvSpPr>
          <p:cNvPr id="18" name="Shape 15"/>
          <p:cNvSpPr/>
          <p:nvPr/>
        </p:nvSpPr>
        <p:spPr>
          <a:xfrm>
            <a:off x="3593592" y="3127248"/>
            <a:ext cx="566928" cy="566928"/>
          </a:xfrm>
          <a:prstGeom prst="ellipse">
            <a:avLst/>
          </a:prstGeom>
          <a:solidFill>
            <a:srgbClr val="0072B2"/>
          </a:solidFill>
          <a:ln w="12700">
            <a:solidFill>
              <a:srgbClr val="0072B2"/>
            </a:solidFill>
            <a:prstDash val="solid"/>
          </a:ln>
        </p:spPr>
      </p:sp>
      <p:pic>
        <p:nvPicPr>
          <p:cNvPr id="19" name="Image 1" descr="preencoded.png">    </p:cNvPr>
          <p:cNvPicPr>
            <a:picLocks noChangeAspect="1"/>
          </p:cNvPicPr>
          <p:nvPr/>
        </p:nvPicPr>
        <p:blipFill>
          <a:blip r:embed="rId2"/>
          <a:stretch>
            <a:fillRect/>
          </a:stretch>
        </p:blipFill>
        <p:spPr>
          <a:xfrm>
            <a:off x="3718316" y="3251972"/>
            <a:ext cx="317480" cy="317480"/>
          </a:xfrm>
          <a:prstGeom prst="rect">
            <a:avLst/>
          </a:prstGeom>
        </p:spPr>
      </p:pic>
      <p:sp>
        <p:nvSpPr>
          <p:cNvPr id="20" name="Text 16"/>
          <p:cNvSpPr txBox="1"/>
          <p:nvPr/>
        </p:nvSpPr>
        <p:spPr>
          <a:xfrm>
            <a:off x="4306824" y="3127248"/>
            <a:ext cx="1536192" cy="566928"/>
          </a:xfrm>
          <a:prstGeom prst="rect">
            <a:avLst/>
          </a:prstGeom>
          <a:noFill/>
          <a:ln/>
        </p:spPr>
        <p:txBody>
          <a:bodyPr wrap="square" lIns="0" tIns="0" rIns="0" bIns="0" rtlCol="0" anchor="ctr"/>
          <a:lstStyle/>
          <a:p>
            <a:pPr indent="0" marL="0">
              <a:buNone/>
            </a:pPr>
            <a:r>
              <a:rPr lang="en-US" sz="2200" b="1" dirty="0">
                <a:solidFill>
                  <a:srgbClr val="0072B2"/>
                </a:solidFill>
                <a:latin typeface="Calibri" pitchFamily="34" charset="0"/>
                <a:ea typeface="Calibri" pitchFamily="34" charset="-122"/>
                <a:cs typeface="Calibri" pitchFamily="34" charset="-120"/>
              </a:rPr>
              <a:t>Relocate</a:t>
            </a:r>
            <a:endParaRPr lang="en-US" sz="2200" dirty="0"/>
          </a:p>
        </p:txBody>
      </p:sp>
      <p:sp>
        <p:nvSpPr>
          <p:cNvPr id="21" name="Text 17"/>
          <p:cNvSpPr txBox="1"/>
          <p:nvPr/>
        </p:nvSpPr>
        <p:spPr>
          <a:xfrm>
            <a:off x="3593592" y="3840480"/>
            <a:ext cx="2176272" cy="320040"/>
          </a:xfrm>
          <a:prstGeom prst="rect">
            <a:avLst/>
          </a:prstGeom>
          <a:noFill/>
          <a:ln/>
        </p:spPr>
        <p:txBody>
          <a:bodyPr wrap="square" lIns="0" tIns="0" rIns="0" bIns="0" rtlCol="0" anchor="t"/>
          <a:lstStyle/>
          <a:p>
            <a:pPr indent="0" marL="0">
              <a:buNone/>
            </a:pPr>
            <a:r>
              <a:rPr lang="en-US" sz="1300" i="1" dirty="0">
                <a:solidFill>
                  <a:srgbClr val="5F6B76"/>
                </a:solidFill>
                <a:latin typeface="Calibri" pitchFamily="34" charset="0"/>
                <a:ea typeface="Calibri" pitchFamily="34" charset="-122"/>
                <a:cs typeface="Calibri" pitchFamily="34" charset="-120"/>
              </a:rPr>
              <a:t>Exploits a parallel consumer</a:t>
            </a:r>
            <a:endParaRPr lang="en-US" sz="1300" dirty="0"/>
          </a:p>
        </p:txBody>
      </p:sp>
      <p:sp>
        <p:nvSpPr>
          <p:cNvPr id="22" name="Text 18"/>
          <p:cNvSpPr txBox="1"/>
          <p:nvPr/>
        </p:nvSpPr>
        <p:spPr>
          <a:xfrm>
            <a:off x="3593592" y="4187952"/>
            <a:ext cx="2176272" cy="9601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Port the host routine to the GPU so the transfer disappears.</a:t>
            </a:r>
            <a:endParaRPr lang="en-US" sz="1500" dirty="0"/>
          </a:p>
        </p:txBody>
      </p:sp>
      <p:sp>
        <p:nvSpPr>
          <p:cNvPr id="23" name="Text 19"/>
          <p:cNvSpPr txBox="1"/>
          <p:nvPr/>
        </p:nvSpPr>
        <p:spPr>
          <a:xfrm>
            <a:off x="3593592" y="5212080"/>
            <a:ext cx="2176272" cy="822960"/>
          </a:xfrm>
          <a:prstGeom prst="rect">
            <a:avLst/>
          </a:prstGeom>
          <a:noFill/>
          <a:ln/>
        </p:spPr>
        <p:txBody>
          <a:bodyPr wrap="square" lIns="0" tIns="0" rIns="0" bIns="0" rtlCol="0" anchor="t"/>
          <a:lstStyle/>
          <a:p>
            <a:pPr indent="0" marL="0">
              <a:buNone/>
            </a:pPr>
            <a:r>
              <a:rPr lang="en-US" sz="1300" b="1" dirty="0">
                <a:solidFill>
                  <a:srgbClr val="5F6B76"/>
                </a:solidFill>
                <a:latin typeface="Calibri" pitchFamily="34" charset="0"/>
                <a:ea typeface="Calibri" pitchFamily="34" charset="-122"/>
                <a:cs typeface="Calibri" pitchFamily="34" charset="-120"/>
              </a:rPr>
              <a:t>In LESGO: </a:t>
            </a:r>
            <a:r>
              <a:rPr lang="en-US" sz="1300" dirty="0">
                <a:solidFill>
                  <a:srgbClr val="5F6B76"/>
                </a:solidFill>
                <a:latin typeface="Calibri" pitchFamily="34" charset="0"/>
                <a:ea typeface="Calibri" pitchFamily="34" charset="-122"/>
                <a:cs typeface="Calibri" pitchFamily="34" charset="-120"/>
              </a:rPr>
              <a:t>AB2 + projection, diagnostics, actuator line, Thomas chains</a:t>
            </a:r>
            <a:endParaRPr lang="en-US" sz="1300" dirty="0"/>
          </a:p>
        </p:txBody>
      </p:sp>
      <p:sp>
        <p:nvSpPr>
          <p:cNvPr id="24" name="Shape 20"/>
          <p:cNvSpPr/>
          <p:nvPr/>
        </p:nvSpPr>
        <p:spPr>
          <a:xfrm>
            <a:off x="5989320" y="4430268"/>
            <a:ext cx="192024" cy="237744"/>
          </a:xfrm>
          <a:prstGeom prst="rightArrow">
            <a:avLst/>
          </a:prstGeom>
          <a:solidFill>
            <a:srgbClr val="9AA8B5"/>
          </a:solidFill>
          <a:ln w="12700">
            <a:solidFill>
              <a:srgbClr val="9AA8B5"/>
            </a:solidFill>
            <a:prstDash val="solid"/>
          </a:ln>
        </p:spPr>
      </p:sp>
      <p:sp>
        <p:nvSpPr>
          <p:cNvPr id="25" name="Shape 21"/>
          <p:cNvSpPr/>
          <p:nvPr/>
        </p:nvSpPr>
        <p:spPr>
          <a:xfrm>
            <a:off x="6236208" y="2926080"/>
            <a:ext cx="2542032" cy="3246120"/>
          </a:xfrm>
          <a:prstGeom prst="roundRect">
            <a:avLst>
              <a:gd name="adj" fmla="val 4317"/>
            </a:avLst>
          </a:prstGeom>
          <a:solidFill>
            <a:srgbClr val="F1F5F9"/>
          </a:solidFill>
          <a:ln w="12700">
            <a:solidFill>
              <a:srgbClr val="F1F5F9"/>
            </a:solidFill>
            <a:prstDash val="solid"/>
          </a:ln>
        </p:spPr>
      </p:sp>
      <p:sp>
        <p:nvSpPr>
          <p:cNvPr id="26" name="Shape 22"/>
          <p:cNvSpPr/>
          <p:nvPr/>
        </p:nvSpPr>
        <p:spPr>
          <a:xfrm>
            <a:off x="6437376" y="3127248"/>
            <a:ext cx="566928" cy="566928"/>
          </a:xfrm>
          <a:prstGeom prst="ellipse">
            <a:avLst/>
          </a:prstGeom>
          <a:solidFill>
            <a:srgbClr val="00875F"/>
          </a:solidFill>
          <a:ln w="12700">
            <a:solidFill>
              <a:srgbClr val="00875F"/>
            </a:solidFill>
            <a:prstDash val="solid"/>
          </a:ln>
        </p:spPr>
      </p:sp>
      <p:pic>
        <p:nvPicPr>
          <p:cNvPr id="27" name="Image 2" descr="preencoded.png">    </p:cNvPr>
          <p:cNvPicPr>
            <a:picLocks noChangeAspect="1"/>
          </p:cNvPicPr>
          <p:nvPr/>
        </p:nvPicPr>
        <p:blipFill>
          <a:blip r:embed="rId3"/>
          <a:stretch>
            <a:fillRect/>
          </a:stretch>
        </p:blipFill>
        <p:spPr>
          <a:xfrm>
            <a:off x="6562100" y="3251972"/>
            <a:ext cx="317480" cy="317480"/>
          </a:xfrm>
          <a:prstGeom prst="rect">
            <a:avLst/>
          </a:prstGeom>
        </p:spPr>
      </p:pic>
      <p:sp>
        <p:nvSpPr>
          <p:cNvPr id="28" name="Text 23"/>
          <p:cNvSpPr txBox="1"/>
          <p:nvPr/>
        </p:nvSpPr>
        <p:spPr>
          <a:xfrm>
            <a:off x="7150608" y="3127248"/>
            <a:ext cx="1536192" cy="566928"/>
          </a:xfrm>
          <a:prstGeom prst="rect">
            <a:avLst/>
          </a:prstGeom>
          <a:noFill/>
          <a:ln/>
        </p:spPr>
        <p:txBody>
          <a:bodyPr wrap="square" lIns="0" tIns="0" rIns="0" bIns="0" rtlCol="0" anchor="ctr"/>
          <a:lstStyle/>
          <a:p>
            <a:pPr indent="0" marL="0">
              <a:buNone/>
            </a:pPr>
            <a:r>
              <a:rPr lang="en-US" sz="2200" b="1" dirty="0">
                <a:solidFill>
                  <a:srgbClr val="00875F"/>
                </a:solidFill>
                <a:latin typeface="Calibri" pitchFamily="34" charset="0"/>
                <a:ea typeface="Calibri" pitchFamily="34" charset="-122"/>
                <a:cs typeface="Calibri" pitchFamily="34" charset="-120"/>
              </a:rPr>
              <a:t>Slice</a:t>
            </a:r>
            <a:endParaRPr lang="en-US" sz="2200" dirty="0"/>
          </a:p>
        </p:txBody>
      </p:sp>
      <p:sp>
        <p:nvSpPr>
          <p:cNvPr id="29" name="Text 24"/>
          <p:cNvSpPr txBox="1"/>
          <p:nvPr/>
        </p:nvSpPr>
        <p:spPr>
          <a:xfrm>
            <a:off x="6437376" y="3840480"/>
            <a:ext cx="2176272" cy="320040"/>
          </a:xfrm>
          <a:prstGeom prst="rect">
            <a:avLst/>
          </a:prstGeom>
          <a:noFill/>
          <a:ln/>
        </p:spPr>
        <p:txBody>
          <a:bodyPr wrap="square" lIns="0" tIns="0" rIns="0" bIns="0" rtlCol="0" anchor="t"/>
          <a:lstStyle/>
          <a:p>
            <a:pPr indent="0" marL="0">
              <a:buNone/>
            </a:pPr>
            <a:r>
              <a:rPr lang="en-US" sz="1300" i="1" dirty="0">
                <a:solidFill>
                  <a:srgbClr val="5F6B76"/>
                </a:solidFill>
                <a:latin typeface="Calibri" pitchFamily="34" charset="0"/>
                <a:ea typeface="Calibri" pitchFamily="34" charset="-122"/>
                <a:cs typeface="Calibri" pitchFamily="34" charset="-120"/>
              </a:rPr>
              <a:t>Exploits a small footprint</a:t>
            </a:r>
            <a:endParaRPr lang="en-US" sz="1300" dirty="0"/>
          </a:p>
        </p:txBody>
      </p:sp>
      <p:sp>
        <p:nvSpPr>
          <p:cNvPr id="30" name="Text 25"/>
          <p:cNvSpPr txBox="1"/>
          <p:nvPr/>
        </p:nvSpPr>
        <p:spPr>
          <a:xfrm>
            <a:off x="6437376" y="4187952"/>
            <a:ext cx="2176272" cy="9601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Keep serial or I/O routines on the host; move only what they touch.</a:t>
            </a:r>
            <a:endParaRPr lang="en-US" sz="1500" dirty="0"/>
          </a:p>
        </p:txBody>
      </p:sp>
      <p:sp>
        <p:nvSpPr>
          <p:cNvPr id="31" name="Text 26"/>
          <p:cNvSpPr txBox="1"/>
          <p:nvPr/>
        </p:nvSpPr>
        <p:spPr>
          <a:xfrm>
            <a:off x="6437376" y="5212080"/>
            <a:ext cx="2176272" cy="822960"/>
          </a:xfrm>
          <a:prstGeom prst="rect">
            <a:avLst/>
          </a:prstGeom>
          <a:noFill/>
          <a:ln/>
        </p:spPr>
        <p:txBody>
          <a:bodyPr wrap="square" lIns="0" tIns="0" rIns="0" bIns="0" rtlCol="0" anchor="t"/>
          <a:lstStyle/>
          <a:p>
            <a:pPr indent="0" marL="0">
              <a:buNone/>
            </a:pPr>
            <a:r>
              <a:rPr lang="en-US" sz="1300" b="1" dirty="0">
                <a:solidFill>
                  <a:srgbClr val="5F6B76"/>
                </a:solidFill>
                <a:latin typeface="Calibri" pitchFamily="34" charset="0"/>
                <a:ea typeface="Calibri" pitchFamily="34" charset="-122"/>
                <a:cs typeface="Calibri" pitchFamily="34" charset="-120"/>
              </a:rPr>
              <a:t>In LESGO: </a:t>
            </a:r>
            <a:r>
              <a:rPr lang="en-US" sz="1300" dirty="0">
                <a:solidFill>
                  <a:srgbClr val="5F6B76"/>
                </a:solidFill>
                <a:latin typeface="Calibri" pitchFamily="34" charset="0"/>
                <a:ea typeface="Calibri" pitchFamily="34" charset="-122"/>
                <a:cs typeface="Calibri" pitchFamily="34" charset="-120"/>
              </a:rPr>
              <a:t>Wall planes, pressure DC column</a:t>
            </a:r>
            <a:endParaRPr lang="en-US" sz="1300" dirty="0"/>
          </a:p>
        </p:txBody>
      </p:sp>
      <p:sp>
        <p:nvSpPr>
          <p:cNvPr id="32" name="Shape 27"/>
          <p:cNvSpPr/>
          <p:nvPr/>
        </p:nvSpPr>
        <p:spPr>
          <a:xfrm>
            <a:off x="8833104" y="4430268"/>
            <a:ext cx="192024" cy="237744"/>
          </a:xfrm>
          <a:prstGeom prst="rightArrow">
            <a:avLst/>
          </a:prstGeom>
          <a:solidFill>
            <a:srgbClr val="9AA8B5"/>
          </a:solidFill>
          <a:ln w="12700">
            <a:solidFill>
              <a:srgbClr val="9AA8B5"/>
            </a:solidFill>
            <a:prstDash val="solid"/>
          </a:ln>
        </p:spPr>
      </p:sp>
      <p:sp>
        <p:nvSpPr>
          <p:cNvPr id="33" name="Shape 28"/>
          <p:cNvSpPr/>
          <p:nvPr/>
        </p:nvSpPr>
        <p:spPr>
          <a:xfrm>
            <a:off x="9079992" y="2926080"/>
            <a:ext cx="2542032" cy="3246120"/>
          </a:xfrm>
          <a:prstGeom prst="roundRect">
            <a:avLst>
              <a:gd name="adj" fmla="val 4317"/>
            </a:avLst>
          </a:prstGeom>
          <a:solidFill>
            <a:srgbClr val="F1F5F9"/>
          </a:solidFill>
          <a:ln w="12700">
            <a:solidFill>
              <a:srgbClr val="F1F5F9"/>
            </a:solidFill>
            <a:prstDash val="solid"/>
          </a:ln>
        </p:spPr>
      </p:sp>
      <p:sp>
        <p:nvSpPr>
          <p:cNvPr id="34" name="Shape 29"/>
          <p:cNvSpPr/>
          <p:nvPr/>
        </p:nvSpPr>
        <p:spPr>
          <a:xfrm>
            <a:off x="9281160" y="3127248"/>
            <a:ext cx="566928" cy="566928"/>
          </a:xfrm>
          <a:prstGeom prst="ellipse">
            <a:avLst/>
          </a:prstGeom>
          <a:solidFill>
            <a:srgbClr val="D55E00"/>
          </a:solidFill>
          <a:ln w="12700">
            <a:solidFill>
              <a:srgbClr val="D55E00"/>
            </a:solidFill>
            <a:prstDash val="solid"/>
          </a:ln>
        </p:spPr>
      </p:sp>
      <p:pic>
        <p:nvPicPr>
          <p:cNvPr id="35" name="Image 3" descr="preencoded.png">    </p:cNvPr>
          <p:cNvPicPr>
            <a:picLocks noChangeAspect="1"/>
          </p:cNvPicPr>
          <p:nvPr/>
        </p:nvPicPr>
        <p:blipFill>
          <a:blip r:embed="rId4"/>
          <a:stretch>
            <a:fillRect/>
          </a:stretch>
        </p:blipFill>
        <p:spPr>
          <a:xfrm>
            <a:off x="9405884" y="3251972"/>
            <a:ext cx="317480" cy="317480"/>
          </a:xfrm>
          <a:prstGeom prst="rect">
            <a:avLst/>
          </a:prstGeom>
        </p:spPr>
      </p:pic>
      <p:sp>
        <p:nvSpPr>
          <p:cNvPr id="36" name="Text 30"/>
          <p:cNvSpPr txBox="1"/>
          <p:nvPr/>
        </p:nvSpPr>
        <p:spPr>
          <a:xfrm>
            <a:off x="9994392" y="3127248"/>
            <a:ext cx="1536192" cy="566928"/>
          </a:xfrm>
          <a:prstGeom prst="rect">
            <a:avLst/>
          </a:prstGeom>
          <a:noFill/>
          <a:ln/>
        </p:spPr>
        <p:txBody>
          <a:bodyPr wrap="square" lIns="0" tIns="0" rIns="0" bIns="0" rtlCol="0" anchor="ctr"/>
          <a:lstStyle/>
          <a:p>
            <a:pPr indent="0" marL="0">
              <a:buNone/>
            </a:pPr>
            <a:r>
              <a:rPr lang="en-US" sz="2200" b="1" dirty="0">
                <a:solidFill>
                  <a:srgbClr val="B84F00"/>
                </a:solidFill>
                <a:latin typeface="Calibri" pitchFamily="34" charset="0"/>
                <a:ea typeface="Calibri" pitchFamily="34" charset="-122"/>
                <a:cs typeface="Calibri" pitchFamily="34" charset="-120"/>
              </a:rPr>
              <a:t>Overlap</a:t>
            </a:r>
            <a:endParaRPr lang="en-US" sz="2200" dirty="0"/>
          </a:p>
        </p:txBody>
      </p:sp>
      <p:sp>
        <p:nvSpPr>
          <p:cNvPr id="37" name="Text 31"/>
          <p:cNvSpPr txBox="1"/>
          <p:nvPr/>
        </p:nvSpPr>
        <p:spPr>
          <a:xfrm>
            <a:off x="9281160" y="3840480"/>
            <a:ext cx="2176272" cy="320040"/>
          </a:xfrm>
          <a:prstGeom prst="rect">
            <a:avLst/>
          </a:prstGeom>
          <a:noFill/>
          <a:ln/>
        </p:spPr>
        <p:txBody>
          <a:bodyPr wrap="square" lIns="0" tIns="0" rIns="0" bIns="0" rtlCol="0" anchor="t"/>
          <a:lstStyle/>
          <a:p>
            <a:pPr indent="0" marL="0">
              <a:buNone/>
            </a:pPr>
            <a:r>
              <a:rPr lang="en-US" sz="1300" i="1" dirty="0">
                <a:solidFill>
                  <a:srgbClr val="5F6B76"/>
                </a:solidFill>
                <a:latin typeface="Calibri" pitchFamily="34" charset="0"/>
                <a:ea typeface="Calibri" pitchFamily="34" charset="-122"/>
                <a:cs typeface="Calibri" pitchFamily="34" charset="-120"/>
              </a:rPr>
              <a:t>Exploits known inputs</a:t>
            </a:r>
            <a:endParaRPr lang="en-US" sz="1300" dirty="0"/>
          </a:p>
        </p:txBody>
      </p:sp>
      <p:sp>
        <p:nvSpPr>
          <p:cNvPr id="38" name="Text 32"/>
          <p:cNvSpPr txBox="1"/>
          <p:nvPr/>
        </p:nvSpPr>
        <p:spPr>
          <a:xfrm>
            <a:off x="9281160" y="4187952"/>
            <a:ext cx="2176272" cy="9601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Run irreducible host work while the GPU keeps executing.</a:t>
            </a:r>
            <a:endParaRPr lang="en-US" sz="1500" dirty="0"/>
          </a:p>
        </p:txBody>
      </p:sp>
      <p:sp>
        <p:nvSpPr>
          <p:cNvPr id="39" name="Text 33"/>
          <p:cNvSpPr txBox="1"/>
          <p:nvPr/>
        </p:nvSpPr>
        <p:spPr>
          <a:xfrm>
            <a:off x="9281160" y="5212080"/>
            <a:ext cx="2176272" cy="822960"/>
          </a:xfrm>
          <a:prstGeom prst="rect">
            <a:avLst/>
          </a:prstGeom>
          <a:noFill/>
          <a:ln/>
        </p:spPr>
        <p:txBody>
          <a:bodyPr wrap="square" lIns="0" tIns="0" rIns="0" bIns="0" rtlCol="0" anchor="t"/>
          <a:lstStyle/>
          <a:p>
            <a:pPr indent="0" marL="0">
              <a:buNone/>
            </a:pPr>
            <a:r>
              <a:rPr lang="en-US" sz="1300" b="1" dirty="0">
                <a:solidFill>
                  <a:srgbClr val="5F6B76"/>
                </a:solidFill>
                <a:latin typeface="Calibri" pitchFamily="34" charset="0"/>
                <a:ea typeface="Calibri" pitchFamily="34" charset="-122"/>
                <a:cs typeface="Calibri" pitchFamily="34" charset="-120"/>
              </a:rPr>
              <a:t>In LESGO: </a:t>
            </a:r>
            <a:r>
              <a:rPr lang="en-US" sz="1300" dirty="0">
                <a:solidFill>
                  <a:srgbClr val="5F6B76"/>
                </a:solidFill>
                <a:latin typeface="Calibri" pitchFamily="34" charset="0"/>
                <a:ea typeface="Calibri" pitchFamily="34" charset="-122"/>
                <a:cs typeface="Calibri" pitchFamily="34" charset="-120"/>
              </a:rPr>
              <a:t>Airfoil polar lookups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Nine Coupling-Point Classes, Four Treatments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The classes recur across pseudo-spectral multiphysics codes: a reusable porting checklist.</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691640"/>
                <a:gridCol w="4160520"/>
                <a:gridCol w="2148840"/>
                <a:gridCol w="3063240"/>
              </a:tblGrid>
              <a:tr h="4297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0F22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Instance in LESGO</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0F22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Naive cost per step</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0F22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Treatment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0F2233"/>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Boundary plane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Wall-stress model reads u, v, w at the walls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Full fields, 420 MB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0875F"/>
                          </a:solidFill>
                          <a:latin typeface="Calibri" pitchFamily="34" charset="0"/>
                          <a:ea typeface="Calibri" pitchFamily="34" charset="-122"/>
                          <a:cs typeface="Calibri" pitchFamily="34" charset="-120"/>
                        </a:rPr>
                        <a:t>slice</a:t>
                      </a:r>
                      <a:r>
                        <a:rPr lang="en-US" sz="1400" dirty="0">
                          <a:solidFill>
                            <a:srgbClr val="1B2631"/>
                          </a:solidFill>
                          <a:latin typeface="Calibri" pitchFamily="34" charset="0"/>
                          <a:ea typeface="Calibri" pitchFamily="34" charset="-122"/>
                          <a:cs typeface="Calibri" pitchFamily="34" charset="-120"/>
                        </a:rPr>
                        <a:t> to wall planes, later </a:t>
                      </a:r>
                      <a:r>
                        <a:rPr lang="en-US" sz="1400" b="1" dirty="0">
                          <a:solidFill>
                            <a:srgbClr val="0072B2"/>
                          </a:solidFill>
                          <a:latin typeface="Calibri" pitchFamily="34" charset="0"/>
                          <a:ea typeface="Calibri" pitchFamily="34" charset="-122"/>
                          <a:cs typeface="Calibri" pitchFamily="34" charset="-120"/>
                        </a:rPr>
                        <a:t>relocate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Conditional</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Velocity gradients read only by the CPU SGS fallback</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9 fields, 315 MB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b="1" dirty="0">
                          <a:solidFill>
                            <a:srgbClr val="7A4FA0"/>
                          </a:solidFill>
                          <a:latin typeface="Calibri" pitchFamily="34" charset="0"/>
                          <a:ea typeface="Calibri" pitchFamily="34" charset="-122"/>
                          <a:cs typeface="Calibri" pitchFamily="34" charset="-120"/>
                        </a:rPr>
                        <a:t>gate</a:t>
                      </a:r>
                      <a:r>
                        <a:rPr lang="en-US" sz="1400" dirty="0">
                          <a:solidFill>
                            <a:srgbClr val="1B2631"/>
                          </a:solidFill>
                          <a:latin typeface="Calibri" pitchFamily="34" charset="0"/>
                          <a:ea typeface="Calibri" pitchFamily="34" charset="-122"/>
                          <a:cs typeface="Calibri" pitchFamily="34" charset="-120"/>
                        </a:rPr>
                        <a:t> on the SGS model choice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Spectral mode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Pressure zero-wavenumber recurrence (serial in z)</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3 full-field round trips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0875F"/>
                          </a:solidFill>
                          <a:latin typeface="Calibri" pitchFamily="34" charset="0"/>
                          <a:ea typeface="Calibri" pitchFamily="34" charset="-122"/>
                          <a:cs typeface="Calibri" pitchFamily="34" charset="-120"/>
                        </a:rPr>
                        <a:t>slice</a:t>
                      </a:r>
                      <a:r>
                        <a:rPr lang="en-US" sz="1400" dirty="0">
                          <a:solidFill>
                            <a:srgbClr val="1B2631"/>
                          </a:solidFill>
                          <a:latin typeface="Calibri" pitchFamily="34" charset="0"/>
                          <a:ea typeface="Calibri" pitchFamily="34" charset="-122"/>
                          <a:cs typeface="Calibri" pitchFamily="34" charset="-120"/>
                        </a:rPr>
                        <a:t> to the DC column (~1 KB)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Stale entry</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copyin of pressure at solver entry</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34 MB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b="1" dirty="0">
                          <a:solidFill>
                            <a:srgbClr val="00875F"/>
                          </a:solidFill>
                          <a:latin typeface="Calibri" pitchFamily="34" charset="0"/>
                          <a:ea typeface="Calibri" pitchFamily="34" charset="-122"/>
                          <a:cs typeface="Calibri" pitchFamily="34" charset="-120"/>
                        </a:rPr>
                        <a:t>slice</a:t>
                      </a:r>
                      <a:r>
                        <a:rPr lang="en-US" sz="1400" dirty="0">
                          <a:solidFill>
                            <a:srgbClr val="1B2631"/>
                          </a:solidFill>
                          <a:latin typeface="Calibri" pitchFamily="34" charset="0"/>
                          <a:ea typeface="Calibri" pitchFamily="34" charset="-122"/>
                          <a:cs typeface="Calibri" pitchFamily="34" charset="-120"/>
                        </a:rPr>
                        <a:t> to a seeded ghost plane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Pipeline state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Time integration and projection read u, v, w, RHS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210 MB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072B2"/>
                          </a:solidFill>
                          <a:latin typeface="Calibri" pitchFamily="34" charset="0"/>
                          <a:ea typeface="Calibri" pitchFamily="34" charset="-122"/>
                          <a:cs typeface="Calibri" pitchFamily="34" charset="-120"/>
                        </a:rPr>
                        <a:t>relocate</a:t>
                      </a:r>
                      <a:r>
                        <a:rPr lang="en-US" sz="1400" dirty="0">
                          <a:solidFill>
                            <a:srgbClr val="1B2631"/>
                          </a:solidFill>
                          <a:latin typeface="Calibri" pitchFamily="34" charset="0"/>
                          <a:ea typeface="Calibri" pitchFamily="34" charset="-122"/>
                          <a:cs typeface="Calibri" pitchFamily="34" charset="-120"/>
                        </a:rPr>
                        <a:t>; keep pipeline on device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Actuator</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Blade sampling and force projection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2 full-field crossings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b="1" dirty="0">
                          <a:solidFill>
                            <a:srgbClr val="0072B2"/>
                          </a:solidFill>
                          <a:latin typeface="Calibri" pitchFamily="34" charset="0"/>
                          <a:ea typeface="Calibri" pitchFamily="34" charset="-122"/>
                          <a:cs typeface="Calibri" pitchFamily="34" charset="-120"/>
                        </a:rPr>
                        <a:t>relocate</a:t>
                      </a:r>
                      <a:r>
                        <a:rPr lang="en-US" sz="1400" dirty="0">
                          <a:solidFill>
                            <a:srgbClr val="1B2631"/>
                          </a:solidFill>
                          <a:latin typeface="Calibri" pitchFamily="34" charset="0"/>
                          <a:ea typeface="Calibri" pitchFamily="34" charset="-122"/>
                          <a:cs typeface="Calibri" pitchFamily="34" charset="-120"/>
                        </a:rPr>
                        <a:t>; exchange O(blade points)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Diagnostics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Energy, divergence, checkpoint writes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963 MB</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072B2"/>
                          </a:solidFill>
                          <a:latin typeface="Calibri" pitchFamily="34" charset="0"/>
                          <a:ea typeface="Calibri" pitchFamily="34" charset="-122"/>
                          <a:cs typeface="Calibri" pitchFamily="34" charset="-120"/>
                        </a:rPr>
                        <a:t>relocate</a:t>
                      </a:r>
                      <a:r>
                        <a:rPr lang="en-US" sz="1400" dirty="0">
                          <a:solidFill>
                            <a:srgbClr val="1B2631"/>
                          </a:solidFill>
                          <a:latin typeface="Calibri" pitchFamily="34" charset="0"/>
                          <a:ea typeface="Calibri" pitchFamily="34" charset="-122"/>
                          <a:cs typeface="Calibri" pitchFamily="34" charset="-120"/>
                        </a:rPr>
                        <a:t> reductions, </a:t>
                      </a:r>
                      <a:r>
                        <a:rPr lang="en-US" sz="1400" b="1" dirty="0">
                          <a:solidFill>
                            <a:srgbClr val="7A4FA0"/>
                          </a:solidFill>
                          <a:latin typeface="Calibri" pitchFamily="34" charset="0"/>
                          <a:ea typeface="Calibri" pitchFamily="34" charset="-122"/>
                          <a:cs typeface="Calibri" pitchFamily="34" charset="-120"/>
                        </a:rPr>
                        <a:t>gate</a:t>
                      </a:r>
                      <a:r>
                        <a:rPr lang="en-US" sz="1400" dirty="0">
                          <a:solidFill>
                            <a:srgbClr val="1B2631"/>
                          </a:solidFill>
                          <a:latin typeface="Calibri" pitchFamily="34" charset="0"/>
                          <a:ea typeface="Calibri" pitchFamily="34" charset="-122"/>
                          <a:cs typeface="Calibri" pitchFamily="34" charset="-120"/>
                        </a:rPr>
                        <a:t> output</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Serial chain</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Thomas chains spanning processes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Host-staged relays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c>
                  <a:txBody>
                    <a:bodyPr/>
                    <a:lstStyle/>
                    <a:p>
                      <a:pPr indent="0" marL="0">
                        <a:buNone/>
                      </a:pPr>
                      <a:r>
                        <a:rPr lang="en-US" sz="1400" b="1" dirty="0">
                          <a:solidFill>
                            <a:srgbClr val="0072B2"/>
                          </a:solidFill>
                          <a:latin typeface="Calibri" pitchFamily="34" charset="0"/>
                          <a:ea typeface="Calibri" pitchFamily="34" charset="-122"/>
                          <a:cs typeface="Calibri" pitchFamily="34" charset="-120"/>
                        </a:rPr>
                        <a:t>relocate</a:t>
                      </a:r>
                      <a:r>
                        <a:rPr lang="en-US" sz="1400" dirty="0">
                          <a:solidFill>
                            <a:srgbClr val="1B2631"/>
                          </a:solidFill>
                          <a:latin typeface="Calibri" pitchFamily="34" charset="0"/>
                          <a:ea typeface="Calibri" pitchFamily="34" charset="-122"/>
                          <a:cs typeface="Calibri" pitchFamily="34" charset="-120"/>
                        </a:rPr>
                        <a:t>; pipelined GPU exchange</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1F5F9"/>
                    </a:solidFill>
                  </a:tcPr>
                </a:tc>
              </a:tr>
              <a:tr h="429768">
                <a:tc>
                  <a:txBody>
                    <a:bodyPr/>
                    <a:lstStyle/>
                    <a:p>
                      <a:pPr indent="0" marL="0">
                        <a:buNone/>
                      </a:pPr>
                      <a:r>
                        <a:rPr lang="en-US" sz="1400" b="1" dirty="0">
                          <a:solidFill>
                            <a:srgbClr val="1B2631"/>
                          </a:solidFill>
                          <a:latin typeface="Calibri" pitchFamily="34" charset="0"/>
                          <a:ea typeface="Calibri" pitchFamily="34" charset="-122"/>
                          <a:cs typeface="Calibri" pitchFamily="34" charset="-120"/>
                        </a:rPr>
                        <a:t>Host physics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latin typeface="Calibri" pitchFamily="34" charset="0"/>
                          <a:ea typeface="Calibri" pitchFamily="34" charset="-122"/>
                          <a:cs typeface="Calibri" pitchFamily="34" charset="-120"/>
                        </a:rPr>
                        <a:t>Tabulated airfoil polar lookups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6"/>
                          </a:solidFill>
                          <a:latin typeface="Calibri" pitchFamily="34" charset="0"/>
                          <a:ea typeface="Calibri" pitchFamily="34" charset="-122"/>
                          <a:cs typeface="Calibri" pitchFamily="34" charset="-120"/>
                        </a:rPr>
                        <a:t>Serialized 28 ms</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B84F00"/>
                          </a:solidFill>
                          <a:latin typeface="Calibri" pitchFamily="34" charset="0"/>
                          <a:ea typeface="Calibri" pitchFamily="34" charset="-122"/>
                          <a:cs typeface="Calibri" pitchFamily="34" charset="-120"/>
                        </a:rPr>
                        <a:t>overlap</a:t>
                      </a:r>
                      <a:r>
                        <a:rPr lang="en-US" sz="1400" dirty="0">
                          <a:solidFill>
                            <a:srgbClr val="1B2631"/>
                          </a:solidFill>
                          <a:latin typeface="Calibri" pitchFamily="34" charset="0"/>
                          <a:ea typeface="Calibri" pitchFamily="34" charset="-122"/>
                          <a:cs typeface="Calibri" pitchFamily="34" charset="-120"/>
                        </a:rPr>
                        <a:t> with the GPU backlog</a:t>
                      </a:r>
                      <a:endParaRPr lang="en-US" sz="1400" dirty="0">
                        <a:latin typeface="Calibri" charset="0"/>
                        <a:ea typeface="Calibri" charset="0"/>
                        <a:cs typeface="Calibri" charset="0"/>
                      </a:endParaRPr>
                    </a:p>
                  </a:txBody>
                  <a:tcPr marL="109728" marR="109728" marT="36576" marB="36576" anchor="ctr">
                    <a:lnL w="0" cap="flat" cmpd="sng" algn="ctr">
                      <a:noFill/>
                    </a:lnL>
                    <a:lnR w="0" cap="flat" cmpd="sng" algn="ctr">
                      <a:noFill/>
                    </a:lnR>
                    <a:lnT w="0" cap="flat" cmpd="sng" algn="ctr">
                      <a:noFill/>
                    </a:lnT>
                    <a:lnB w="9525" cap="flat" cmpd="sng" algn="ctr">
                      <a:solidFill>
                        <a:srgbClr val="D5DE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Example: Slicing the Pressure DC Mode</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Leave the serial recurrence on the CPU, but ship only the column it touches.</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8</a:t>
            </a:r>
            <a:endParaRPr lang="en-US" sz="1100" dirty="0"/>
          </a:p>
        </p:txBody>
      </p:sp>
      <p:sp>
        <p:nvSpPr>
          <p:cNvPr id="5" name="Text 3"/>
          <p:cNvSpPr txBox="1"/>
          <p:nvPr/>
        </p:nvSpPr>
        <p:spPr>
          <a:xfrm>
            <a:off x="548640" y="1691640"/>
            <a:ext cx="4206240" cy="31089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B2631"/>
                </a:solidFill>
                <a:latin typeface="Calibri" pitchFamily="34" charset="0"/>
                <a:ea typeface="Calibri" pitchFamily="34" charset="-122"/>
                <a:cs typeface="Calibri" pitchFamily="34" charset="-120"/>
              </a:rPr>
              <a:t>Horizontal FFTs split the Poisson equation into N²−1 independent tridiagonal systems, solved as one batched GPU call</a:t>
            </a:r>
            <a:endParaRPr lang="en-US" sz="1600" dirty="0"/>
          </a:p>
          <a:p>
            <a:pPr marL="228600" indent="-228600">
              <a:spcAft>
                <a:spcPts val="1200"/>
              </a:spcAft>
              <a:buSzPct val="100000"/>
              <a:buChar char="•"/>
            </a:pPr>
            <a:r>
              <a:rPr lang="en-US" sz="1600" dirty="0">
                <a:solidFill>
                  <a:srgbClr val="1B2631"/>
                </a:solidFill>
                <a:latin typeface="Calibri" pitchFamily="34" charset="0"/>
                <a:ea typeface="Calibri" pitchFamily="34" charset="-122"/>
                <a:cs typeface="Calibri" pitchFamily="34" charset="-120"/>
              </a:rPr>
              <a:t>The zero-wavenumber (DC) mode is singular and needs a serial first-order recurrence in z</a:t>
            </a:r>
            <a:endParaRPr lang="en-US" sz="1600" dirty="0"/>
          </a:p>
          <a:p>
            <a:pPr marL="228600" indent="-228600">
              <a:spcAft>
                <a:spcPts val="1200"/>
              </a:spcAft>
              <a:buSzPct val="100000"/>
              <a:buChar char="•"/>
            </a:pPr>
            <a:r>
              <a:rPr lang="en-US" sz="1600" dirty="0">
                <a:solidFill>
                  <a:srgbClr val="1B2631"/>
                </a:solidFill>
                <a:latin typeface="Calibri" pitchFamily="34" charset="0"/>
                <a:ea typeface="Calibri" pitchFamily="34" charset="-122"/>
                <a:cs typeface="Calibri" pitchFamily="34" charset="-120"/>
              </a:rPr>
              <a:t>O(N) serial work runs faster on one CPU core than on the GPU, so it stays on the host</a:t>
            </a:r>
            <a:endParaRPr lang="en-US" sz="1600" dirty="0"/>
          </a:p>
        </p:txBody>
      </p:sp>
      <p:sp>
        <p:nvSpPr>
          <p:cNvPr id="6" name="Shape 4"/>
          <p:cNvSpPr/>
          <p:nvPr/>
        </p:nvSpPr>
        <p:spPr>
          <a:xfrm>
            <a:off x="548640" y="4937760"/>
            <a:ext cx="4206240" cy="1280160"/>
          </a:xfrm>
          <a:prstGeom prst="roundRect">
            <a:avLst>
              <a:gd name="adj" fmla="val 8571"/>
            </a:avLst>
          </a:prstGeom>
          <a:solidFill>
            <a:srgbClr val="F1F5F9"/>
          </a:solidFill>
          <a:ln w="12700">
            <a:solidFill>
              <a:srgbClr val="F1F5F9"/>
            </a:solidFill>
            <a:prstDash val="solid"/>
          </a:ln>
        </p:spPr>
      </p:sp>
      <p:sp>
        <p:nvSpPr>
          <p:cNvPr id="7" name="Text 5"/>
          <p:cNvSpPr txBox="1"/>
          <p:nvPr/>
        </p:nvSpPr>
        <p:spPr>
          <a:xfrm>
            <a:off x="731520" y="5029200"/>
            <a:ext cx="3840480" cy="704088"/>
          </a:xfrm>
          <a:prstGeom prst="rect">
            <a:avLst/>
          </a:prstGeom>
          <a:noFill/>
          <a:ln/>
        </p:spPr>
        <p:txBody>
          <a:bodyPr wrap="square" lIns="0" tIns="0" rIns="0" bIns="0" rtlCol="0" anchor="ctr"/>
          <a:lstStyle/>
          <a:p>
            <a:pPr indent="0" marL="0">
              <a:buNone/>
            </a:pPr>
            <a:r>
              <a:rPr lang="en-US" sz="3200" b="1" dirty="0">
                <a:solidFill>
                  <a:srgbClr val="00875F"/>
                </a:solidFill>
                <a:latin typeface="Calibri" pitchFamily="34" charset="0"/>
                <a:ea typeface="Calibri" pitchFamily="34" charset="-122"/>
                <a:cs typeface="Calibri" pitchFamily="34" charset="-120"/>
              </a:rPr>
              <a:t>34 MB → 1 KB</a:t>
            </a:r>
            <a:endParaRPr lang="en-US" sz="3200" dirty="0"/>
          </a:p>
        </p:txBody>
      </p:sp>
      <p:sp>
        <p:nvSpPr>
          <p:cNvPr id="8" name="Text 6"/>
          <p:cNvSpPr txBox="1"/>
          <p:nvPr/>
        </p:nvSpPr>
        <p:spPr>
          <a:xfrm>
            <a:off x="731520" y="5733288"/>
            <a:ext cx="3840480" cy="39319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per transfer, three round trips per step</a:t>
            </a:r>
            <a:endParaRPr lang="en-US" sz="1300" dirty="0"/>
          </a:p>
        </p:txBody>
      </p:sp>
      <p:sp>
        <p:nvSpPr>
          <p:cNvPr id="9" name="Text 7"/>
          <p:cNvSpPr txBox="1"/>
          <p:nvPr/>
        </p:nvSpPr>
        <p:spPr>
          <a:xfrm>
            <a:off x="5120640" y="1645920"/>
            <a:ext cx="6492240" cy="365760"/>
          </a:xfrm>
          <a:prstGeom prst="rect">
            <a:avLst/>
          </a:prstGeom>
          <a:noFill/>
          <a:ln/>
        </p:spPr>
        <p:txBody>
          <a:bodyPr wrap="square" lIns="0" tIns="0" rIns="0" bIns="0" rtlCol="0" anchor="ctr"/>
          <a:lstStyle/>
          <a:p>
            <a:pPr indent="0" marL="0">
              <a:buNone/>
            </a:pPr>
            <a:r>
              <a:rPr lang="en-US" sz="1500" b="1" dirty="0">
                <a:solidFill>
                  <a:srgbClr val="B84F00"/>
                </a:solidFill>
                <a:latin typeface="Calibri" pitchFamily="34" charset="0"/>
                <a:ea typeface="Calibri" pitchFamily="34" charset="-122"/>
                <a:cs typeface="Calibri" pitchFamily="34" charset="-120"/>
              </a:rPr>
              <a:t>Naive: three full-field round trips per step</a:t>
            </a:r>
            <a:endParaRPr lang="en-US" sz="1500" dirty="0"/>
          </a:p>
        </p:txBody>
      </p:sp>
      <p:sp>
        <p:nvSpPr>
          <p:cNvPr id="10" name="Shape 8"/>
          <p:cNvSpPr/>
          <p:nvPr/>
        </p:nvSpPr>
        <p:spPr>
          <a:xfrm>
            <a:off x="5120640" y="2057400"/>
            <a:ext cx="6492240" cy="1417320"/>
          </a:xfrm>
          <a:prstGeom prst="roundRect">
            <a:avLst>
              <a:gd name="adj" fmla="val 6452"/>
            </a:avLst>
          </a:prstGeom>
          <a:solidFill>
            <a:srgbClr val="1E2A36"/>
          </a:solidFill>
          <a:ln w="12700">
            <a:solidFill>
              <a:srgbClr val="1E2A36"/>
            </a:solidFill>
            <a:prstDash val="solid"/>
          </a:ln>
        </p:spPr>
      </p:sp>
      <p:sp>
        <p:nvSpPr>
          <p:cNvPr id="11" name="Text 9"/>
          <p:cNvSpPr txBox="1"/>
          <p:nvPr/>
        </p:nvSpPr>
        <p:spPr>
          <a:xfrm>
            <a:off x="5349240" y="2194560"/>
            <a:ext cx="6126480" cy="1143000"/>
          </a:xfrm>
          <a:prstGeom prst="rect">
            <a:avLst/>
          </a:prstGeom>
          <a:noFill/>
          <a:ln/>
        </p:spPr>
        <p:txBody>
          <a:bodyPr wrap="square" lIns="0" tIns="0" rIns="0" bIns="0" rtlCol="0" anchor="ctr"/>
          <a:lstStyle/>
          <a:p>
            <a:pPr indent="0" marL="0">
              <a:buNone/>
            </a:pPr>
            <a:r>
              <a:rPr lang="en-US" sz="1400" dirty="0">
                <a:solidFill>
                  <a:srgbClr val="E6EDF3"/>
                </a:solidFill>
                <a:latin typeface="Courier New" pitchFamily="34" charset="0"/>
                <a:ea typeface="Courier New" pitchFamily="34" charset="-122"/>
                <a:cs typeface="Courier New" pitchFamily="34" charset="-120"/>
              </a:rPr>
              <a:t>!$acc update self(p)        </a:t>
            </a:r>
            <a:r>
              <a:rPr lang="en-US" sz="1400" dirty="0">
                <a:solidFill>
                  <a:srgbClr val="8DB6D9"/>
                </a:solidFill>
                <a:latin typeface="Courier New" pitchFamily="34" charset="0"/>
                <a:ea typeface="Courier New" pitchFamily="34" charset="-122"/>
                <a:cs typeface="Courier New" pitchFamily="34" charset="-120"/>
              </a:rPr>
              <a:t>! 34 MB</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call dc_recurrence(p)       </a:t>
            </a:r>
            <a:r>
              <a:rPr lang="en-US" sz="1400" dirty="0">
                <a:solidFill>
                  <a:srgbClr val="8DB6D9"/>
                </a:solidFill>
                <a:latin typeface="Courier New" pitchFamily="34" charset="0"/>
                <a:ea typeface="Courier New" pitchFamily="34" charset="-122"/>
                <a:cs typeface="Courier New" pitchFamily="34" charset="-120"/>
              </a:rPr>
              <a:t>! DC column only</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!$acc update device(p)      </a:t>
            </a:r>
            <a:r>
              <a:rPr lang="en-US" sz="1400" dirty="0">
                <a:solidFill>
                  <a:srgbClr val="8DB6D9"/>
                </a:solidFill>
                <a:latin typeface="Courier New" pitchFamily="34" charset="0"/>
                <a:ea typeface="Courier New" pitchFamily="34" charset="-122"/>
                <a:cs typeface="Courier New" pitchFamily="34" charset="-120"/>
              </a:rPr>
              <a:t>! 34 MB</a:t>
            </a:r>
            <a:endParaRPr lang="en-US" sz="1400" dirty="0"/>
          </a:p>
        </p:txBody>
      </p:sp>
      <p:sp>
        <p:nvSpPr>
          <p:cNvPr id="12" name="Shape 10"/>
          <p:cNvSpPr/>
          <p:nvPr/>
        </p:nvSpPr>
        <p:spPr>
          <a:xfrm>
            <a:off x="8229600" y="3611880"/>
            <a:ext cx="365760" cy="365760"/>
          </a:xfrm>
          <a:prstGeom prst="downArrow">
            <a:avLst/>
          </a:prstGeom>
          <a:solidFill>
            <a:srgbClr val="9AA8B5"/>
          </a:solidFill>
          <a:ln w="12700">
            <a:solidFill>
              <a:srgbClr val="9AA8B5"/>
            </a:solidFill>
            <a:prstDash val="solid"/>
          </a:ln>
        </p:spPr>
      </p:sp>
      <p:sp>
        <p:nvSpPr>
          <p:cNvPr id="13" name="Text 11"/>
          <p:cNvSpPr txBox="1"/>
          <p:nvPr/>
        </p:nvSpPr>
        <p:spPr>
          <a:xfrm>
            <a:off x="5120640" y="4023360"/>
            <a:ext cx="6492240" cy="365760"/>
          </a:xfrm>
          <a:prstGeom prst="rect">
            <a:avLst/>
          </a:prstGeom>
          <a:noFill/>
          <a:ln/>
        </p:spPr>
        <p:txBody>
          <a:bodyPr wrap="square" lIns="0" tIns="0" rIns="0" bIns="0" rtlCol="0" anchor="ctr"/>
          <a:lstStyle/>
          <a:p>
            <a:pPr indent="0" marL="0">
              <a:buNone/>
            </a:pPr>
            <a:r>
              <a:rPr lang="en-US" sz="1500" b="1" dirty="0">
                <a:solidFill>
                  <a:srgbClr val="00875F"/>
                </a:solidFill>
                <a:latin typeface="Calibri" pitchFamily="34" charset="0"/>
                <a:ea typeface="Calibri" pitchFamily="34" charset="-122"/>
                <a:cs typeface="Calibri" pitchFamily="34" charset="-120"/>
              </a:rPr>
              <a:t>Sliced: O(1) traffic</a:t>
            </a:r>
            <a:endParaRPr lang="en-US" sz="1500" dirty="0"/>
          </a:p>
        </p:txBody>
      </p:sp>
      <p:sp>
        <p:nvSpPr>
          <p:cNvPr id="14" name="Shape 12"/>
          <p:cNvSpPr/>
          <p:nvPr/>
        </p:nvSpPr>
        <p:spPr>
          <a:xfrm>
            <a:off x="5120640" y="4434840"/>
            <a:ext cx="6492240" cy="1417320"/>
          </a:xfrm>
          <a:prstGeom prst="roundRect">
            <a:avLst>
              <a:gd name="adj" fmla="val 6452"/>
            </a:avLst>
          </a:prstGeom>
          <a:solidFill>
            <a:srgbClr val="1E2A36"/>
          </a:solidFill>
          <a:ln w="12700">
            <a:solidFill>
              <a:srgbClr val="1E2A36"/>
            </a:solidFill>
            <a:prstDash val="solid"/>
          </a:ln>
        </p:spPr>
      </p:sp>
      <p:sp>
        <p:nvSpPr>
          <p:cNvPr id="15" name="Text 13"/>
          <p:cNvSpPr txBox="1"/>
          <p:nvPr/>
        </p:nvSpPr>
        <p:spPr>
          <a:xfrm>
            <a:off x="5349240" y="4572000"/>
            <a:ext cx="6126480" cy="1143000"/>
          </a:xfrm>
          <a:prstGeom prst="rect">
            <a:avLst/>
          </a:prstGeom>
          <a:noFill/>
          <a:ln/>
        </p:spPr>
        <p:txBody>
          <a:bodyPr wrap="square" lIns="0" tIns="0" rIns="0" bIns="0" rtlCol="0" anchor="ctr"/>
          <a:lstStyle/>
          <a:p>
            <a:pPr indent="0" marL="0">
              <a:buNone/>
            </a:pPr>
            <a:r>
              <a:rPr lang="en-US" sz="1400" dirty="0">
                <a:solidFill>
                  <a:srgbClr val="E6EDF3"/>
                </a:solidFill>
                <a:latin typeface="Courier New" pitchFamily="34" charset="0"/>
                <a:ea typeface="Courier New" pitchFamily="34" charset="-122"/>
                <a:cs typeface="Courier New" pitchFamily="34" charset="-120"/>
              </a:rPr>
              <a:t>!$acc update self(rH_z(1:2,1,:)) </a:t>
            </a:r>
            <a:r>
              <a:rPr lang="en-US" sz="1400" dirty="0">
                <a:solidFill>
                  <a:srgbClr val="8DB6D9"/>
                </a:solidFill>
                <a:latin typeface="Courier New" pitchFamily="34" charset="0"/>
                <a:ea typeface="Courier New" pitchFamily="34" charset="-122"/>
                <a:cs typeface="Courier New" pitchFamily="34" charset="-120"/>
              </a:rPr>
              <a:t>! 1 KB in</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call dc_recurrence_column(p_col)</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!$acc update device(p(1:2,1,:))  </a:t>
            </a:r>
            <a:r>
              <a:rPr lang="en-US" sz="1400" dirty="0">
                <a:solidFill>
                  <a:srgbClr val="8DB6D9"/>
                </a:solidFill>
                <a:latin typeface="Courier New" pitchFamily="34" charset="0"/>
                <a:ea typeface="Courier New" pitchFamily="34" charset="-122"/>
                <a:cs typeface="Courier New" pitchFamily="34" charset="-120"/>
              </a:rPr>
              <a:t>! 1 KB out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Opt. 1: Chunk Pipelining the Thomas Solve</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Independent systems let each process start the next chunk instead of waiting.</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9</a:t>
            </a:r>
            <a:endParaRPr lang="en-US" sz="1100" dirty="0"/>
          </a:p>
        </p:txBody>
      </p:sp>
      <p:pic>
        <p:nvPicPr>
          <p:cNvPr id="5" name="Image 0" descr="/tmp/claude-1000/-home-wcy-paper-papers-2026-gpulesgo/7d05cab0-2291-40fa-8322-177e3a69b1f0/scratchpad/figs/fig4_lesgo_pipeline.png">    </p:cNvPr>
          <p:cNvPicPr>
            <a:picLocks noChangeAspect="1"/>
          </p:cNvPicPr>
          <p:nvPr/>
        </p:nvPicPr>
        <p:blipFill>
          <a:blip r:embed="rId1"/>
          <a:stretch>
            <a:fillRect/>
          </a:stretch>
        </p:blipFill>
        <p:spPr>
          <a:xfrm>
            <a:off x="548640" y="1572768"/>
            <a:ext cx="6081055" cy="4754880"/>
          </a:xfrm>
          <a:prstGeom prst="rect">
            <a:avLst/>
          </a:prstGeom>
        </p:spPr>
      </p:pic>
      <p:sp>
        <p:nvSpPr>
          <p:cNvPr id="6" name="Text 3"/>
          <p:cNvSpPr txBox="1"/>
          <p:nvPr/>
        </p:nvSpPr>
        <p:spPr>
          <a:xfrm>
            <a:off x="6949440" y="1691640"/>
            <a:ext cx="4663440" cy="365760"/>
          </a:xfrm>
          <a:prstGeom prst="rect">
            <a:avLst/>
          </a:prstGeom>
          <a:noFill/>
          <a:ln/>
        </p:spPr>
        <p:txBody>
          <a:bodyPr wrap="square" lIns="0" tIns="0" rIns="0" bIns="0" rtlCol="0" anchor="t"/>
          <a:lstStyle/>
          <a:p>
            <a:pPr indent="0" marL="0">
              <a:buNone/>
            </a:pPr>
            <a:r>
              <a:rPr lang="en-US" sz="1800" b="1" dirty="0">
                <a:solidFill>
                  <a:srgbClr val="B84F00"/>
                </a:solidFill>
                <a:latin typeface="Calibri" pitchFamily="34" charset="0"/>
                <a:ea typeface="Calibri" pitchFamily="34" charset="-122"/>
                <a:cs typeface="Calibri" pitchFamily="34" charset="-120"/>
              </a:rPr>
              <a:t>Problem</a:t>
            </a:r>
            <a:endParaRPr lang="en-US" sz="1800" dirty="0"/>
          </a:p>
        </p:txBody>
      </p:sp>
      <p:sp>
        <p:nvSpPr>
          <p:cNvPr id="7" name="Text 4"/>
          <p:cNvSpPr txBox="1"/>
          <p:nvPr/>
        </p:nvSpPr>
        <p:spPr>
          <a:xfrm>
            <a:off x="6949440" y="2057400"/>
            <a:ext cx="4663440" cy="9601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~590K systems of 512 unknowns span all 16 processes. Thomas sweeps are serial in z, so process k idles until k−1 finishes.</a:t>
            </a:r>
            <a:endParaRPr lang="en-US" sz="1500" dirty="0"/>
          </a:p>
        </p:txBody>
      </p:sp>
      <p:sp>
        <p:nvSpPr>
          <p:cNvPr id="8" name="Text 5"/>
          <p:cNvSpPr txBox="1"/>
          <p:nvPr/>
        </p:nvSpPr>
        <p:spPr>
          <a:xfrm>
            <a:off x="6949440" y="3108960"/>
            <a:ext cx="4663440" cy="365760"/>
          </a:xfrm>
          <a:prstGeom prst="rect">
            <a:avLst/>
          </a:prstGeom>
          <a:noFill/>
          <a:ln/>
        </p:spPr>
        <p:txBody>
          <a:bodyPr wrap="square" lIns="0" tIns="0" rIns="0" bIns="0" rtlCol="0" anchor="t"/>
          <a:lstStyle/>
          <a:p>
            <a:pPr indent="0" marL="0">
              <a:buNone/>
            </a:pPr>
            <a:r>
              <a:rPr lang="en-US" sz="1800" b="1" dirty="0">
                <a:solidFill>
                  <a:srgbClr val="0072B2"/>
                </a:solidFill>
                <a:latin typeface="Calibri" pitchFamily="34" charset="0"/>
                <a:ea typeface="Calibri" pitchFamily="34" charset="-122"/>
                <a:cs typeface="Calibri" pitchFamily="34" charset="-120"/>
              </a:rPr>
              <a:t>Idea</a:t>
            </a:r>
            <a:endParaRPr lang="en-US" sz="1800" dirty="0"/>
          </a:p>
        </p:txBody>
      </p:sp>
      <p:sp>
        <p:nvSpPr>
          <p:cNvPr id="9" name="Text 6"/>
          <p:cNvSpPr txBox="1"/>
          <p:nvPr/>
        </p:nvSpPr>
        <p:spPr>
          <a:xfrm>
            <a:off x="6949440" y="3474720"/>
            <a:ext cx="4663440" cy="118872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Split the systems into chunks. Pass chunk m's boundary coefficients downstream and move straight to m+1. The last process starts back substitution right away.</a:t>
            </a:r>
            <a:endParaRPr lang="en-US" sz="1500" dirty="0"/>
          </a:p>
        </p:txBody>
      </p:sp>
      <p:sp>
        <p:nvSpPr>
          <p:cNvPr id="10" name="Shape 7"/>
          <p:cNvSpPr/>
          <p:nvPr/>
        </p:nvSpPr>
        <p:spPr>
          <a:xfrm>
            <a:off x="6949440" y="4892040"/>
            <a:ext cx="2240280" cy="1280160"/>
          </a:xfrm>
          <a:prstGeom prst="roundRect">
            <a:avLst>
              <a:gd name="adj" fmla="val 8571"/>
            </a:avLst>
          </a:prstGeom>
          <a:solidFill>
            <a:srgbClr val="F1F5F9"/>
          </a:solidFill>
          <a:ln w="12700">
            <a:solidFill>
              <a:srgbClr val="F1F5F9"/>
            </a:solidFill>
            <a:prstDash val="solid"/>
          </a:ln>
        </p:spPr>
      </p:sp>
      <p:sp>
        <p:nvSpPr>
          <p:cNvPr id="11" name="Text 8"/>
          <p:cNvSpPr txBox="1"/>
          <p:nvPr/>
        </p:nvSpPr>
        <p:spPr>
          <a:xfrm>
            <a:off x="7132320" y="4983480"/>
            <a:ext cx="1874520" cy="704088"/>
          </a:xfrm>
          <a:prstGeom prst="rect">
            <a:avLst/>
          </a:prstGeom>
          <a:noFill/>
          <a:ln/>
        </p:spPr>
        <p:txBody>
          <a:bodyPr wrap="square" lIns="0" tIns="0" rIns="0" bIns="0" rtlCol="0" anchor="ctr"/>
          <a:lstStyle/>
          <a:p>
            <a:pPr indent="0" marL="0">
              <a:buNone/>
            </a:pPr>
            <a:r>
              <a:rPr lang="en-US" sz="3400" b="1" dirty="0">
                <a:solidFill>
                  <a:srgbClr val="00875F"/>
                </a:solidFill>
                <a:latin typeface="Calibri" pitchFamily="34" charset="0"/>
                <a:ea typeface="Calibri" pitchFamily="34" charset="-122"/>
                <a:cs typeface="Calibri" pitchFamily="34" charset="-120"/>
              </a:rPr>
              <a:t>1.9×</a:t>
            </a:r>
            <a:endParaRPr lang="en-US" sz="3400" dirty="0"/>
          </a:p>
        </p:txBody>
      </p:sp>
      <p:sp>
        <p:nvSpPr>
          <p:cNvPr id="12" name="Text 9"/>
          <p:cNvSpPr txBox="1"/>
          <p:nvPr/>
        </p:nvSpPr>
        <p:spPr>
          <a:xfrm>
            <a:off x="7132320" y="5687568"/>
            <a:ext cx="1874520" cy="39319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faster time step</a:t>
            </a:r>
            <a:endParaRPr lang="en-US" sz="1300" dirty="0"/>
          </a:p>
        </p:txBody>
      </p:sp>
      <p:sp>
        <p:nvSpPr>
          <p:cNvPr id="13" name="Shape 10"/>
          <p:cNvSpPr/>
          <p:nvPr/>
        </p:nvSpPr>
        <p:spPr>
          <a:xfrm>
            <a:off x="9372600" y="4892040"/>
            <a:ext cx="2240280" cy="1280160"/>
          </a:xfrm>
          <a:prstGeom prst="roundRect">
            <a:avLst>
              <a:gd name="adj" fmla="val 8571"/>
            </a:avLst>
          </a:prstGeom>
          <a:solidFill>
            <a:srgbClr val="F1F5F9"/>
          </a:solidFill>
          <a:ln w="12700">
            <a:solidFill>
              <a:srgbClr val="F1F5F9"/>
            </a:solidFill>
            <a:prstDash val="solid"/>
          </a:ln>
        </p:spPr>
      </p:sp>
      <p:sp>
        <p:nvSpPr>
          <p:cNvPr id="14" name="Text 11"/>
          <p:cNvSpPr txBox="1"/>
          <p:nvPr/>
        </p:nvSpPr>
        <p:spPr>
          <a:xfrm>
            <a:off x="9555480" y="4983480"/>
            <a:ext cx="1874520" cy="704088"/>
          </a:xfrm>
          <a:prstGeom prst="rect">
            <a:avLst/>
          </a:prstGeom>
          <a:noFill/>
          <a:ln/>
        </p:spPr>
        <p:txBody>
          <a:bodyPr wrap="square" lIns="0" tIns="0" rIns="0" bIns="0" rtlCol="0" anchor="ctr"/>
          <a:lstStyle/>
          <a:p>
            <a:pPr indent="0" marL="0">
              <a:buNone/>
            </a:pPr>
            <a:r>
              <a:rPr lang="en-US" sz="3400" b="1" dirty="0">
                <a:solidFill>
                  <a:srgbClr val="00875F"/>
                </a:solidFill>
                <a:latin typeface="Calibri" pitchFamily="34" charset="0"/>
                <a:ea typeface="Calibri" pitchFamily="34" charset="-122"/>
                <a:cs typeface="Calibri" pitchFamily="34" charset="-120"/>
              </a:rPr>
              <a:t>Exact</a:t>
            </a:r>
            <a:endParaRPr lang="en-US" sz="3400" dirty="0"/>
          </a:p>
        </p:txBody>
      </p:sp>
      <p:sp>
        <p:nvSpPr>
          <p:cNvPr id="15" name="Text 12"/>
          <p:cNvSpPr txBox="1"/>
          <p:nvPr/>
        </p:nvSpPr>
        <p:spPr>
          <a:xfrm>
            <a:off x="9555480" y="5687568"/>
            <a:ext cx="1874520" cy="39319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inner Thomas loops untouched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Opt. 2: Batching Many Small Work Items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Per-turbine and per-plane work units are too small to fill a GPU, so we fuse them.</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10</a:t>
            </a:r>
            <a:endParaRPr lang="en-US" sz="1100" dirty="0"/>
          </a:p>
        </p:txBody>
      </p:sp>
      <p:sp>
        <p:nvSpPr>
          <p:cNvPr id="5" name="Shape 3"/>
          <p:cNvSpPr/>
          <p:nvPr/>
        </p:nvSpPr>
        <p:spPr>
          <a:xfrm>
            <a:off x="548640" y="1645920"/>
            <a:ext cx="5394960" cy="3429000"/>
          </a:xfrm>
          <a:prstGeom prst="roundRect">
            <a:avLst>
              <a:gd name="adj" fmla="val 3200"/>
            </a:avLst>
          </a:prstGeom>
          <a:solidFill>
            <a:srgbClr val="F1F5F9"/>
          </a:solidFill>
          <a:ln w="12700">
            <a:solidFill>
              <a:srgbClr val="F1F5F9"/>
            </a:solidFill>
            <a:prstDash val="solid"/>
          </a:ln>
        </p:spPr>
      </p:sp>
      <p:sp>
        <p:nvSpPr>
          <p:cNvPr id="6" name="Shape 4"/>
          <p:cNvSpPr/>
          <p:nvPr/>
        </p:nvSpPr>
        <p:spPr>
          <a:xfrm>
            <a:off x="777240" y="1810512"/>
            <a:ext cx="548640" cy="548640"/>
          </a:xfrm>
          <a:prstGeom prst="ellipse">
            <a:avLst/>
          </a:prstGeom>
          <a:solidFill>
            <a:srgbClr val="0072B2"/>
          </a:solidFill>
          <a:ln w="12700">
            <a:solidFill>
              <a:srgbClr val="0072B2"/>
            </a:solidFill>
            <a:prstDash val="solid"/>
          </a:ln>
        </p:spPr>
      </p:sp>
      <p:pic>
        <p:nvPicPr>
          <p:cNvPr id="7" name="Image 0" descr="preencoded.png">    </p:cNvPr>
          <p:cNvPicPr>
            <a:picLocks noChangeAspect="1"/>
          </p:cNvPicPr>
          <p:nvPr/>
        </p:nvPicPr>
        <p:blipFill>
          <a:blip r:embed="rId1"/>
          <a:stretch>
            <a:fillRect/>
          </a:stretch>
        </p:blipFill>
        <p:spPr>
          <a:xfrm>
            <a:off x="897941" y="1931213"/>
            <a:ext cx="307238" cy="307238"/>
          </a:xfrm>
          <a:prstGeom prst="rect">
            <a:avLst/>
          </a:prstGeom>
        </p:spPr>
      </p:pic>
      <p:sp>
        <p:nvSpPr>
          <p:cNvPr id="8" name="Text 5"/>
          <p:cNvSpPr txBox="1"/>
          <p:nvPr/>
        </p:nvSpPr>
        <p:spPr>
          <a:xfrm>
            <a:off x="1508760" y="1810512"/>
            <a:ext cx="4206240" cy="548640"/>
          </a:xfrm>
          <a:prstGeom prst="rect">
            <a:avLst/>
          </a:prstGeom>
          <a:noFill/>
          <a:ln/>
        </p:spPr>
        <p:txBody>
          <a:bodyPr wrap="square" lIns="0" tIns="0" rIns="0" bIns="0" rtlCol="0" anchor="ctr"/>
          <a:lstStyle/>
          <a:p>
            <a:pPr indent="0" marL="0">
              <a:buNone/>
            </a:pPr>
            <a:r>
              <a:rPr lang="en-US" sz="2000" b="1" dirty="0">
                <a:solidFill>
                  <a:srgbClr val="1B2631"/>
                </a:solidFill>
                <a:latin typeface="Calibri" pitchFamily="34" charset="0"/>
                <a:ea typeface="Calibri" pitchFamily="34" charset="-122"/>
                <a:cs typeface="Calibri" pitchFamily="34" charset="-120"/>
              </a:rPr>
              <a:t>Actuator-line turbines</a:t>
            </a:r>
            <a:endParaRPr lang="en-US" sz="2000" dirty="0"/>
          </a:p>
        </p:txBody>
      </p:sp>
      <p:sp>
        <p:nvSpPr>
          <p:cNvPr id="9" name="Text 6"/>
          <p:cNvSpPr txBox="1"/>
          <p:nvPr/>
        </p:nvSpPr>
        <p:spPr>
          <a:xfrm>
            <a:off x="822960" y="2560320"/>
            <a:ext cx="1097280" cy="274320"/>
          </a:xfrm>
          <a:prstGeom prst="rect">
            <a:avLst/>
          </a:prstGeom>
          <a:noFill/>
          <a:ln/>
        </p:spPr>
        <p:txBody>
          <a:bodyPr wrap="square" lIns="0" tIns="0" rIns="0" bIns="0" rtlCol="0" anchor="t"/>
          <a:lstStyle/>
          <a:p>
            <a:pPr indent="0" marL="0">
              <a:buNone/>
            </a:pPr>
            <a:r>
              <a:rPr lang="en-US" sz="1200" b="1" spc="100" kern="0" dirty="0">
                <a:solidFill>
                  <a:srgbClr val="B84F00"/>
                </a:solidFill>
                <a:latin typeface="Calibri" pitchFamily="34" charset="0"/>
                <a:ea typeface="Calibri" pitchFamily="34" charset="-122"/>
                <a:cs typeface="Calibri" pitchFamily="34" charset="-120"/>
              </a:rPr>
              <a:t>BEFORE</a:t>
            </a:r>
            <a:endParaRPr lang="en-US" sz="1200" dirty="0"/>
          </a:p>
        </p:txBody>
      </p:sp>
      <p:sp>
        <p:nvSpPr>
          <p:cNvPr id="10" name="Text 7"/>
          <p:cNvSpPr txBox="1"/>
          <p:nvPr/>
        </p:nvSpPr>
        <p:spPr>
          <a:xfrm>
            <a:off x="822960" y="2834640"/>
            <a:ext cx="4846320" cy="8686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Per-turbine uploads, launches and syncs; over 1,000 MPI_Allreduce calls per process per step.</a:t>
            </a:r>
            <a:endParaRPr lang="en-US" sz="1600" dirty="0"/>
          </a:p>
        </p:txBody>
      </p:sp>
      <p:sp>
        <p:nvSpPr>
          <p:cNvPr id="11" name="Text 8"/>
          <p:cNvSpPr txBox="1"/>
          <p:nvPr/>
        </p:nvSpPr>
        <p:spPr>
          <a:xfrm>
            <a:off x="822960" y="3749040"/>
            <a:ext cx="1097280" cy="274320"/>
          </a:xfrm>
          <a:prstGeom prst="rect">
            <a:avLst/>
          </a:prstGeom>
          <a:noFill/>
          <a:ln/>
        </p:spPr>
        <p:txBody>
          <a:bodyPr wrap="square" lIns="0" tIns="0" rIns="0" bIns="0" rtlCol="0" anchor="t"/>
          <a:lstStyle/>
          <a:p>
            <a:pPr indent="0" marL="0">
              <a:buNone/>
            </a:pPr>
            <a:r>
              <a:rPr lang="en-US" sz="1200" b="1" spc="100" kern="0" dirty="0">
                <a:solidFill>
                  <a:srgbClr val="00875F"/>
                </a:solidFill>
                <a:latin typeface="Calibri" pitchFamily="34" charset="0"/>
                <a:ea typeface="Calibri" pitchFamily="34" charset="-122"/>
                <a:cs typeface="Calibri" pitchFamily="34" charset="-120"/>
              </a:rPr>
              <a:t>AFTER</a:t>
            </a:r>
            <a:endParaRPr lang="en-US" sz="1200" dirty="0"/>
          </a:p>
        </p:txBody>
      </p:sp>
      <p:sp>
        <p:nvSpPr>
          <p:cNvPr id="12" name="Text 9"/>
          <p:cNvSpPr txBox="1"/>
          <p:nvPr/>
        </p:nvSpPr>
        <p:spPr>
          <a:xfrm>
            <a:off x="822960" y="4023360"/>
            <a:ext cx="4846320" cy="960120"/>
          </a:xfrm>
          <a:prstGeom prst="rect">
            <a:avLst/>
          </a:prstGeom>
          <a:noFill/>
          <a:ln/>
        </p:spPr>
        <p:txBody>
          <a:bodyPr wrap="square" lIns="0" tIns="0" rIns="0" bIns="0" rtlCol="0" anchor="t"/>
          <a:lstStyle/>
          <a:p>
            <a:pPr indent="0" marL="0">
              <a:buNone/>
            </a:pPr>
            <a:r>
              <a:rPr lang="en-US" sz="1600" dirty="0">
                <a:solidFill>
                  <a:srgbClr val="1B2631"/>
                </a:solidFill>
                <a:latin typeface="Calibri" pitchFamily="34" charset="0"/>
                <a:ea typeface="Calibri" pitchFamily="34" charset="-122"/>
                <a:cs typeface="Calibri" pitchFamily="34" charset="-120"/>
              </a:rPr>
              <a:t>Blade tables stay on the device. One sampling kernel and one projection kernel cover all points; one packed MPI_Allreduce.</a:t>
            </a:r>
            <a:endParaRPr lang="en-US" sz="1600" dirty="0"/>
          </a:p>
        </p:txBody>
      </p:sp>
      <p:sp>
        <p:nvSpPr>
          <p:cNvPr id="13" name="Shape 10"/>
          <p:cNvSpPr/>
          <p:nvPr/>
        </p:nvSpPr>
        <p:spPr>
          <a:xfrm>
            <a:off x="6217920" y="1645920"/>
            <a:ext cx="5394960" cy="3429000"/>
          </a:xfrm>
          <a:prstGeom prst="roundRect">
            <a:avLst>
              <a:gd name="adj" fmla="val 3200"/>
            </a:avLst>
          </a:prstGeom>
          <a:solidFill>
            <a:srgbClr val="F1F5F9"/>
          </a:solidFill>
          <a:ln w="12700">
            <a:solidFill>
              <a:srgbClr val="F1F5F9"/>
            </a:solidFill>
            <a:prstDash val="solid"/>
          </a:ln>
        </p:spPr>
      </p:sp>
      <p:sp>
        <p:nvSpPr>
          <p:cNvPr id="14" name="Shape 11"/>
          <p:cNvSpPr/>
          <p:nvPr/>
        </p:nvSpPr>
        <p:spPr>
          <a:xfrm>
            <a:off x="6446520" y="1810512"/>
            <a:ext cx="548640" cy="548640"/>
          </a:xfrm>
          <a:prstGeom prst="ellipse">
            <a:avLst/>
          </a:prstGeom>
          <a:solidFill>
            <a:srgbClr val="0072B2"/>
          </a:solidFill>
          <a:ln w="12700">
            <a:solidFill>
              <a:srgbClr val="0072B2"/>
            </a:solidFill>
            <a:prstDash val="solid"/>
          </a:ln>
        </p:spPr>
      </p:sp>
      <p:pic>
        <p:nvPicPr>
          <p:cNvPr id="15" name="Image 1" descr="preencoded.png">    </p:cNvPr>
          <p:cNvPicPr>
            <a:picLocks noChangeAspect="1"/>
          </p:cNvPicPr>
          <p:nvPr/>
        </p:nvPicPr>
        <p:blipFill>
          <a:blip r:embed="rId2"/>
          <a:stretch>
            <a:fillRect/>
          </a:stretch>
        </p:blipFill>
        <p:spPr>
          <a:xfrm>
            <a:off x="6567221" y="1931213"/>
            <a:ext cx="307238" cy="307238"/>
          </a:xfrm>
          <a:prstGeom prst="rect">
            <a:avLst/>
          </a:prstGeom>
        </p:spPr>
      </p:pic>
      <p:sp>
        <p:nvSpPr>
          <p:cNvPr id="16" name="Text 12"/>
          <p:cNvSpPr txBox="1"/>
          <p:nvPr/>
        </p:nvSpPr>
        <p:spPr>
          <a:xfrm>
            <a:off x="7178040" y="1810512"/>
            <a:ext cx="4206240" cy="548640"/>
          </a:xfrm>
          <a:prstGeom prst="rect">
            <a:avLst/>
          </a:prstGeom>
          <a:noFill/>
          <a:ln/>
        </p:spPr>
        <p:txBody>
          <a:bodyPr wrap="square" lIns="0" tIns="0" rIns="0" bIns="0" rtlCol="0" anchor="ctr"/>
          <a:lstStyle/>
          <a:p>
            <a:pPr indent="0" marL="0">
              <a:buNone/>
            </a:pPr>
            <a:r>
              <a:rPr lang="en-US" sz="2000" b="1" dirty="0">
                <a:solidFill>
                  <a:srgbClr val="1B2631"/>
                </a:solidFill>
                <a:latin typeface="Calibri" pitchFamily="34" charset="0"/>
                <a:ea typeface="Calibri" pitchFamily="34" charset="-122"/>
                <a:cs typeface="Calibri" pitchFamily="34" charset="-120"/>
              </a:rPr>
              <a:t>LASD subgrid model</a:t>
            </a:r>
            <a:endParaRPr lang="en-US" sz="2000" dirty="0"/>
          </a:p>
        </p:txBody>
      </p:sp>
      <p:sp>
        <p:nvSpPr>
          <p:cNvPr id="17" name="Text 13"/>
          <p:cNvSpPr txBox="1"/>
          <p:nvPr/>
        </p:nvSpPr>
        <p:spPr>
          <a:xfrm>
            <a:off x="6492240" y="2560320"/>
            <a:ext cx="1097280" cy="274320"/>
          </a:xfrm>
          <a:prstGeom prst="rect">
            <a:avLst/>
          </a:prstGeom>
          <a:noFill/>
          <a:ln/>
        </p:spPr>
        <p:txBody>
          <a:bodyPr wrap="square" lIns="0" tIns="0" rIns="0" bIns="0" rtlCol="0" anchor="t"/>
          <a:lstStyle/>
          <a:p>
            <a:pPr indent="0" marL="0">
              <a:buNone/>
            </a:pPr>
            <a:r>
              <a:rPr lang="en-US" sz="1200" b="1" spc="100" kern="0" dirty="0">
                <a:solidFill>
                  <a:srgbClr val="B84F00"/>
                </a:solidFill>
                <a:latin typeface="Calibri" pitchFamily="34" charset="0"/>
                <a:ea typeface="Calibri" pitchFamily="34" charset="-122"/>
                <a:cs typeface="Calibri" pitchFamily="34" charset="-120"/>
              </a:rPr>
              <a:t>BEFORE</a:t>
            </a:r>
            <a:endParaRPr lang="en-US" sz="1200" dirty="0"/>
          </a:p>
        </p:txBody>
      </p:sp>
      <p:sp>
        <p:nvSpPr>
          <p:cNvPr id="18" name="Text 14"/>
          <p:cNvSpPr txBox="1"/>
          <p:nvPr/>
        </p:nvSpPr>
        <p:spPr>
          <a:xfrm>
            <a:off x="6492240" y="2834640"/>
            <a:ext cx="4846320" cy="8686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Thousands of single-plane 2D FFTs per update: 9 tensor fields × 2 filter scales × every z level.</a:t>
            </a:r>
            <a:endParaRPr lang="en-US" sz="1600" dirty="0"/>
          </a:p>
        </p:txBody>
      </p:sp>
      <p:sp>
        <p:nvSpPr>
          <p:cNvPr id="19" name="Text 15"/>
          <p:cNvSpPr txBox="1"/>
          <p:nvPr/>
        </p:nvSpPr>
        <p:spPr>
          <a:xfrm>
            <a:off x="6492240" y="3749040"/>
            <a:ext cx="1097280" cy="274320"/>
          </a:xfrm>
          <a:prstGeom prst="rect">
            <a:avLst/>
          </a:prstGeom>
          <a:noFill/>
          <a:ln/>
        </p:spPr>
        <p:txBody>
          <a:bodyPr wrap="square" lIns="0" tIns="0" rIns="0" bIns="0" rtlCol="0" anchor="t"/>
          <a:lstStyle/>
          <a:p>
            <a:pPr indent="0" marL="0">
              <a:buNone/>
            </a:pPr>
            <a:r>
              <a:rPr lang="en-US" sz="1200" b="1" spc="100" kern="0" dirty="0">
                <a:solidFill>
                  <a:srgbClr val="00875F"/>
                </a:solidFill>
                <a:latin typeface="Calibri" pitchFamily="34" charset="0"/>
                <a:ea typeface="Calibri" pitchFamily="34" charset="-122"/>
                <a:cs typeface="Calibri" pitchFamily="34" charset="-120"/>
              </a:rPr>
              <a:t>AFTER</a:t>
            </a:r>
            <a:endParaRPr lang="en-US" sz="1200" dirty="0"/>
          </a:p>
        </p:txBody>
      </p:sp>
      <p:sp>
        <p:nvSpPr>
          <p:cNvPr id="20" name="Text 16"/>
          <p:cNvSpPr txBox="1"/>
          <p:nvPr/>
        </p:nvSpPr>
        <p:spPr>
          <a:xfrm>
            <a:off x="6492240" y="4023360"/>
            <a:ext cx="4846320" cy="960120"/>
          </a:xfrm>
          <a:prstGeom prst="rect">
            <a:avLst/>
          </a:prstGeom>
          <a:noFill/>
          <a:ln/>
        </p:spPr>
        <p:txBody>
          <a:bodyPr wrap="square" lIns="0" tIns="0" rIns="0" bIns="0" rtlCol="0" anchor="t"/>
          <a:lstStyle/>
          <a:p>
            <a:pPr indent="0" marL="0">
              <a:buNone/>
            </a:pPr>
            <a:r>
              <a:rPr lang="en-US" sz="1600" dirty="0">
                <a:solidFill>
                  <a:srgbClr val="1B2631"/>
                </a:solidFill>
                <a:latin typeface="Calibri" pitchFamily="34" charset="0"/>
                <a:ea typeface="Calibri" pitchFamily="34" charset="-122"/>
                <a:cs typeface="Calibri" pitchFamily="34" charset="-120"/>
              </a:rPr>
              <a:t>2D scratch planes promoted to 3D. One batched cuFFT call filters all z levels of a field: a few dozen launches.</a:t>
            </a:r>
            <a:endParaRPr lang="en-US" sz="1600" dirty="0"/>
          </a:p>
        </p:txBody>
      </p:sp>
      <p:sp>
        <p:nvSpPr>
          <p:cNvPr id="21" name="Shape 17"/>
          <p:cNvSpPr/>
          <p:nvPr/>
        </p:nvSpPr>
        <p:spPr>
          <a:xfrm>
            <a:off x="548640" y="5303520"/>
            <a:ext cx="3566160" cy="914400"/>
          </a:xfrm>
          <a:prstGeom prst="roundRect">
            <a:avLst>
              <a:gd name="adj" fmla="val 12000"/>
            </a:avLst>
          </a:prstGeom>
          <a:solidFill>
            <a:srgbClr val="E8F1F8"/>
          </a:solidFill>
          <a:ln w="12700">
            <a:solidFill>
              <a:srgbClr val="E8F1F8"/>
            </a:solidFill>
            <a:prstDash val="solid"/>
          </a:ln>
        </p:spPr>
      </p:sp>
      <p:sp>
        <p:nvSpPr>
          <p:cNvPr id="22" name="Text 18"/>
          <p:cNvSpPr txBox="1"/>
          <p:nvPr/>
        </p:nvSpPr>
        <p:spPr>
          <a:xfrm>
            <a:off x="731520" y="5394960"/>
            <a:ext cx="3200400" cy="502920"/>
          </a:xfrm>
          <a:prstGeom prst="rect">
            <a:avLst/>
          </a:prstGeom>
          <a:noFill/>
          <a:ln/>
        </p:spPr>
        <p:txBody>
          <a:bodyPr wrap="square" lIns="0" tIns="0" rIns="0" bIns="0" rtlCol="0" anchor="ctr"/>
          <a:lstStyle/>
          <a:p>
            <a:pPr indent="0" marL="0">
              <a:buNone/>
            </a:pPr>
            <a:r>
              <a:rPr lang="en-US" sz="2600" b="1" dirty="0">
                <a:solidFill>
                  <a:srgbClr val="00875F"/>
                </a:solidFill>
                <a:latin typeface="Calibri" pitchFamily="34" charset="0"/>
                <a:ea typeface="Calibri" pitchFamily="34" charset="-122"/>
                <a:cs typeface="Calibri" pitchFamily="34" charset="-120"/>
              </a:rPr>
              <a:t>1.6×</a:t>
            </a:r>
            <a:endParaRPr lang="en-US" sz="2600" dirty="0"/>
          </a:p>
        </p:txBody>
      </p:sp>
      <p:sp>
        <p:nvSpPr>
          <p:cNvPr id="23" name="Text 19"/>
          <p:cNvSpPr txBox="1"/>
          <p:nvPr/>
        </p:nvSpPr>
        <p:spPr>
          <a:xfrm>
            <a:off x="731520" y="5897880"/>
            <a:ext cx="320040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step speedup from batching turbines</a:t>
            </a:r>
            <a:endParaRPr lang="en-US" sz="1300" dirty="0"/>
          </a:p>
        </p:txBody>
      </p:sp>
      <p:sp>
        <p:nvSpPr>
          <p:cNvPr id="24" name="Shape 20"/>
          <p:cNvSpPr/>
          <p:nvPr/>
        </p:nvSpPr>
        <p:spPr>
          <a:xfrm>
            <a:off x="4297680" y="5303520"/>
            <a:ext cx="3566160" cy="914400"/>
          </a:xfrm>
          <a:prstGeom prst="roundRect">
            <a:avLst>
              <a:gd name="adj" fmla="val 12000"/>
            </a:avLst>
          </a:prstGeom>
          <a:solidFill>
            <a:srgbClr val="E8F1F8"/>
          </a:solidFill>
          <a:ln w="12700">
            <a:solidFill>
              <a:srgbClr val="E8F1F8"/>
            </a:solidFill>
            <a:prstDash val="solid"/>
          </a:ln>
        </p:spPr>
      </p:sp>
      <p:sp>
        <p:nvSpPr>
          <p:cNvPr id="25" name="Text 21"/>
          <p:cNvSpPr txBox="1"/>
          <p:nvPr/>
        </p:nvSpPr>
        <p:spPr>
          <a:xfrm>
            <a:off x="4480560" y="5394960"/>
            <a:ext cx="3200400" cy="502920"/>
          </a:xfrm>
          <a:prstGeom prst="rect">
            <a:avLst/>
          </a:prstGeom>
          <a:noFill/>
          <a:ln/>
        </p:spPr>
        <p:txBody>
          <a:bodyPr wrap="square" lIns="0" tIns="0" rIns="0" bIns="0" rtlCol="0" anchor="ctr"/>
          <a:lstStyle/>
          <a:p>
            <a:pPr indent="0" marL="0">
              <a:buNone/>
            </a:pPr>
            <a:r>
              <a:rPr lang="en-US" sz="2600" b="1" dirty="0">
                <a:solidFill>
                  <a:srgbClr val="00875F"/>
                </a:solidFill>
                <a:latin typeface="Calibri" pitchFamily="34" charset="0"/>
                <a:ea typeface="Calibri" pitchFamily="34" charset="-122"/>
                <a:cs typeface="Calibri" pitchFamily="34" charset="-120"/>
              </a:rPr>
              <a:t>~10×</a:t>
            </a:r>
            <a:endParaRPr lang="en-US" sz="2600" dirty="0"/>
          </a:p>
        </p:txBody>
      </p:sp>
      <p:sp>
        <p:nvSpPr>
          <p:cNvPr id="26" name="Text 22"/>
          <p:cNvSpPr txBox="1"/>
          <p:nvPr/>
        </p:nvSpPr>
        <p:spPr>
          <a:xfrm>
            <a:off x="4480560" y="5897880"/>
            <a:ext cx="320040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fewer kernel launches and collectives</a:t>
            </a:r>
            <a:endParaRPr lang="en-US" sz="1300" dirty="0"/>
          </a:p>
        </p:txBody>
      </p:sp>
      <p:sp>
        <p:nvSpPr>
          <p:cNvPr id="27" name="Shape 23"/>
          <p:cNvSpPr/>
          <p:nvPr/>
        </p:nvSpPr>
        <p:spPr>
          <a:xfrm>
            <a:off x="8046720" y="5303520"/>
            <a:ext cx="3566160" cy="914400"/>
          </a:xfrm>
          <a:prstGeom prst="roundRect">
            <a:avLst>
              <a:gd name="adj" fmla="val 12000"/>
            </a:avLst>
          </a:prstGeom>
          <a:solidFill>
            <a:srgbClr val="E8F1F8"/>
          </a:solidFill>
          <a:ln w="12700">
            <a:solidFill>
              <a:srgbClr val="E8F1F8"/>
            </a:solidFill>
            <a:prstDash val="solid"/>
          </a:ln>
        </p:spPr>
      </p:sp>
      <p:sp>
        <p:nvSpPr>
          <p:cNvPr id="28" name="Text 24"/>
          <p:cNvSpPr txBox="1"/>
          <p:nvPr/>
        </p:nvSpPr>
        <p:spPr>
          <a:xfrm>
            <a:off x="8229600" y="5394960"/>
            <a:ext cx="3200400" cy="502920"/>
          </a:xfrm>
          <a:prstGeom prst="rect">
            <a:avLst/>
          </a:prstGeom>
          <a:noFill/>
          <a:ln/>
        </p:spPr>
        <p:txBody>
          <a:bodyPr wrap="square" lIns="0" tIns="0" rIns="0" bIns="0" rtlCol="0" anchor="ctr"/>
          <a:lstStyle/>
          <a:p>
            <a:pPr indent="0" marL="0">
              <a:buNone/>
            </a:pPr>
            <a:r>
              <a:rPr lang="en-US" sz="2600" b="1" dirty="0">
                <a:solidFill>
                  <a:srgbClr val="00875F"/>
                </a:solidFill>
                <a:latin typeface="Calibri" pitchFamily="34" charset="0"/>
                <a:ea typeface="Calibri" pitchFamily="34" charset="-122"/>
                <a:cs typeface="Calibri" pitchFamily="34" charset="-120"/>
              </a:rPr>
              <a:t>15–18%</a:t>
            </a:r>
            <a:endParaRPr lang="en-US" sz="2600" dirty="0"/>
          </a:p>
        </p:txBody>
      </p:sp>
      <p:sp>
        <p:nvSpPr>
          <p:cNvPr id="29" name="Text 25"/>
          <p:cNvSpPr txBox="1"/>
          <p:nvPr/>
        </p:nvSpPr>
        <p:spPr>
          <a:xfrm>
            <a:off x="8229600" y="5897880"/>
            <a:ext cx="320040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faster other stages (no in-loop allocations)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Opt. 3: Heterogeneous CPU–GPU Execution</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Some physics runs better on the CPU. Hide it behind the GPU backlog.</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11</a:t>
            </a:r>
            <a:endParaRPr lang="en-US" sz="1100" dirty="0"/>
          </a:p>
        </p:txBody>
      </p:sp>
      <p:pic>
        <p:nvPicPr>
          <p:cNvPr id="5" name="Image 0" descr="/tmp/claude-1000/-home-wcy-paper-papers-2026-gpulesgo/7d05cab0-2291-40fa-8322-177e3a69b1f0/scratchpad/figs/fig_overlap.png">    </p:cNvPr>
          <p:cNvPicPr>
            <a:picLocks noChangeAspect="1"/>
          </p:cNvPicPr>
          <p:nvPr/>
        </p:nvPicPr>
        <p:blipFill>
          <a:blip r:embed="rId1"/>
          <a:stretch>
            <a:fillRect/>
          </a:stretch>
        </p:blipFill>
        <p:spPr>
          <a:xfrm>
            <a:off x="548640" y="1691640"/>
            <a:ext cx="6035040" cy="3406422"/>
          </a:xfrm>
          <a:prstGeom prst="rect">
            <a:avLst/>
          </a:prstGeom>
        </p:spPr>
      </p:pic>
      <p:sp>
        <p:nvSpPr>
          <p:cNvPr id="6" name="Shape 3"/>
          <p:cNvSpPr/>
          <p:nvPr/>
        </p:nvSpPr>
        <p:spPr>
          <a:xfrm>
            <a:off x="548640" y="5372382"/>
            <a:ext cx="2880360" cy="1097280"/>
          </a:xfrm>
          <a:prstGeom prst="roundRect">
            <a:avLst>
              <a:gd name="adj" fmla="val 10000"/>
            </a:avLst>
          </a:prstGeom>
          <a:solidFill>
            <a:srgbClr val="F1F5F9"/>
          </a:solidFill>
          <a:ln w="12700">
            <a:solidFill>
              <a:srgbClr val="F1F5F9"/>
            </a:solidFill>
            <a:prstDash val="solid"/>
          </a:ln>
        </p:spPr>
      </p:sp>
      <p:sp>
        <p:nvSpPr>
          <p:cNvPr id="7" name="Text 4"/>
          <p:cNvSpPr txBox="1"/>
          <p:nvPr/>
        </p:nvSpPr>
        <p:spPr>
          <a:xfrm>
            <a:off x="731520" y="5463822"/>
            <a:ext cx="2514600" cy="603504"/>
          </a:xfrm>
          <a:prstGeom prst="rect">
            <a:avLst/>
          </a:prstGeom>
          <a:noFill/>
          <a:ln/>
        </p:spPr>
        <p:txBody>
          <a:bodyPr wrap="square" lIns="0" tIns="0" rIns="0" bIns="0" rtlCol="0" anchor="ctr"/>
          <a:lstStyle/>
          <a:p>
            <a:pPr indent="0" marL="0">
              <a:buNone/>
            </a:pPr>
            <a:r>
              <a:rPr lang="en-US" sz="3200" b="1" dirty="0">
                <a:solidFill>
                  <a:srgbClr val="00875F"/>
                </a:solidFill>
                <a:latin typeface="Calibri" pitchFamily="34" charset="0"/>
                <a:ea typeface="Calibri" pitchFamily="34" charset="-122"/>
                <a:cs typeface="Calibri" pitchFamily="34" charset="-120"/>
              </a:rPr>
              <a:t>30 ms</a:t>
            </a:r>
            <a:endParaRPr lang="en-US" sz="3200" dirty="0"/>
          </a:p>
        </p:txBody>
      </p:sp>
      <p:sp>
        <p:nvSpPr>
          <p:cNvPr id="8" name="Text 5"/>
          <p:cNvSpPr txBox="1"/>
          <p:nvPr/>
        </p:nvSpPr>
        <p:spPr>
          <a:xfrm>
            <a:off x="731520" y="6067326"/>
            <a:ext cx="25146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saved per step</a:t>
            </a:r>
            <a:endParaRPr lang="en-US" sz="1300" dirty="0"/>
          </a:p>
        </p:txBody>
      </p:sp>
      <p:sp>
        <p:nvSpPr>
          <p:cNvPr id="9" name="Shape 6"/>
          <p:cNvSpPr/>
          <p:nvPr/>
        </p:nvSpPr>
        <p:spPr>
          <a:xfrm>
            <a:off x="3703320" y="5372382"/>
            <a:ext cx="2880360" cy="1097280"/>
          </a:xfrm>
          <a:prstGeom prst="roundRect">
            <a:avLst>
              <a:gd name="adj" fmla="val 10000"/>
            </a:avLst>
          </a:prstGeom>
          <a:solidFill>
            <a:srgbClr val="F1F5F9"/>
          </a:solidFill>
          <a:ln w="12700">
            <a:solidFill>
              <a:srgbClr val="F1F5F9"/>
            </a:solidFill>
            <a:prstDash val="solid"/>
          </a:ln>
        </p:spPr>
      </p:sp>
      <p:sp>
        <p:nvSpPr>
          <p:cNvPr id="10" name="Text 7"/>
          <p:cNvSpPr txBox="1"/>
          <p:nvPr/>
        </p:nvSpPr>
        <p:spPr>
          <a:xfrm>
            <a:off x="3886200" y="5463822"/>
            <a:ext cx="2514600" cy="603504"/>
          </a:xfrm>
          <a:prstGeom prst="rect">
            <a:avLst/>
          </a:prstGeom>
          <a:noFill/>
          <a:ln/>
        </p:spPr>
        <p:txBody>
          <a:bodyPr wrap="square" lIns="0" tIns="0" rIns="0" bIns="0" rtlCol="0" anchor="ctr"/>
          <a:lstStyle/>
          <a:p>
            <a:pPr indent="0" marL="0">
              <a:buNone/>
            </a:pPr>
            <a:r>
              <a:rPr lang="en-US" sz="3200" b="1" dirty="0">
                <a:solidFill>
                  <a:srgbClr val="00875F"/>
                </a:solidFill>
                <a:latin typeface="Calibri" pitchFamily="34" charset="0"/>
                <a:ea typeface="Calibri" pitchFamily="34" charset="-122"/>
                <a:cs typeface="Calibri" pitchFamily="34" charset="-120"/>
              </a:rPr>
              <a:t>93%</a:t>
            </a:r>
            <a:endParaRPr lang="en-US" sz="3200" dirty="0"/>
          </a:p>
        </p:txBody>
      </p:sp>
      <p:sp>
        <p:nvSpPr>
          <p:cNvPr id="11" name="Text 8"/>
          <p:cNvSpPr txBox="1"/>
          <p:nvPr/>
        </p:nvSpPr>
        <p:spPr>
          <a:xfrm>
            <a:off x="3886200" y="6067326"/>
            <a:ext cx="25146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GPU busy fraction</a:t>
            </a:r>
            <a:endParaRPr lang="en-US" sz="1300" dirty="0"/>
          </a:p>
        </p:txBody>
      </p:sp>
      <p:sp>
        <p:nvSpPr>
          <p:cNvPr id="12" name="Text 9"/>
          <p:cNvSpPr txBox="1"/>
          <p:nvPr/>
        </p:nvSpPr>
        <p:spPr>
          <a:xfrm>
            <a:off x="7086600" y="1691640"/>
            <a:ext cx="4526280" cy="347472"/>
          </a:xfrm>
          <a:prstGeom prst="rect">
            <a:avLst/>
          </a:prstGeom>
          <a:noFill/>
          <a:ln/>
        </p:spPr>
        <p:txBody>
          <a:bodyPr wrap="square" lIns="0" tIns="0" rIns="0" bIns="0" rtlCol="0" anchor="t"/>
          <a:lstStyle/>
          <a:p>
            <a:pPr indent="0" marL="0">
              <a:buNone/>
            </a:pPr>
            <a:r>
              <a:rPr lang="en-US" sz="1700" b="1" dirty="0">
                <a:solidFill>
                  <a:srgbClr val="B84F00"/>
                </a:solidFill>
                <a:latin typeface="Calibri" pitchFamily="34" charset="0"/>
                <a:ea typeface="Calibri" pitchFamily="34" charset="-122"/>
                <a:cs typeface="Calibri" pitchFamily="34" charset="-120"/>
              </a:rPr>
              <a:t>Why keep blade forces on the CPU?</a:t>
            </a:r>
            <a:endParaRPr lang="en-US" sz="1700" dirty="0"/>
          </a:p>
        </p:txBody>
      </p:sp>
      <p:sp>
        <p:nvSpPr>
          <p:cNvPr id="13" name="Text 10"/>
          <p:cNvSpPr txBox="1"/>
          <p:nvPr/>
        </p:nvSpPr>
        <p:spPr>
          <a:xfrm>
            <a:off x="7086600" y="2057400"/>
            <a:ext cx="4526280" cy="86868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Only 10,800 actuator points, too few to fill a GPU, and data-dependent airfoil lookups diverge warps.</a:t>
            </a:r>
            <a:endParaRPr lang="en-US" sz="1500" dirty="0"/>
          </a:p>
        </p:txBody>
      </p:sp>
      <p:sp>
        <p:nvSpPr>
          <p:cNvPr id="14" name="Text 11"/>
          <p:cNvSpPr txBox="1"/>
          <p:nvPr/>
        </p:nvSpPr>
        <p:spPr>
          <a:xfrm>
            <a:off x="7086600" y="2880360"/>
            <a:ext cx="4526280" cy="347472"/>
          </a:xfrm>
          <a:prstGeom prst="rect">
            <a:avLst/>
          </a:prstGeom>
          <a:noFill/>
          <a:ln/>
        </p:spPr>
        <p:txBody>
          <a:bodyPr wrap="square" lIns="0" tIns="0" rIns="0" bIns="0" rtlCol="0" anchor="t"/>
          <a:lstStyle/>
          <a:p>
            <a:pPr indent="0" marL="0">
              <a:buNone/>
            </a:pPr>
            <a:r>
              <a:rPr lang="en-US" sz="1700" b="1" dirty="0">
                <a:solidFill>
                  <a:srgbClr val="B84F00"/>
                </a:solidFill>
                <a:latin typeface="Calibri" pitchFamily="34" charset="0"/>
                <a:ea typeface="Calibri" pitchFamily="34" charset="-122"/>
                <a:cs typeface="Calibri" pitchFamily="34" charset="-120"/>
              </a:rPr>
              <a:t>The catch</a:t>
            </a:r>
            <a:endParaRPr lang="en-US" sz="1700" dirty="0"/>
          </a:p>
        </p:txBody>
      </p:sp>
      <p:sp>
        <p:nvSpPr>
          <p:cNvPr id="15" name="Text 12"/>
          <p:cNvSpPr txBox="1"/>
          <p:nvPr/>
        </p:nvSpPr>
        <p:spPr>
          <a:xfrm>
            <a:off x="7086600" y="3246120"/>
            <a:ext cx="4526280" cy="86868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Host work costs ~28 ms per step. Run synchronously, the GPU sits idle.</a:t>
            </a:r>
            <a:endParaRPr lang="en-US" sz="1500" dirty="0"/>
          </a:p>
        </p:txBody>
      </p:sp>
      <p:sp>
        <p:nvSpPr>
          <p:cNvPr id="16" name="Text 13"/>
          <p:cNvSpPr txBox="1"/>
          <p:nvPr/>
        </p:nvSpPr>
        <p:spPr>
          <a:xfrm>
            <a:off x="7086600" y="4069080"/>
            <a:ext cx="4526280" cy="347472"/>
          </a:xfrm>
          <a:prstGeom prst="rect">
            <a:avLst/>
          </a:prstGeom>
          <a:noFill/>
          <a:ln/>
        </p:spPr>
        <p:txBody>
          <a:bodyPr wrap="square" lIns="0" tIns="0" rIns="0" bIns="0" rtlCol="0" anchor="t"/>
          <a:lstStyle/>
          <a:p>
            <a:pPr indent="0" marL="0">
              <a:buNone/>
            </a:pPr>
            <a:r>
              <a:rPr lang="en-US" sz="1700" b="1" dirty="0">
                <a:solidFill>
                  <a:srgbClr val="0072B2"/>
                </a:solidFill>
                <a:latin typeface="Calibri" pitchFamily="34" charset="0"/>
                <a:ea typeface="Calibri" pitchFamily="34" charset="-122"/>
                <a:cs typeface="Calibri" pitchFamily="34" charset="-120"/>
              </a:rPr>
              <a:t>Two-phase split</a:t>
            </a:r>
            <a:endParaRPr lang="en-US" sz="1700" dirty="0"/>
          </a:p>
        </p:txBody>
      </p:sp>
      <p:sp>
        <p:nvSpPr>
          <p:cNvPr id="17" name="Text 14"/>
          <p:cNvSpPr txBox="1"/>
          <p:nvPr/>
        </p:nvSpPr>
        <p:spPr>
          <a:xfrm>
            <a:off x="7086600" y="4434840"/>
            <a:ext cx="4526280" cy="868680"/>
          </a:xfrm>
          <a:prstGeom prst="rect">
            <a:avLst/>
          </a:prstGeom>
          <a:noFill/>
          <a:ln/>
        </p:spPr>
        <p:txBody>
          <a:bodyPr wrap="square" lIns="0" tIns="0" rIns="0" bIns="0" rtlCol="0" anchor="t"/>
          <a:lstStyle/>
          <a:p>
            <a:pPr indent="0" marL="0">
              <a:buNone/>
            </a:pPr>
            <a:r>
              <a:rPr lang="en-US" sz="1500" dirty="0">
                <a:solidFill>
                  <a:srgbClr val="1B2631"/>
                </a:solidFill>
                <a:latin typeface="Calibri" pitchFamily="34" charset="0"/>
                <a:ea typeface="Calibri" pitchFamily="34" charset="-122"/>
                <a:cs typeface="Calibri" pitchFamily="34" charset="-120"/>
              </a:rPr>
              <a:t>Sample on the GPU and copy a small packet out without flushing the queue. The CPU computes forces during convection, then forces go back for projection.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Setup and Correctness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GPU and CPU backends agree to floating-point roundoff.</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12</a:t>
            </a:r>
            <a:endParaRPr lang="en-US" sz="1100" dirty="0"/>
          </a:p>
        </p:txBody>
      </p:sp>
      <p:sp>
        <p:nvSpPr>
          <p:cNvPr id="5" name="Shape 3"/>
          <p:cNvSpPr/>
          <p:nvPr/>
        </p:nvSpPr>
        <p:spPr>
          <a:xfrm>
            <a:off x="548640" y="1600200"/>
            <a:ext cx="2628900" cy="1234440"/>
          </a:xfrm>
          <a:prstGeom prst="roundRect">
            <a:avLst>
              <a:gd name="adj" fmla="val 8889"/>
            </a:avLst>
          </a:prstGeom>
          <a:solidFill>
            <a:srgbClr val="F1F5F9"/>
          </a:solidFill>
          <a:ln w="12700">
            <a:solidFill>
              <a:srgbClr val="F1F5F9"/>
            </a:solidFill>
            <a:prstDash val="solid"/>
          </a:ln>
        </p:spPr>
      </p:sp>
      <p:sp>
        <p:nvSpPr>
          <p:cNvPr id="6" name="Shape 4"/>
          <p:cNvSpPr/>
          <p:nvPr/>
        </p:nvSpPr>
        <p:spPr>
          <a:xfrm>
            <a:off x="713232" y="1737360"/>
            <a:ext cx="384048" cy="384048"/>
          </a:xfrm>
          <a:prstGeom prst="ellipse">
            <a:avLst/>
          </a:prstGeom>
          <a:solidFill>
            <a:srgbClr val="0072B2"/>
          </a:solidFill>
          <a:ln w="12700">
            <a:solidFill>
              <a:srgbClr val="0072B2"/>
            </a:solidFill>
            <a:prstDash val="solid"/>
          </a:ln>
        </p:spPr>
      </p:sp>
      <p:pic>
        <p:nvPicPr>
          <p:cNvPr id="7" name="Image 0" descr="preencoded.png">    </p:cNvPr>
          <p:cNvPicPr>
            <a:picLocks noChangeAspect="1"/>
          </p:cNvPicPr>
          <p:nvPr/>
        </p:nvPicPr>
        <p:blipFill>
          <a:blip r:embed="rId1"/>
          <a:stretch>
            <a:fillRect/>
          </a:stretch>
        </p:blipFill>
        <p:spPr>
          <a:xfrm>
            <a:off x="797723" y="1821851"/>
            <a:ext cx="215067" cy="215067"/>
          </a:xfrm>
          <a:prstGeom prst="rect">
            <a:avLst/>
          </a:prstGeom>
        </p:spPr>
      </p:pic>
      <p:sp>
        <p:nvSpPr>
          <p:cNvPr id="8" name="Text 5"/>
          <p:cNvSpPr txBox="1"/>
          <p:nvPr/>
        </p:nvSpPr>
        <p:spPr>
          <a:xfrm>
            <a:off x="1207008" y="1737360"/>
            <a:ext cx="1851660" cy="384048"/>
          </a:xfrm>
          <a:prstGeom prst="rect">
            <a:avLst/>
          </a:prstGeom>
          <a:noFill/>
          <a:ln/>
        </p:spPr>
        <p:txBody>
          <a:bodyPr wrap="square" lIns="0" tIns="0" rIns="0" bIns="0" rtlCol="0" anchor="ctr"/>
          <a:lstStyle/>
          <a:p>
            <a:pPr indent="0" marL="0">
              <a:buNone/>
            </a:pPr>
            <a:r>
              <a:rPr lang="en-US" sz="1500" b="1" dirty="0">
                <a:solidFill>
                  <a:srgbClr val="0072B2"/>
                </a:solidFill>
                <a:latin typeface="Calibri" pitchFamily="34" charset="0"/>
                <a:ea typeface="Calibri" pitchFamily="34" charset="-122"/>
                <a:cs typeface="Calibri" pitchFamily="34" charset="-120"/>
              </a:rPr>
              <a:t>Platform</a:t>
            </a:r>
            <a:endParaRPr lang="en-US" sz="1500" dirty="0"/>
          </a:p>
        </p:txBody>
      </p:sp>
      <p:sp>
        <p:nvSpPr>
          <p:cNvPr id="9" name="Text 6"/>
          <p:cNvSpPr txBox="1"/>
          <p:nvPr/>
        </p:nvSpPr>
        <p:spPr>
          <a:xfrm>
            <a:off x="713232" y="2194560"/>
            <a:ext cx="2299716" cy="566928"/>
          </a:xfrm>
          <a:prstGeom prst="rect">
            <a:avLst/>
          </a:prstGeom>
          <a:noFill/>
          <a:ln/>
        </p:spPr>
        <p:txBody>
          <a:bodyPr wrap="square" lIns="0" tIns="0" rIns="0" bIns="0" rtlCol="0" anchor="t"/>
          <a:lstStyle/>
          <a:p>
            <a:pPr indent="0" marL="0">
              <a:buNone/>
            </a:pPr>
            <a:r>
              <a:rPr lang="en-US" sz="1300" dirty="0">
                <a:solidFill>
                  <a:srgbClr val="1B2631"/>
                </a:solidFill>
                <a:latin typeface="Calibri" pitchFamily="34" charset="0"/>
                <a:ea typeface="Calibri" pitchFamily="34" charset="-122"/>
                <a:cs typeface="Calibri" pitchFamily="34" charset="-120"/>
              </a:rPr>
              <a:t>NERSC Perlmutter: 4× A100 per node, Slingshot-11</a:t>
            </a:r>
            <a:endParaRPr lang="en-US" sz="1300" dirty="0"/>
          </a:p>
        </p:txBody>
      </p:sp>
      <p:sp>
        <p:nvSpPr>
          <p:cNvPr id="10" name="Shape 7"/>
          <p:cNvSpPr/>
          <p:nvPr/>
        </p:nvSpPr>
        <p:spPr>
          <a:xfrm>
            <a:off x="3360420" y="1600200"/>
            <a:ext cx="2628900" cy="1234440"/>
          </a:xfrm>
          <a:prstGeom prst="roundRect">
            <a:avLst>
              <a:gd name="adj" fmla="val 8889"/>
            </a:avLst>
          </a:prstGeom>
          <a:solidFill>
            <a:srgbClr val="F1F5F9"/>
          </a:solidFill>
          <a:ln w="12700">
            <a:solidFill>
              <a:srgbClr val="F1F5F9"/>
            </a:solidFill>
            <a:prstDash val="solid"/>
          </a:ln>
        </p:spPr>
      </p:sp>
      <p:sp>
        <p:nvSpPr>
          <p:cNvPr id="11" name="Shape 8"/>
          <p:cNvSpPr/>
          <p:nvPr/>
        </p:nvSpPr>
        <p:spPr>
          <a:xfrm>
            <a:off x="3525012" y="1737360"/>
            <a:ext cx="384048" cy="384048"/>
          </a:xfrm>
          <a:prstGeom prst="ellipse">
            <a:avLst/>
          </a:prstGeom>
          <a:solidFill>
            <a:srgbClr val="0072B2"/>
          </a:solidFill>
          <a:ln w="12700">
            <a:solidFill>
              <a:srgbClr val="0072B2"/>
            </a:solidFill>
            <a:prstDash val="solid"/>
          </a:ln>
        </p:spPr>
      </p:sp>
      <p:pic>
        <p:nvPicPr>
          <p:cNvPr id="12" name="Image 1" descr="preencoded.png">    </p:cNvPr>
          <p:cNvPicPr>
            <a:picLocks noChangeAspect="1"/>
          </p:cNvPicPr>
          <p:nvPr/>
        </p:nvPicPr>
        <p:blipFill>
          <a:blip r:embed="rId2"/>
          <a:stretch>
            <a:fillRect/>
          </a:stretch>
        </p:blipFill>
        <p:spPr>
          <a:xfrm>
            <a:off x="3609503" y="1821851"/>
            <a:ext cx="215067" cy="215067"/>
          </a:xfrm>
          <a:prstGeom prst="rect">
            <a:avLst/>
          </a:prstGeom>
        </p:spPr>
      </p:pic>
      <p:sp>
        <p:nvSpPr>
          <p:cNvPr id="13" name="Text 9"/>
          <p:cNvSpPr txBox="1"/>
          <p:nvPr/>
        </p:nvSpPr>
        <p:spPr>
          <a:xfrm>
            <a:off x="4018788" y="1737360"/>
            <a:ext cx="1851660" cy="384048"/>
          </a:xfrm>
          <a:prstGeom prst="rect">
            <a:avLst/>
          </a:prstGeom>
          <a:noFill/>
          <a:ln/>
        </p:spPr>
        <p:txBody>
          <a:bodyPr wrap="square" lIns="0" tIns="0" rIns="0" bIns="0" rtlCol="0" anchor="ctr"/>
          <a:lstStyle/>
          <a:p>
            <a:pPr indent="0" marL="0">
              <a:buNone/>
            </a:pPr>
            <a:r>
              <a:rPr lang="en-US" sz="1500" b="1" dirty="0">
                <a:solidFill>
                  <a:srgbClr val="0072B2"/>
                </a:solidFill>
                <a:latin typeface="Calibri" pitchFamily="34" charset="0"/>
                <a:ea typeface="Calibri" pitchFamily="34" charset="-122"/>
                <a:cs typeface="Calibri" pitchFamily="34" charset="-120"/>
              </a:rPr>
              <a:t>Software</a:t>
            </a:r>
            <a:endParaRPr lang="en-US" sz="1500" dirty="0"/>
          </a:p>
        </p:txBody>
      </p:sp>
      <p:sp>
        <p:nvSpPr>
          <p:cNvPr id="14" name="Text 10"/>
          <p:cNvSpPr txBox="1"/>
          <p:nvPr/>
        </p:nvSpPr>
        <p:spPr>
          <a:xfrm>
            <a:off x="3525012" y="2194560"/>
            <a:ext cx="2299716" cy="566928"/>
          </a:xfrm>
          <a:prstGeom prst="rect">
            <a:avLst/>
          </a:prstGeom>
          <a:noFill/>
          <a:ln/>
        </p:spPr>
        <p:txBody>
          <a:bodyPr wrap="square" lIns="0" tIns="0" rIns="0" bIns="0" rtlCol="0" anchor="t"/>
          <a:lstStyle/>
          <a:p>
            <a:pPr indent="0" marL="0">
              <a:buNone/>
            </a:pPr>
            <a:r>
              <a:rPr lang="en-US" sz="1300" dirty="0">
                <a:solidFill>
                  <a:srgbClr val="1B2631"/>
                </a:solidFill>
                <a:latin typeface="Calibri" pitchFamily="34" charset="0"/>
                <a:ea typeface="Calibri" pitchFamily="34" charset="-122"/>
                <a:cs typeface="Calibri" pitchFamily="34" charset="-120"/>
              </a:rPr>
              <a:t>OpenACC (NVHPC 25.5), CUDA 12.9, cuFFT, CUDA-aware MPICH</a:t>
            </a:r>
            <a:endParaRPr lang="en-US" sz="1300" dirty="0"/>
          </a:p>
        </p:txBody>
      </p:sp>
      <p:sp>
        <p:nvSpPr>
          <p:cNvPr id="15" name="Shape 11"/>
          <p:cNvSpPr/>
          <p:nvPr/>
        </p:nvSpPr>
        <p:spPr>
          <a:xfrm>
            <a:off x="6172200" y="1600200"/>
            <a:ext cx="2628900" cy="1234440"/>
          </a:xfrm>
          <a:prstGeom prst="roundRect">
            <a:avLst>
              <a:gd name="adj" fmla="val 8889"/>
            </a:avLst>
          </a:prstGeom>
          <a:solidFill>
            <a:srgbClr val="F1F5F9"/>
          </a:solidFill>
          <a:ln w="12700">
            <a:solidFill>
              <a:srgbClr val="F1F5F9"/>
            </a:solidFill>
            <a:prstDash val="solid"/>
          </a:ln>
        </p:spPr>
      </p:sp>
      <p:sp>
        <p:nvSpPr>
          <p:cNvPr id="16" name="Shape 12"/>
          <p:cNvSpPr/>
          <p:nvPr/>
        </p:nvSpPr>
        <p:spPr>
          <a:xfrm>
            <a:off x="6336792" y="1737360"/>
            <a:ext cx="384048" cy="384048"/>
          </a:xfrm>
          <a:prstGeom prst="ellipse">
            <a:avLst/>
          </a:prstGeom>
          <a:solidFill>
            <a:srgbClr val="0072B2"/>
          </a:solidFill>
          <a:ln w="12700">
            <a:solidFill>
              <a:srgbClr val="0072B2"/>
            </a:solidFill>
            <a:prstDash val="solid"/>
          </a:ln>
        </p:spPr>
      </p:sp>
      <p:pic>
        <p:nvPicPr>
          <p:cNvPr id="17" name="Image 2" descr="preencoded.png">    </p:cNvPr>
          <p:cNvPicPr>
            <a:picLocks noChangeAspect="1"/>
          </p:cNvPicPr>
          <p:nvPr/>
        </p:nvPicPr>
        <p:blipFill>
          <a:blip r:embed="rId3"/>
          <a:stretch>
            <a:fillRect/>
          </a:stretch>
        </p:blipFill>
        <p:spPr>
          <a:xfrm>
            <a:off x="6421283" y="1821851"/>
            <a:ext cx="215067" cy="215067"/>
          </a:xfrm>
          <a:prstGeom prst="rect">
            <a:avLst/>
          </a:prstGeom>
        </p:spPr>
      </p:pic>
      <p:sp>
        <p:nvSpPr>
          <p:cNvPr id="18" name="Text 13"/>
          <p:cNvSpPr txBox="1"/>
          <p:nvPr/>
        </p:nvSpPr>
        <p:spPr>
          <a:xfrm>
            <a:off x="6830568" y="1737360"/>
            <a:ext cx="1851660" cy="384048"/>
          </a:xfrm>
          <a:prstGeom prst="rect">
            <a:avLst/>
          </a:prstGeom>
          <a:noFill/>
          <a:ln/>
        </p:spPr>
        <p:txBody>
          <a:bodyPr wrap="square" lIns="0" tIns="0" rIns="0" bIns="0" rtlCol="0" anchor="ctr"/>
          <a:lstStyle/>
          <a:p>
            <a:pPr indent="0" marL="0">
              <a:buNone/>
            </a:pPr>
            <a:r>
              <a:rPr lang="en-US" sz="1500" b="1" dirty="0">
                <a:solidFill>
                  <a:srgbClr val="0072B2"/>
                </a:solidFill>
                <a:latin typeface="Calibri" pitchFamily="34" charset="0"/>
                <a:ea typeface="Calibri" pitchFamily="34" charset="-122"/>
                <a:cs typeface="Calibri" pitchFamily="34" charset="-120"/>
              </a:rPr>
              <a:t>CPU baseline</a:t>
            </a:r>
            <a:endParaRPr lang="en-US" sz="1500" dirty="0"/>
          </a:p>
        </p:txBody>
      </p:sp>
      <p:sp>
        <p:nvSpPr>
          <p:cNvPr id="19" name="Text 14"/>
          <p:cNvSpPr txBox="1"/>
          <p:nvPr/>
        </p:nvSpPr>
        <p:spPr>
          <a:xfrm>
            <a:off x="6336792" y="2194560"/>
            <a:ext cx="2299716" cy="566928"/>
          </a:xfrm>
          <a:prstGeom prst="rect">
            <a:avLst/>
          </a:prstGeom>
          <a:noFill/>
          <a:ln/>
        </p:spPr>
        <p:txBody>
          <a:bodyPr wrap="square" lIns="0" tIns="0" rIns="0" bIns="0" rtlCol="0" anchor="t"/>
          <a:lstStyle/>
          <a:p>
            <a:pPr indent="0" marL="0">
              <a:buNone/>
            </a:pPr>
            <a:r>
              <a:rPr lang="en-US" sz="1300" dirty="0">
                <a:solidFill>
                  <a:srgbClr val="1B2631"/>
                </a:solidFill>
                <a:latin typeface="Calibri" pitchFamily="34" charset="0"/>
                <a:ea typeface="Calibri" pitchFamily="34" charset="-122"/>
                <a:cs typeface="Calibri" pitchFamily="34" charset="-120"/>
              </a:rPr>
              <a:t>2× 64-core AMD EPYC 7763 per node, fastest configuration</a:t>
            </a:r>
            <a:endParaRPr lang="en-US" sz="1300" dirty="0"/>
          </a:p>
        </p:txBody>
      </p:sp>
      <p:sp>
        <p:nvSpPr>
          <p:cNvPr id="20" name="Shape 15"/>
          <p:cNvSpPr/>
          <p:nvPr/>
        </p:nvSpPr>
        <p:spPr>
          <a:xfrm>
            <a:off x="8983980" y="1600200"/>
            <a:ext cx="2628900" cy="1234440"/>
          </a:xfrm>
          <a:prstGeom prst="roundRect">
            <a:avLst>
              <a:gd name="adj" fmla="val 8889"/>
            </a:avLst>
          </a:prstGeom>
          <a:solidFill>
            <a:srgbClr val="F1F5F9"/>
          </a:solidFill>
          <a:ln w="12700">
            <a:solidFill>
              <a:srgbClr val="F1F5F9"/>
            </a:solidFill>
            <a:prstDash val="solid"/>
          </a:ln>
        </p:spPr>
      </p:sp>
      <p:sp>
        <p:nvSpPr>
          <p:cNvPr id="21" name="Shape 16"/>
          <p:cNvSpPr/>
          <p:nvPr/>
        </p:nvSpPr>
        <p:spPr>
          <a:xfrm>
            <a:off x="9148572" y="1737360"/>
            <a:ext cx="384048" cy="384048"/>
          </a:xfrm>
          <a:prstGeom prst="ellipse">
            <a:avLst/>
          </a:prstGeom>
          <a:solidFill>
            <a:srgbClr val="0072B2"/>
          </a:solidFill>
          <a:ln w="12700">
            <a:solidFill>
              <a:srgbClr val="0072B2"/>
            </a:solidFill>
            <a:prstDash val="solid"/>
          </a:ln>
        </p:spPr>
      </p:sp>
      <p:pic>
        <p:nvPicPr>
          <p:cNvPr id="22" name="Image 3" descr="preencoded.png">    </p:cNvPr>
          <p:cNvPicPr>
            <a:picLocks noChangeAspect="1"/>
          </p:cNvPicPr>
          <p:nvPr/>
        </p:nvPicPr>
        <p:blipFill>
          <a:blip r:embed="rId4"/>
          <a:stretch>
            <a:fillRect/>
          </a:stretch>
        </p:blipFill>
        <p:spPr>
          <a:xfrm>
            <a:off x="9233063" y="1821851"/>
            <a:ext cx="215067" cy="215067"/>
          </a:xfrm>
          <a:prstGeom prst="rect">
            <a:avLst/>
          </a:prstGeom>
        </p:spPr>
      </p:pic>
      <p:sp>
        <p:nvSpPr>
          <p:cNvPr id="23" name="Text 17"/>
          <p:cNvSpPr txBox="1"/>
          <p:nvPr/>
        </p:nvSpPr>
        <p:spPr>
          <a:xfrm>
            <a:off x="9642348" y="1737360"/>
            <a:ext cx="1851660" cy="384048"/>
          </a:xfrm>
          <a:prstGeom prst="rect">
            <a:avLst/>
          </a:prstGeom>
          <a:noFill/>
          <a:ln/>
        </p:spPr>
        <p:txBody>
          <a:bodyPr wrap="square" lIns="0" tIns="0" rIns="0" bIns="0" rtlCol="0" anchor="ctr"/>
          <a:lstStyle/>
          <a:p>
            <a:pPr indent="0" marL="0">
              <a:buNone/>
            </a:pPr>
            <a:r>
              <a:rPr lang="en-US" sz="1500" b="1" dirty="0">
                <a:solidFill>
                  <a:srgbClr val="0072B2"/>
                </a:solidFill>
                <a:latin typeface="Calibri" pitchFamily="34" charset="0"/>
                <a:ea typeface="Calibri" pitchFamily="34" charset="-122"/>
                <a:cs typeface="Calibri" pitchFamily="34" charset="-120"/>
              </a:rPr>
              <a:t>wf60 case</a:t>
            </a:r>
            <a:endParaRPr lang="en-US" sz="1500" dirty="0"/>
          </a:p>
        </p:txBody>
      </p:sp>
      <p:sp>
        <p:nvSpPr>
          <p:cNvPr id="24" name="Text 18"/>
          <p:cNvSpPr txBox="1"/>
          <p:nvPr/>
        </p:nvSpPr>
        <p:spPr>
          <a:xfrm>
            <a:off x="9148572" y="2194560"/>
            <a:ext cx="2299716" cy="566928"/>
          </a:xfrm>
          <a:prstGeom prst="rect">
            <a:avLst/>
          </a:prstGeom>
          <a:noFill/>
          <a:ln/>
        </p:spPr>
        <p:txBody>
          <a:bodyPr wrap="square" lIns="0" tIns="0" rIns="0" bIns="0" rtlCol="0" anchor="t"/>
          <a:lstStyle/>
          <a:p>
            <a:pPr indent="0" marL="0">
              <a:buNone/>
            </a:pPr>
            <a:r>
              <a:rPr lang="en-US" sz="1300" dirty="0">
                <a:solidFill>
                  <a:srgbClr val="1B2631"/>
                </a:solidFill>
                <a:latin typeface="Calibri" pitchFamily="34" charset="0"/>
                <a:ea typeface="Calibri" pitchFamily="34" charset="-122"/>
                <a:cs typeface="Calibri" pitchFamily="34" charset="-120"/>
              </a:rPr>
              <a:t>60 turbines, 604M cells; scaling series up to 1.36B cells</a:t>
            </a:r>
            <a:endParaRPr lang="en-US" sz="1300" dirty="0"/>
          </a:p>
        </p:txBody>
      </p:sp>
      <p:pic>
        <p:nvPicPr>
          <p:cNvPr id="25" name="Image 4" descr="/tmp/claude-1000/-home-wcy-paper-papers-2026-gpulesgo/7d05cab0-2291-40fa-8322-177e3a69b1f0/scratchpad/figs/fig_cpu_gpu_lesgo_fields.png">    </p:cNvPr>
          <p:cNvPicPr>
            <a:picLocks noChangeAspect="1"/>
          </p:cNvPicPr>
          <p:nvPr/>
        </p:nvPicPr>
        <p:blipFill>
          <a:blip r:embed="rId5"/>
          <a:stretch>
            <a:fillRect/>
          </a:stretch>
        </p:blipFill>
        <p:spPr>
          <a:xfrm>
            <a:off x="548640" y="3063240"/>
            <a:ext cx="7635240" cy="2231967"/>
          </a:xfrm>
          <a:prstGeom prst="rect">
            <a:avLst/>
          </a:prstGeom>
        </p:spPr>
      </p:pic>
      <p:sp>
        <p:nvSpPr>
          <p:cNvPr id="26" name="Text 19"/>
          <p:cNvSpPr txBox="1"/>
          <p:nvPr/>
        </p:nvSpPr>
        <p:spPr>
          <a:xfrm>
            <a:off x="548640" y="5404935"/>
            <a:ext cx="7635240" cy="457200"/>
          </a:xfrm>
          <a:prstGeom prst="rect">
            <a:avLst/>
          </a:prstGeom>
          <a:noFill/>
          <a:ln/>
        </p:spPr>
        <p:txBody>
          <a:bodyPr wrap="square" lIns="0" tIns="0" rIns="0" bIns="0" rtlCol="0" anchor="t"/>
          <a:lstStyle/>
          <a:p>
            <a:pPr indent="0" marL="0">
              <a:buNone/>
            </a:pPr>
            <a:r>
              <a:rPr lang="en-US" sz="1300" i="1" dirty="0">
                <a:solidFill>
                  <a:srgbClr val="5F6B76"/>
                </a:solidFill>
                <a:latin typeface="Calibri" pitchFamily="34" charset="0"/>
                <a:ea typeface="Calibri" pitchFamily="34" charset="-122"/>
                <a:cs typeface="Calibri" pitchFamily="34" charset="-120"/>
              </a:rPr>
              <a:t>Single NREL 5-MW turbine, 480×384×240 grid, 1,000 steps from the same cold start. CPU: 48 MPI processes. GPU: 2 A100s.</a:t>
            </a:r>
            <a:endParaRPr lang="en-US" sz="1300" dirty="0"/>
          </a:p>
        </p:txBody>
      </p:sp>
      <p:sp>
        <p:nvSpPr>
          <p:cNvPr id="27" name="Shape 20"/>
          <p:cNvSpPr/>
          <p:nvPr/>
        </p:nvSpPr>
        <p:spPr>
          <a:xfrm>
            <a:off x="8412480" y="3063240"/>
            <a:ext cx="3200400" cy="914400"/>
          </a:xfrm>
          <a:prstGeom prst="roundRect">
            <a:avLst>
              <a:gd name="adj" fmla="val 12000"/>
            </a:avLst>
          </a:prstGeom>
          <a:solidFill>
            <a:srgbClr val="F1F5F9"/>
          </a:solidFill>
          <a:ln w="12700">
            <a:solidFill>
              <a:srgbClr val="F1F5F9"/>
            </a:solidFill>
            <a:prstDash val="solid"/>
          </a:ln>
        </p:spPr>
      </p:sp>
      <p:sp>
        <p:nvSpPr>
          <p:cNvPr id="28" name="Text 21"/>
          <p:cNvSpPr txBox="1"/>
          <p:nvPr/>
        </p:nvSpPr>
        <p:spPr>
          <a:xfrm>
            <a:off x="8595360" y="3154680"/>
            <a:ext cx="2834640" cy="502920"/>
          </a:xfrm>
          <a:prstGeom prst="rect">
            <a:avLst/>
          </a:prstGeom>
          <a:noFill/>
          <a:ln/>
        </p:spPr>
        <p:txBody>
          <a:bodyPr wrap="square" lIns="0" tIns="0" rIns="0" bIns="0" rtlCol="0" anchor="ctr"/>
          <a:lstStyle/>
          <a:p>
            <a:pPr indent="0" marL="0">
              <a:buNone/>
            </a:pPr>
            <a:r>
              <a:rPr lang="en-US" sz="2400" b="1" dirty="0">
                <a:solidFill>
                  <a:srgbClr val="00875F"/>
                </a:solidFill>
                <a:latin typeface="Calibri" pitchFamily="34" charset="0"/>
                <a:ea typeface="Calibri" pitchFamily="34" charset="-122"/>
                <a:cs typeface="Calibri" pitchFamily="34" charset="-120"/>
              </a:rPr>
              <a:t>1.5×10⁻¹³</a:t>
            </a:r>
            <a:endParaRPr lang="en-US" sz="2400" dirty="0"/>
          </a:p>
        </p:txBody>
      </p:sp>
      <p:sp>
        <p:nvSpPr>
          <p:cNvPr id="29" name="Text 22"/>
          <p:cNvSpPr txBox="1"/>
          <p:nvPr/>
        </p:nvSpPr>
        <p:spPr>
          <a:xfrm>
            <a:off x="8595360" y="3657600"/>
            <a:ext cx="283464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relative L2 difference</a:t>
            </a:r>
            <a:endParaRPr lang="en-US" sz="1300" dirty="0"/>
          </a:p>
        </p:txBody>
      </p:sp>
      <p:sp>
        <p:nvSpPr>
          <p:cNvPr id="30" name="Shape 23"/>
          <p:cNvSpPr/>
          <p:nvPr/>
        </p:nvSpPr>
        <p:spPr>
          <a:xfrm>
            <a:off x="8412480" y="4133088"/>
            <a:ext cx="3200400" cy="914400"/>
          </a:xfrm>
          <a:prstGeom prst="roundRect">
            <a:avLst>
              <a:gd name="adj" fmla="val 12000"/>
            </a:avLst>
          </a:prstGeom>
          <a:solidFill>
            <a:srgbClr val="F1F5F9"/>
          </a:solidFill>
          <a:ln w="12700">
            <a:solidFill>
              <a:srgbClr val="F1F5F9"/>
            </a:solidFill>
            <a:prstDash val="solid"/>
          </a:ln>
        </p:spPr>
      </p:sp>
      <p:sp>
        <p:nvSpPr>
          <p:cNvPr id="31" name="Text 24"/>
          <p:cNvSpPr txBox="1"/>
          <p:nvPr/>
        </p:nvSpPr>
        <p:spPr>
          <a:xfrm>
            <a:off x="8595360" y="4224528"/>
            <a:ext cx="2834640" cy="502920"/>
          </a:xfrm>
          <a:prstGeom prst="rect">
            <a:avLst/>
          </a:prstGeom>
          <a:noFill/>
          <a:ln/>
        </p:spPr>
        <p:txBody>
          <a:bodyPr wrap="square" lIns="0" tIns="0" rIns="0" bIns="0" rtlCol="0" anchor="ctr"/>
          <a:lstStyle/>
          <a:p>
            <a:pPr indent="0" marL="0">
              <a:buNone/>
            </a:pPr>
            <a:r>
              <a:rPr lang="en-US" sz="2400" b="1" dirty="0">
                <a:solidFill>
                  <a:srgbClr val="00875F"/>
                </a:solidFill>
                <a:latin typeface="Calibri" pitchFamily="34" charset="0"/>
                <a:ea typeface="Calibri" pitchFamily="34" charset="-122"/>
                <a:cs typeface="Calibri" pitchFamily="34" charset="-120"/>
              </a:rPr>
              <a:t>9.0×10⁻¹⁴</a:t>
            </a:r>
            <a:endParaRPr lang="en-US" sz="2400" dirty="0"/>
          </a:p>
        </p:txBody>
      </p:sp>
      <p:sp>
        <p:nvSpPr>
          <p:cNvPr id="32" name="Text 25"/>
          <p:cNvSpPr txBox="1"/>
          <p:nvPr/>
        </p:nvSpPr>
        <p:spPr>
          <a:xfrm>
            <a:off x="8595360" y="4727448"/>
            <a:ext cx="283464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max normalized difference</a:t>
            </a:r>
            <a:endParaRPr lang="en-US" sz="1300" dirty="0"/>
          </a:p>
        </p:txBody>
      </p:sp>
      <p:sp>
        <p:nvSpPr>
          <p:cNvPr id="33" name="Shape 26"/>
          <p:cNvSpPr/>
          <p:nvPr/>
        </p:nvSpPr>
        <p:spPr>
          <a:xfrm>
            <a:off x="8412480" y="5202936"/>
            <a:ext cx="3200400" cy="914400"/>
          </a:xfrm>
          <a:prstGeom prst="roundRect">
            <a:avLst>
              <a:gd name="adj" fmla="val 12000"/>
            </a:avLst>
          </a:prstGeom>
          <a:solidFill>
            <a:srgbClr val="F1F5F9"/>
          </a:solidFill>
          <a:ln w="12700">
            <a:solidFill>
              <a:srgbClr val="F1F5F9"/>
            </a:solidFill>
            <a:prstDash val="solid"/>
          </a:ln>
        </p:spPr>
      </p:sp>
      <p:sp>
        <p:nvSpPr>
          <p:cNvPr id="34" name="Text 27"/>
          <p:cNvSpPr txBox="1"/>
          <p:nvPr/>
        </p:nvSpPr>
        <p:spPr>
          <a:xfrm>
            <a:off x="8595360" y="5294376"/>
            <a:ext cx="2834640" cy="502920"/>
          </a:xfrm>
          <a:prstGeom prst="rect">
            <a:avLst/>
          </a:prstGeom>
          <a:noFill/>
          <a:ln/>
        </p:spPr>
        <p:txBody>
          <a:bodyPr wrap="square" lIns="0" tIns="0" rIns="0" bIns="0" rtlCol="0" anchor="ctr"/>
          <a:lstStyle/>
          <a:p>
            <a:pPr indent="0" marL="0">
              <a:buNone/>
            </a:pPr>
            <a:r>
              <a:rPr lang="en-US" sz="2400" b="1" dirty="0">
                <a:solidFill>
                  <a:srgbClr val="00875F"/>
                </a:solidFill>
                <a:latin typeface="Calibri" pitchFamily="34" charset="0"/>
                <a:ea typeface="Calibri" pitchFamily="34" charset="-122"/>
                <a:cs typeface="Calibri" pitchFamily="34" charset="-120"/>
              </a:rPr>
              <a:t>1.0</a:t>
            </a:r>
            <a:endParaRPr lang="en-US" sz="2400" dirty="0"/>
          </a:p>
        </p:txBody>
      </p:sp>
      <p:sp>
        <p:nvSpPr>
          <p:cNvPr id="35" name="Text 28"/>
          <p:cNvSpPr txBox="1"/>
          <p:nvPr/>
        </p:nvSpPr>
        <p:spPr>
          <a:xfrm>
            <a:off x="8595360" y="5797296"/>
            <a:ext cx="2834640" cy="22860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wake-pattern correlation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Each Optimization Stacks: 40× on 16 GPUs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604M cells, 60 turbines. 4 CPU nodes (512 processes) vs. 4 GPU nodes (16 A100s).</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13</a:t>
            </a:r>
            <a:endParaRPr lang="en-US" sz="1100" dirty="0"/>
          </a:p>
        </p:txBody>
      </p:sp>
      <p:graphicFrame>
        <p:nvGraphicFramePr>
          <p:cNvPr id="5" name="Chart 0" descr=""/>
          <p:cNvGraphicFramePr/>
          <p:nvPr/>
        </p:nvGraphicFramePr>
        <p:xfrm>
          <a:off x="457200" y="160020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09560" y="1645920"/>
            <a:ext cx="3703320" cy="1417320"/>
          </a:xfrm>
          <a:prstGeom prst="roundRect">
            <a:avLst>
              <a:gd name="adj" fmla="val 7742"/>
            </a:avLst>
          </a:prstGeom>
          <a:solidFill>
            <a:srgbClr val="0F2233"/>
          </a:solidFill>
          <a:ln w="12700">
            <a:solidFill>
              <a:srgbClr val="0F2233"/>
            </a:solidFill>
            <a:prstDash val="solid"/>
          </a:ln>
        </p:spPr>
      </p:sp>
      <p:sp>
        <p:nvSpPr>
          <p:cNvPr id="7" name="Text 4"/>
          <p:cNvSpPr txBox="1"/>
          <p:nvPr/>
        </p:nvSpPr>
        <p:spPr>
          <a:xfrm>
            <a:off x="8138160" y="1737360"/>
            <a:ext cx="324612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6.48 s → 0.162 s</a:t>
            </a:r>
            <a:endParaRPr lang="en-US" sz="3000" dirty="0"/>
          </a:p>
        </p:txBody>
      </p:sp>
      <p:sp>
        <p:nvSpPr>
          <p:cNvPr id="8" name="Text 5"/>
          <p:cNvSpPr txBox="1"/>
          <p:nvPr/>
        </p:nvSpPr>
        <p:spPr>
          <a:xfrm>
            <a:off x="8138160" y="2423160"/>
            <a:ext cx="3246120" cy="50292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per time step (0.27 ms per million cells)</a:t>
            </a:r>
            <a:endParaRPr lang="en-US" sz="1300" dirty="0"/>
          </a:p>
        </p:txBody>
      </p:sp>
      <p:sp>
        <p:nvSpPr>
          <p:cNvPr id="9" name="Shape 6"/>
          <p:cNvSpPr/>
          <p:nvPr/>
        </p:nvSpPr>
        <p:spPr>
          <a:xfrm>
            <a:off x="7909560" y="3246120"/>
            <a:ext cx="1760220" cy="1097280"/>
          </a:xfrm>
          <a:prstGeom prst="roundRect">
            <a:avLst>
              <a:gd name="adj" fmla="val 10000"/>
            </a:avLst>
          </a:prstGeom>
          <a:solidFill>
            <a:srgbClr val="F1F5F9"/>
          </a:solidFill>
          <a:ln w="12700">
            <a:solidFill>
              <a:srgbClr val="F1F5F9"/>
            </a:solidFill>
            <a:prstDash val="solid"/>
          </a:ln>
        </p:spPr>
      </p:sp>
      <p:sp>
        <p:nvSpPr>
          <p:cNvPr id="10" name="Text 7"/>
          <p:cNvSpPr txBox="1"/>
          <p:nvPr/>
        </p:nvSpPr>
        <p:spPr>
          <a:xfrm>
            <a:off x="8092440" y="3337560"/>
            <a:ext cx="139446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93%</a:t>
            </a:r>
            <a:endParaRPr lang="en-US" sz="2800" dirty="0"/>
          </a:p>
        </p:txBody>
      </p:sp>
      <p:sp>
        <p:nvSpPr>
          <p:cNvPr id="11" name="Text 8"/>
          <p:cNvSpPr txBox="1"/>
          <p:nvPr/>
        </p:nvSpPr>
        <p:spPr>
          <a:xfrm>
            <a:off x="8092440" y="3941064"/>
            <a:ext cx="139446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GPU busy</a:t>
            </a:r>
            <a:endParaRPr lang="en-US" sz="1300" dirty="0"/>
          </a:p>
        </p:txBody>
      </p:sp>
      <p:sp>
        <p:nvSpPr>
          <p:cNvPr id="12" name="Shape 9"/>
          <p:cNvSpPr/>
          <p:nvPr/>
        </p:nvSpPr>
        <p:spPr>
          <a:xfrm>
            <a:off x="9852660" y="3246120"/>
            <a:ext cx="1760220" cy="1097280"/>
          </a:xfrm>
          <a:prstGeom prst="roundRect">
            <a:avLst>
              <a:gd name="adj" fmla="val 10000"/>
            </a:avLst>
          </a:prstGeom>
          <a:solidFill>
            <a:srgbClr val="F1F5F9"/>
          </a:solidFill>
          <a:ln w="12700">
            <a:solidFill>
              <a:srgbClr val="F1F5F9"/>
            </a:solidFill>
            <a:prstDash val="solid"/>
          </a:ln>
        </p:spPr>
      </p:sp>
      <p:sp>
        <p:nvSpPr>
          <p:cNvPr id="13" name="Text 10"/>
          <p:cNvSpPr txBox="1"/>
          <p:nvPr/>
        </p:nvSpPr>
        <p:spPr>
          <a:xfrm>
            <a:off x="10035540" y="3337560"/>
            <a:ext cx="139446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73%</a:t>
            </a:r>
            <a:endParaRPr lang="en-US" sz="2800" dirty="0"/>
          </a:p>
        </p:txBody>
      </p:sp>
      <p:sp>
        <p:nvSpPr>
          <p:cNvPr id="14" name="Text 11"/>
          <p:cNvSpPr txBox="1"/>
          <p:nvPr/>
        </p:nvSpPr>
        <p:spPr>
          <a:xfrm>
            <a:off x="10035540" y="3941064"/>
            <a:ext cx="139446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of peak DRAM BW</a:t>
            </a:r>
            <a:endParaRPr lang="en-US" sz="1300" dirty="0"/>
          </a:p>
        </p:txBody>
      </p:sp>
      <p:sp>
        <p:nvSpPr>
          <p:cNvPr id="15" name="Shape 12"/>
          <p:cNvSpPr/>
          <p:nvPr/>
        </p:nvSpPr>
        <p:spPr>
          <a:xfrm>
            <a:off x="7909560" y="4526280"/>
            <a:ext cx="1760220" cy="1097280"/>
          </a:xfrm>
          <a:prstGeom prst="roundRect">
            <a:avLst>
              <a:gd name="adj" fmla="val 10000"/>
            </a:avLst>
          </a:prstGeom>
          <a:solidFill>
            <a:srgbClr val="F1F5F9"/>
          </a:solidFill>
          <a:ln w="12700">
            <a:solidFill>
              <a:srgbClr val="F1F5F9"/>
            </a:solidFill>
            <a:prstDash val="solid"/>
          </a:ln>
        </p:spPr>
      </p:sp>
      <p:sp>
        <p:nvSpPr>
          <p:cNvPr id="16" name="Text 13"/>
          <p:cNvSpPr txBox="1"/>
          <p:nvPr/>
        </p:nvSpPr>
        <p:spPr>
          <a:xfrm>
            <a:off x="8092440" y="4617720"/>
            <a:ext cx="139446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1.6 MB</a:t>
            </a:r>
            <a:endParaRPr lang="en-US" sz="2800" dirty="0"/>
          </a:p>
        </p:txBody>
      </p:sp>
      <p:sp>
        <p:nvSpPr>
          <p:cNvPr id="17" name="Text 14"/>
          <p:cNvSpPr txBox="1"/>
          <p:nvPr/>
        </p:nvSpPr>
        <p:spPr>
          <a:xfrm>
            <a:off x="8092440" y="5221224"/>
            <a:ext cx="139446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host→device / step</a:t>
            </a:r>
            <a:endParaRPr lang="en-US" sz="1300" dirty="0"/>
          </a:p>
        </p:txBody>
      </p:sp>
      <p:sp>
        <p:nvSpPr>
          <p:cNvPr id="18" name="Shape 15"/>
          <p:cNvSpPr/>
          <p:nvPr/>
        </p:nvSpPr>
        <p:spPr>
          <a:xfrm>
            <a:off x="9852660" y="4526280"/>
            <a:ext cx="1760220" cy="1097280"/>
          </a:xfrm>
          <a:prstGeom prst="roundRect">
            <a:avLst>
              <a:gd name="adj" fmla="val 10000"/>
            </a:avLst>
          </a:prstGeom>
          <a:solidFill>
            <a:srgbClr val="F1F5F9"/>
          </a:solidFill>
          <a:ln w="12700">
            <a:solidFill>
              <a:srgbClr val="F1F5F9"/>
            </a:solidFill>
            <a:prstDash val="solid"/>
          </a:ln>
        </p:spPr>
      </p:sp>
      <p:sp>
        <p:nvSpPr>
          <p:cNvPr id="19" name="Text 16"/>
          <p:cNvSpPr txBox="1"/>
          <p:nvPr/>
        </p:nvSpPr>
        <p:spPr>
          <a:xfrm>
            <a:off x="10035540" y="4617720"/>
            <a:ext cx="139446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2.0 MB</a:t>
            </a:r>
            <a:endParaRPr lang="en-US" sz="2800" dirty="0"/>
          </a:p>
        </p:txBody>
      </p:sp>
      <p:sp>
        <p:nvSpPr>
          <p:cNvPr id="20" name="Text 17"/>
          <p:cNvSpPr txBox="1"/>
          <p:nvPr/>
        </p:nvSpPr>
        <p:spPr>
          <a:xfrm>
            <a:off x="10035540" y="5221224"/>
            <a:ext cx="139446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device→host / step</a:t>
            </a:r>
            <a:endParaRPr lang="en-US" sz="1300" dirty="0"/>
          </a:p>
        </p:txBody>
      </p:sp>
      <p:sp>
        <p:nvSpPr>
          <p:cNvPr id="21" name="Text 18"/>
          <p:cNvSpPr txBox="1"/>
          <p:nvPr/>
        </p:nvSpPr>
        <p:spPr>
          <a:xfrm>
            <a:off x="7909560" y="5760720"/>
            <a:ext cx="3703320" cy="457200"/>
          </a:xfrm>
          <a:prstGeom prst="rect">
            <a:avLst/>
          </a:prstGeom>
          <a:noFill/>
          <a:ln/>
        </p:spPr>
        <p:txBody>
          <a:bodyPr wrap="square" lIns="0" tIns="0" rIns="0" bIns="0" rtlCol="0" anchor="t"/>
          <a:lstStyle/>
          <a:p>
            <a:pPr indent="0" marL="0">
              <a:buNone/>
            </a:pPr>
            <a:r>
              <a:rPr lang="en-US" sz="1200" i="1" dirty="0">
                <a:solidFill>
                  <a:srgbClr val="5F6B76"/>
                </a:solidFill>
                <a:latin typeface="Calibri" pitchFamily="34" charset="0"/>
                <a:ea typeface="Calibri" pitchFamily="34" charset="-122"/>
                <a:cs typeface="Calibri" pitchFamily="34" charset="-120"/>
              </a:rPr>
              <a:t>With LASD updates every 5th step: 8.18 s → 0.206 s (39.7×)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Strong Scaling to 128 GPUs</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90× over the best CPU run on 64 GPUs; 1.36B cells at 0.084 s per step on 128 GPUs.</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14</a:t>
            </a:r>
            <a:endParaRPr lang="en-US" sz="1100" dirty="0"/>
          </a:p>
        </p:txBody>
      </p:sp>
      <p:pic>
        <p:nvPicPr>
          <p:cNvPr id="5" name="Image 0" descr="/tmp/claude-1000/-home-wcy-paper-papers-2026-gpulesgo/7d05cab0-2291-40fa-8322-177e3a69b1f0/scratchpad/figs/fig_scaling.png">    </p:cNvPr>
          <p:cNvPicPr>
            <a:picLocks noChangeAspect="1"/>
          </p:cNvPicPr>
          <p:nvPr/>
        </p:nvPicPr>
        <p:blipFill>
          <a:blip r:embed="rId1"/>
          <a:stretch>
            <a:fillRect/>
          </a:stretch>
        </p:blipFill>
        <p:spPr>
          <a:xfrm>
            <a:off x="548640" y="1600200"/>
            <a:ext cx="5394960" cy="3236976"/>
          </a:xfrm>
          <a:prstGeom prst="rect">
            <a:avLst/>
          </a:prstGeom>
        </p:spPr>
      </p:pic>
      <p:pic>
        <p:nvPicPr>
          <p:cNvPr id="6" name="Image 1" descr="/tmp/claude-1000/-home-wcy-paper-papers-2026-gpulesgo/7d05cab0-2291-40fa-8322-177e3a69b1f0/scratchpad/figs/fig_stagescale.png">    </p:cNvPr>
          <p:cNvPicPr>
            <a:picLocks noChangeAspect="1"/>
          </p:cNvPicPr>
          <p:nvPr/>
        </p:nvPicPr>
        <p:blipFill>
          <a:blip r:embed="rId2"/>
          <a:stretch>
            <a:fillRect/>
          </a:stretch>
        </p:blipFill>
        <p:spPr>
          <a:xfrm>
            <a:off x="6217920" y="1600200"/>
            <a:ext cx="5394960" cy="3236976"/>
          </a:xfrm>
          <a:prstGeom prst="rect">
            <a:avLst/>
          </a:prstGeom>
        </p:spPr>
      </p:pic>
      <p:sp>
        <p:nvSpPr>
          <p:cNvPr id="7" name="Shape 3"/>
          <p:cNvSpPr/>
          <p:nvPr/>
        </p:nvSpPr>
        <p:spPr>
          <a:xfrm>
            <a:off x="548640" y="5065776"/>
            <a:ext cx="3566160" cy="1097280"/>
          </a:xfrm>
          <a:prstGeom prst="roundRect">
            <a:avLst>
              <a:gd name="adj" fmla="val 10000"/>
            </a:avLst>
          </a:prstGeom>
          <a:solidFill>
            <a:srgbClr val="F1F5F9"/>
          </a:solidFill>
          <a:ln w="12700">
            <a:solidFill>
              <a:srgbClr val="F1F5F9"/>
            </a:solidFill>
            <a:prstDash val="solid"/>
          </a:ln>
        </p:spPr>
      </p:sp>
      <p:sp>
        <p:nvSpPr>
          <p:cNvPr id="8" name="Text 4"/>
          <p:cNvSpPr txBox="1"/>
          <p:nvPr/>
        </p:nvSpPr>
        <p:spPr>
          <a:xfrm>
            <a:off x="731520" y="5157216"/>
            <a:ext cx="320040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87–90%</a:t>
            </a:r>
            <a:endParaRPr lang="en-US" sz="2800" dirty="0"/>
          </a:p>
        </p:txBody>
      </p:sp>
      <p:sp>
        <p:nvSpPr>
          <p:cNvPr id="9" name="Text 5"/>
          <p:cNvSpPr txBox="1"/>
          <p:nvPr/>
        </p:nvSpPr>
        <p:spPr>
          <a:xfrm>
            <a:off x="73152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parallel efficiency when GPU count doubles</a:t>
            </a:r>
            <a:endParaRPr lang="en-US" sz="1300" dirty="0"/>
          </a:p>
        </p:txBody>
      </p:sp>
      <p:sp>
        <p:nvSpPr>
          <p:cNvPr id="10" name="Shape 6"/>
          <p:cNvSpPr/>
          <p:nvPr/>
        </p:nvSpPr>
        <p:spPr>
          <a:xfrm>
            <a:off x="4297680" y="5065776"/>
            <a:ext cx="3566160" cy="1097280"/>
          </a:xfrm>
          <a:prstGeom prst="roundRect">
            <a:avLst>
              <a:gd name="adj" fmla="val 10000"/>
            </a:avLst>
          </a:prstGeom>
          <a:solidFill>
            <a:srgbClr val="F1F5F9"/>
          </a:solidFill>
          <a:ln w="12700">
            <a:solidFill>
              <a:srgbClr val="F1F5F9"/>
            </a:solidFill>
            <a:prstDash val="solid"/>
          </a:ln>
        </p:spPr>
      </p:sp>
      <p:sp>
        <p:nvSpPr>
          <p:cNvPr id="11" name="Text 7"/>
          <p:cNvSpPr txBox="1"/>
          <p:nvPr/>
        </p:nvSpPr>
        <p:spPr>
          <a:xfrm>
            <a:off x="4480560" y="5157216"/>
            <a:ext cx="320040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16.2B</a:t>
            </a:r>
            <a:endParaRPr lang="en-US" sz="2800" dirty="0"/>
          </a:p>
        </p:txBody>
      </p:sp>
      <p:sp>
        <p:nvSpPr>
          <p:cNvPr id="12" name="Text 8"/>
          <p:cNvSpPr txBox="1"/>
          <p:nvPr/>
        </p:nvSpPr>
        <p:spPr>
          <a:xfrm>
            <a:off x="448056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cell updates per second (1.36B cells, 128 GPUs)</a:t>
            </a:r>
            <a:endParaRPr lang="en-US" sz="1300" dirty="0"/>
          </a:p>
        </p:txBody>
      </p:sp>
      <p:sp>
        <p:nvSpPr>
          <p:cNvPr id="13" name="Shape 9"/>
          <p:cNvSpPr/>
          <p:nvPr/>
        </p:nvSpPr>
        <p:spPr>
          <a:xfrm>
            <a:off x="8046720" y="5065776"/>
            <a:ext cx="3566160" cy="1097280"/>
          </a:xfrm>
          <a:prstGeom prst="roundRect">
            <a:avLst>
              <a:gd name="adj" fmla="val 10000"/>
            </a:avLst>
          </a:prstGeom>
          <a:solidFill>
            <a:srgbClr val="F1F5F9"/>
          </a:solidFill>
          <a:ln w="12700">
            <a:solidFill>
              <a:srgbClr val="F1F5F9"/>
            </a:solidFill>
            <a:prstDash val="solid"/>
          </a:ln>
        </p:spPr>
      </p:sp>
      <p:sp>
        <p:nvSpPr>
          <p:cNvPr id="14" name="Text 10"/>
          <p:cNvSpPr txBox="1"/>
          <p:nvPr/>
        </p:nvSpPr>
        <p:spPr>
          <a:xfrm>
            <a:off x="8229600" y="5157216"/>
            <a:ext cx="3200400" cy="603504"/>
          </a:xfrm>
          <a:prstGeom prst="rect">
            <a:avLst/>
          </a:prstGeom>
          <a:noFill/>
          <a:ln/>
        </p:spPr>
        <p:txBody>
          <a:bodyPr wrap="square" lIns="0" tIns="0" rIns="0" bIns="0" rtlCol="0" anchor="ctr"/>
          <a:lstStyle/>
          <a:p>
            <a:pPr indent="0" marL="0">
              <a:buNone/>
            </a:pPr>
            <a:r>
              <a:rPr lang="en-US" sz="2800" b="1" dirty="0">
                <a:solidFill>
                  <a:srgbClr val="D55E00"/>
                </a:solidFill>
                <a:latin typeface="Calibri" pitchFamily="34" charset="0"/>
                <a:ea typeface="Calibri" pitchFamily="34" charset="-122"/>
                <a:cs typeface="Calibri" pitchFamily="34" charset="-120"/>
              </a:rPr>
              <a:t>~30 ms</a:t>
            </a:r>
            <a:endParaRPr lang="en-US" sz="2800" dirty="0"/>
          </a:p>
        </p:txBody>
      </p:sp>
      <p:sp>
        <p:nvSpPr>
          <p:cNvPr id="15" name="Text 11"/>
          <p:cNvSpPr txBox="1"/>
          <p:nvPr/>
        </p:nvSpPr>
        <p:spPr>
          <a:xfrm>
            <a:off x="822960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latency floor: CFL reduction + launch budget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631"/>
                </a:solidFill>
                <a:latin typeface="Calibri" pitchFamily="34" charset="0"/>
                <a:ea typeface="Calibri" pitchFamily="34" charset="-122"/>
                <a:cs typeface="Calibri" pitchFamily="34" charset="-120"/>
              </a:rPr>
              <a:t>Weak Scaling and Kernel Efficiency</a:t>
            </a:r>
            <a:endParaRPr lang="en-US" sz="3200" dirty="0"/>
          </a:p>
        </p:txBody>
      </p:sp>
      <p:sp>
        <p:nvSpPr>
          <p:cNvPr id="3" name="Text 1"/>
          <p:cNvSpPr txBox="1"/>
          <p:nvPr/>
        </p:nvSpPr>
        <p:spPr>
          <a:xfrm>
            <a:off x="548640" y="987552"/>
            <a:ext cx="11064240" cy="411480"/>
          </a:xfrm>
          <a:prstGeom prst="rect">
            <a:avLst/>
          </a:prstGeom>
          <a:noFill/>
          <a:ln/>
        </p:spPr>
        <p:txBody>
          <a:bodyPr wrap="square" lIns="0" tIns="0" rIns="0" bIns="0" rtlCol="0" anchor="ctr"/>
          <a:lstStyle/>
          <a:p>
            <a:pPr indent="0" marL="0">
              <a:buNone/>
            </a:pPr>
            <a:r>
              <a:rPr lang="en-US" sz="1800" i="1" dirty="0">
                <a:solidFill>
                  <a:srgbClr val="0072B2"/>
                </a:solidFill>
                <a:latin typeface="Calibri" pitchFamily="34" charset="0"/>
                <a:ea typeface="Calibri" pitchFamily="34" charset="-122"/>
                <a:cs typeface="Calibri" pitchFamily="34" charset="-120"/>
              </a:rPr>
              <a:t>Kernels run near the memory-bandwidth roof, and efficiency holds when each GPU stays busy.</a:t>
            </a:r>
            <a:endParaRPr lang="en-US" sz="1800" dirty="0"/>
          </a:p>
        </p:txBody>
      </p:sp>
      <p:sp>
        <p:nvSpPr>
          <p:cNvPr id="4" name="Text 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100" dirty="0">
                <a:solidFill>
                  <a:srgbClr val="5F6B76"/>
                </a:solidFill>
                <a:latin typeface="Calibri" pitchFamily="34" charset="0"/>
                <a:ea typeface="Calibri" pitchFamily="34" charset="-122"/>
                <a:cs typeface="Calibri" pitchFamily="34" charset="-120"/>
              </a:rPr>
              <a:t>15</a:t>
            </a:r>
            <a:endParaRPr lang="en-US" sz="1100" dirty="0"/>
          </a:p>
        </p:txBody>
      </p:sp>
      <p:pic>
        <p:nvPicPr>
          <p:cNvPr id="5" name="Image 0" descr="/tmp/claude-1000/-home-wcy-paper-papers-2026-gpulesgo/7d05cab0-2291-40fa-8322-177e3a69b1f0/scratchpad/figs/fig_scaling_weak.png">    </p:cNvPr>
          <p:cNvPicPr>
            <a:picLocks noChangeAspect="1"/>
          </p:cNvPicPr>
          <p:nvPr/>
        </p:nvPicPr>
        <p:blipFill>
          <a:blip r:embed="rId1"/>
          <a:stretch>
            <a:fillRect/>
          </a:stretch>
        </p:blipFill>
        <p:spPr>
          <a:xfrm>
            <a:off x="548640" y="1600200"/>
            <a:ext cx="5394960" cy="3236976"/>
          </a:xfrm>
          <a:prstGeom prst="rect">
            <a:avLst/>
          </a:prstGeom>
        </p:spPr>
      </p:pic>
      <p:pic>
        <p:nvPicPr>
          <p:cNvPr id="6" name="Image 1" descr="/tmp/claude-1000/-home-wcy-paper-papers-2026-gpulesgo/7d05cab0-2291-40fa-8322-177e3a69b1f0/scratchpad/figs/fig_roofline.png">    </p:cNvPr>
          <p:cNvPicPr>
            <a:picLocks noChangeAspect="1"/>
          </p:cNvPicPr>
          <p:nvPr/>
        </p:nvPicPr>
        <p:blipFill>
          <a:blip r:embed="rId2"/>
          <a:stretch>
            <a:fillRect/>
          </a:stretch>
        </p:blipFill>
        <p:spPr>
          <a:xfrm>
            <a:off x="6217920" y="1600200"/>
            <a:ext cx="5394960" cy="3236976"/>
          </a:xfrm>
          <a:prstGeom prst="rect">
            <a:avLst/>
          </a:prstGeom>
        </p:spPr>
      </p:pic>
      <p:sp>
        <p:nvSpPr>
          <p:cNvPr id="7" name="Shape 3"/>
          <p:cNvSpPr/>
          <p:nvPr/>
        </p:nvSpPr>
        <p:spPr>
          <a:xfrm>
            <a:off x="548640" y="5065776"/>
            <a:ext cx="3566160" cy="1097280"/>
          </a:xfrm>
          <a:prstGeom prst="roundRect">
            <a:avLst>
              <a:gd name="adj" fmla="val 10000"/>
            </a:avLst>
          </a:prstGeom>
          <a:solidFill>
            <a:srgbClr val="F1F5F9"/>
          </a:solidFill>
          <a:ln w="12700">
            <a:solidFill>
              <a:srgbClr val="F1F5F9"/>
            </a:solidFill>
            <a:prstDash val="solid"/>
          </a:ln>
        </p:spPr>
      </p:sp>
      <p:sp>
        <p:nvSpPr>
          <p:cNvPr id="8" name="Text 4"/>
          <p:cNvSpPr txBox="1"/>
          <p:nvPr/>
        </p:nvSpPr>
        <p:spPr>
          <a:xfrm>
            <a:off x="731520" y="5157216"/>
            <a:ext cx="320040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90%</a:t>
            </a:r>
            <a:endParaRPr lang="en-US" sz="2800" dirty="0"/>
          </a:p>
        </p:txBody>
      </p:sp>
      <p:sp>
        <p:nvSpPr>
          <p:cNvPr id="9" name="Text 5"/>
          <p:cNvSpPr txBox="1"/>
          <p:nvPr/>
        </p:nvSpPr>
        <p:spPr>
          <a:xfrm>
            <a:off x="73152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weak-scaling efficiency, 4 → 64 GPUs</a:t>
            </a:r>
            <a:endParaRPr lang="en-US" sz="1300" dirty="0"/>
          </a:p>
        </p:txBody>
      </p:sp>
      <p:sp>
        <p:nvSpPr>
          <p:cNvPr id="10" name="Shape 6"/>
          <p:cNvSpPr/>
          <p:nvPr/>
        </p:nvSpPr>
        <p:spPr>
          <a:xfrm>
            <a:off x="4297680" y="5065776"/>
            <a:ext cx="3566160" cy="1097280"/>
          </a:xfrm>
          <a:prstGeom prst="roundRect">
            <a:avLst>
              <a:gd name="adj" fmla="val 10000"/>
            </a:avLst>
          </a:prstGeom>
          <a:solidFill>
            <a:srgbClr val="F1F5F9"/>
          </a:solidFill>
          <a:ln w="12700">
            <a:solidFill>
              <a:srgbClr val="F1F5F9"/>
            </a:solidFill>
            <a:prstDash val="solid"/>
          </a:ln>
        </p:spPr>
      </p:sp>
      <p:sp>
        <p:nvSpPr>
          <p:cNvPr id="11" name="Text 7"/>
          <p:cNvSpPr txBox="1"/>
          <p:nvPr/>
        </p:nvSpPr>
        <p:spPr>
          <a:xfrm>
            <a:off x="4480560" y="5157216"/>
            <a:ext cx="320040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67–88%</a:t>
            </a:r>
            <a:endParaRPr lang="en-US" sz="2800" dirty="0"/>
          </a:p>
        </p:txBody>
      </p:sp>
      <p:sp>
        <p:nvSpPr>
          <p:cNvPr id="12" name="Text 8"/>
          <p:cNvSpPr txBox="1"/>
          <p:nvPr/>
        </p:nvSpPr>
        <p:spPr>
          <a:xfrm>
            <a:off x="448056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of peak DRAM bandwidth, custom kernels</a:t>
            </a:r>
            <a:endParaRPr lang="en-US" sz="1300" dirty="0"/>
          </a:p>
        </p:txBody>
      </p:sp>
      <p:sp>
        <p:nvSpPr>
          <p:cNvPr id="13" name="Shape 9"/>
          <p:cNvSpPr/>
          <p:nvPr/>
        </p:nvSpPr>
        <p:spPr>
          <a:xfrm>
            <a:off x="8046720" y="5065776"/>
            <a:ext cx="3566160" cy="1097280"/>
          </a:xfrm>
          <a:prstGeom prst="roundRect">
            <a:avLst>
              <a:gd name="adj" fmla="val 10000"/>
            </a:avLst>
          </a:prstGeom>
          <a:solidFill>
            <a:srgbClr val="F1F5F9"/>
          </a:solidFill>
          <a:ln w="12700">
            <a:solidFill>
              <a:srgbClr val="F1F5F9"/>
            </a:solidFill>
            <a:prstDash val="solid"/>
          </a:ln>
        </p:spPr>
      </p:sp>
      <p:sp>
        <p:nvSpPr>
          <p:cNvPr id="14" name="Text 10"/>
          <p:cNvSpPr txBox="1"/>
          <p:nvPr/>
        </p:nvSpPr>
        <p:spPr>
          <a:xfrm>
            <a:off x="8229600" y="5157216"/>
            <a:ext cx="3200400" cy="603504"/>
          </a:xfrm>
          <a:prstGeom prst="rect">
            <a:avLst/>
          </a:prstGeom>
          <a:noFill/>
          <a:ln/>
        </p:spPr>
        <p:txBody>
          <a:bodyPr wrap="square" lIns="0" tIns="0" rIns="0" bIns="0" rtlCol="0" anchor="ctr"/>
          <a:lstStyle/>
          <a:p>
            <a:pPr indent="0" marL="0">
              <a:buNone/>
            </a:pPr>
            <a:r>
              <a:rPr lang="en-US" sz="2800" b="1" dirty="0">
                <a:solidFill>
                  <a:srgbClr val="0072B2"/>
                </a:solidFill>
                <a:latin typeface="Calibri" pitchFamily="34" charset="0"/>
                <a:ea typeface="Calibri" pitchFamily="34" charset="-122"/>
                <a:cs typeface="Calibri" pitchFamily="34" charset="-120"/>
              </a:rPr>
              <a:t>48–82%</a:t>
            </a:r>
            <a:endParaRPr lang="en-US" sz="2800" dirty="0"/>
          </a:p>
        </p:txBody>
      </p:sp>
      <p:sp>
        <p:nvSpPr>
          <p:cNvPr id="15" name="Text 11"/>
          <p:cNvSpPr txBox="1"/>
          <p:nvPr/>
        </p:nvSpPr>
        <p:spPr>
          <a:xfrm>
            <a:off x="8229600" y="5760720"/>
            <a:ext cx="3200400" cy="310896"/>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of peak DRAM bandwidth, batched cuFFT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233"/>
        </a:solidFill>
      </p:bgPr>
    </p:bg>
    <p:spTree>
      <p:nvGrpSpPr>
        <p:cNvPr id="1" name=""/>
        <p:cNvGrpSpPr/>
        <p:nvPr/>
      </p:nvGrpSpPr>
      <p:grpSpPr>
        <a:xfrm>
          <a:off x="0" y="0"/>
          <a:ext cx="0" cy="0"/>
          <a:chOff x="0" y="0"/>
          <a:chExt cx="0" cy="0"/>
        </a:xfrm>
      </p:grpSpPr>
      <p:sp>
        <p:nvSpPr>
          <p:cNvPr id="2" name="Text 0"/>
          <p:cNvSpPr txBox="1"/>
          <p:nvPr/>
        </p:nvSpPr>
        <p:spPr>
          <a:xfrm>
            <a:off x="548640" y="457200"/>
            <a:ext cx="64008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Takeaways</a:t>
            </a:r>
            <a:endParaRPr lang="en-US" sz="3600" dirty="0"/>
          </a:p>
        </p:txBody>
      </p:sp>
      <p:sp>
        <p:nvSpPr>
          <p:cNvPr id="3" name="Shape 1"/>
          <p:cNvSpPr/>
          <p:nvPr/>
        </p:nvSpPr>
        <p:spPr>
          <a:xfrm>
            <a:off x="548640" y="1463040"/>
            <a:ext cx="502920" cy="502920"/>
          </a:xfrm>
          <a:prstGeom prst="ellipse">
            <a:avLst/>
          </a:prstGeom>
          <a:solidFill>
            <a:srgbClr val="0072B2"/>
          </a:solidFill>
          <a:ln w="12700">
            <a:solidFill>
              <a:srgbClr val="0072B2"/>
            </a:solidFill>
            <a:prstDash val="solid"/>
          </a:ln>
        </p:spPr>
      </p:sp>
      <p:sp>
        <p:nvSpPr>
          <p:cNvPr id="4" name="Text 2"/>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426464"/>
            <a:ext cx="585216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First GPU port of LESGO</a:t>
            </a:r>
            <a:endParaRPr lang="en-US" sz="2000" dirty="0"/>
          </a:p>
        </p:txBody>
      </p:sp>
      <p:sp>
        <p:nvSpPr>
          <p:cNvPr id="6" name="Text 4"/>
          <p:cNvSpPr txBox="1"/>
          <p:nvPr/>
        </p:nvSpPr>
        <p:spPr>
          <a:xfrm>
            <a:off x="1280160" y="1828800"/>
            <a:ext cx="5852160" cy="64008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~70K lines of Fortran, full physics pipeline, one OpenACC source tree.</a:t>
            </a:r>
            <a:endParaRPr lang="en-US" sz="1500" dirty="0"/>
          </a:p>
        </p:txBody>
      </p:sp>
      <p:sp>
        <p:nvSpPr>
          <p:cNvPr id="7" name="Shape 5"/>
          <p:cNvSpPr/>
          <p:nvPr/>
        </p:nvSpPr>
        <p:spPr>
          <a:xfrm>
            <a:off x="548640" y="2651760"/>
            <a:ext cx="502920" cy="502920"/>
          </a:xfrm>
          <a:prstGeom prst="ellipse">
            <a:avLst/>
          </a:prstGeom>
          <a:solidFill>
            <a:srgbClr val="0072B2"/>
          </a:solidFill>
          <a:ln w="12700">
            <a:solidFill>
              <a:srgbClr val="0072B2"/>
            </a:solidFill>
            <a:prstDash val="solid"/>
          </a:ln>
        </p:spPr>
      </p:sp>
      <p:sp>
        <p:nvSpPr>
          <p:cNvPr id="8" name="Text 6"/>
          <p:cNvSpPr txBox="1"/>
          <p:nvPr/>
        </p:nvSpPr>
        <p:spPr>
          <a:xfrm>
            <a:off x="548640"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280160" y="2615184"/>
            <a:ext cx="585216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Data movement governs performance</a:t>
            </a:r>
            <a:endParaRPr lang="en-US" sz="2000" dirty="0"/>
          </a:p>
        </p:txBody>
      </p:sp>
      <p:sp>
        <p:nvSpPr>
          <p:cNvPr id="10" name="Text 8"/>
          <p:cNvSpPr txBox="1"/>
          <p:nvPr/>
        </p:nvSpPr>
        <p:spPr>
          <a:xfrm>
            <a:off x="1280160" y="3017520"/>
            <a:ext cx="5852160" cy="64008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Nine coupling-point classes, resolved by gate, relocate, slice, and overlap.</a:t>
            </a:r>
            <a:endParaRPr lang="en-US" sz="1500" dirty="0"/>
          </a:p>
        </p:txBody>
      </p:sp>
      <p:sp>
        <p:nvSpPr>
          <p:cNvPr id="11" name="Shape 9"/>
          <p:cNvSpPr/>
          <p:nvPr/>
        </p:nvSpPr>
        <p:spPr>
          <a:xfrm>
            <a:off x="548640" y="3840480"/>
            <a:ext cx="502920" cy="502920"/>
          </a:xfrm>
          <a:prstGeom prst="ellipse">
            <a:avLst/>
          </a:prstGeom>
          <a:solidFill>
            <a:srgbClr val="0072B2"/>
          </a:solidFill>
          <a:ln w="12700">
            <a:solidFill>
              <a:srgbClr val="0072B2"/>
            </a:solidFill>
            <a:prstDash val="solid"/>
          </a:ln>
        </p:spPr>
      </p:sp>
      <p:sp>
        <p:nvSpPr>
          <p:cNvPr id="12" name="Text 10"/>
          <p:cNvSpPr txBox="1"/>
          <p:nvPr/>
        </p:nvSpPr>
        <p:spPr>
          <a:xfrm>
            <a:off x="548640" y="3840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3803904"/>
            <a:ext cx="585216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Three structural optimizations</a:t>
            </a:r>
            <a:endParaRPr lang="en-US" sz="2000" dirty="0"/>
          </a:p>
        </p:txBody>
      </p:sp>
      <p:sp>
        <p:nvSpPr>
          <p:cNvPr id="14" name="Text 12"/>
          <p:cNvSpPr txBox="1"/>
          <p:nvPr/>
        </p:nvSpPr>
        <p:spPr>
          <a:xfrm>
            <a:off x="1280160" y="4206240"/>
            <a:ext cx="5852160" cy="64008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Chunk pipelining, batching, and CPU–GPU overlap: 93% GPU utilization.</a:t>
            </a:r>
            <a:endParaRPr lang="en-US" sz="1500" dirty="0"/>
          </a:p>
        </p:txBody>
      </p:sp>
      <p:sp>
        <p:nvSpPr>
          <p:cNvPr id="15" name="Shape 13"/>
          <p:cNvSpPr/>
          <p:nvPr/>
        </p:nvSpPr>
        <p:spPr>
          <a:xfrm>
            <a:off x="548640" y="5029200"/>
            <a:ext cx="502920" cy="502920"/>
          </a:xfrm>
          <a:prstGeom prst="ellipse">
            <a:avLst/>
          </a:prstGeom>
          <a:solidFill>
            <a:srgbClr val="0072B2"/>
          </a:solidFill>
          <a:ln w="12700">
            <a:solidFill>
              <a:srgbClr val="0072B2"/>
            </a:solidFill>
            <a:prstDash val="solid"/>
          </a:ln>
        </p:spPr>
      </p:sp>
      <p:sp>
        <p:nvSpPr>
          <p:cNvPr id="16" name="Text 14"/>
          <p:cNvSpPr txBox="1"/>
          <p:nvPr/>
        </p:nvSpPr>
        <p:spPr>
          <a:xfrm>
            <a:off x="548640" y="5029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1280160" y="4992624"/>
            <a:ext cx="585216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Production-scale speed</a:t>
            </a:r>
            <a:endParaRPr lang="en-US" sz="2000" dirty="0"/>
          </a:p>
        </p:txBody>
      </p:sp>
      <p:sp>
        <p:nvSpPr>
          <p:cNvPr id="18" name="Text 16"/>
          <p:cNvSpPr txBox="1"/>
          <p:nvPr/>
        </p:nvSpPr>
        <p:spPr>
          <a:xfrm>
            <a:off x="1280160" y="5394960"/>
            <a:ext cx="5852160" cy="64008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Strong scaling to 128 GPUs on a 1.36B-cell grid.</a:t>
            </a:r>
            <a:endParaRPr lang="en-US" sz="1500" dirty="0"/>
          </a:p>
        </p:txBody>
      </p:sp>
      <p:sp>
        <p:nvSpPr>
          <p:cNvPr id="19" name="Text 17"/>
          <p:cNvSpPr txBox="1"/>
          <p:nvPr/>
        </p:nvSpPr>
        <p:spPr>
          <a:xfrm>
            <a:off x="7589520" y="1371600"/>
            <a:ext cx="4023360" cy="1280160"/>
          </a:xfrm>
          <a:prstGeom prst="rect">
            <a:avLst/>
          </a:prstGeom>
          <a:noFill/>
          <a:ln/>
        </p:spPr>
        <p:txBody>
          <a:bodyPr wrap="square" lIns="0" tIns="0" rIns="0" bIns="0" rtlCol="0" anchor="ctr"/>
          <a:lstStyle/>
          <a:p>
            <a:pPr indent="0" marL="0">
              <a:buNone/>
            </a:pPr>
            <a:r>
              <a:rPr lang="en-US" sz="7200" b="1" dirty="0">
                <a:solidFill>
                  <a:srgbClr val="FF9A4D"/>
                </a:solidFill>
                <a:latin typeface="Calibri" pitchFamily="34" charset="0"/>
                <a:ea typeface="Calibri" pitchFamily="34" charset="-122"/>
                <a:cs typeface="Calibri" pitchFamily="34" charset="-120"/>
              </a:rPr>
              <a:t>40–90×</a:t>
            </a:r>
            <a:endParaRPr lang="en-US" sz="7200" dirty="0"/>
          </a:p>
        </p:txBody>
      </p:sp>
      <p:sp>
        <p:nvSpPr>
          <p:cNvPr id="20" name="Text 18"/>
          <p:cNvSpPr txBox="1"/>
          <p:nvPr/>
        </p:nvSpPr>
        <p:spPr>
          <a:xfrm>
            <a:off x="7589520" y="2697480"/>
            <a:ext cx="402336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speedup over the fastest CPU run on the production wind farm (604M cells)</a:t>
            </a:r>
            <a:endParaRPr lang="en-US" sz="1600" dirty="0"/>
          </a:p>
        </p:txBody>
      </p:sp>
      <p:sp>
        <p:nvSpPr>
          <p:cNvPr id="21" name="Text 19"/>
          <p:cNvSpPr txBox="1"/>
          <p:nvPr/>
        </p:nvSpPr>
        <p:spPr>
          <a:xfrm>
            <a:off x="7589520" y="3611880"/>
            <a:ext cx="4023360" cy="731520"/>
          </a:xfrm>
          <a:prstGeom prst="rect">
            <a:avLst/>
          </a:prstGeom>
          <a:noFill/>
          <a:ln/>
        </p:spPr>
        <p:txBody>
          <a:bodyPr wrap="square" lIns="0" tIns="0" rIns="0" bIns="0" rtlCol="0" anchor="t"/>
          <a:lstStyle/>
          <a:p>
            <a:pPr indent="0" marL="0">
              <a:buNone/>
            </a:pPr>
            <a:r>
              <a:rPr lang="en-US" sz="1600" i="1" dirty="0">
                <a:solidFill>
                  <a:srgbClr val="C9D6E3"/>
                </a:solidFill>
                <a:latin typeface="Calibri" pitchFamily="34" charset="0"/>
                <a:ea typeface="Calibri" pitchFamily="34" charset="-122"/>
                <a:cs typeface="Calibri" pitchFamily="34" charset="-120"/>
              </a:rPr>
              <a:t>Production campaigns: months → days.</a:t>
            </a:r>
            <a:endParaRPr lang="en-US" sz="1600" dirty="0"/>
          </a:p>
        </p:txBody>
      </p:sp>
      <p:sp>
        <p:nvSpPr>
          <p:cNvPr id="22" name="Text 20"/>
          <p:cNvSpPr txBox="1"/>
          <p:nvPr/>
        </p:nvSpPr>
        <p:spPr>
          <a:xfrm>
            <a:off x="7589520" y="5349240"/>
            <a:ext cx="4023360" cy="54864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Production-Scale Large Eddy Simulations of Wind Farms on GPUs</dc:title>
  <dc:subject>PptxGenJS Presentation</dc:subject>
  <dc:creator>PptxGenJS</dc:creator>
  <cp:lastModifiedBy>PptxGenJS</cp:lastModifiedBy>
  <cp:revision>1</cp:revision>
  <dcterms:created xsi:type="dcterms:W3CDTF">2026-09-29T16:59:18Z</dcterms:created>
  <dcterms:modified xsi:type="dcterms:W3CDTF">2026-09-29T16:59:18Z</dcterms:modified>
</cp:coreProperties>
</file>