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media/image7.tif" ContentType="image/tif"/>
  <Override PartName="/ppt/media/image8.tif" ContentType="image/tif"/>
  <Override PartName="/ppt/media/image9.tif" ContentType="image/ti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58" r:id="rId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B9A6BC-3BB3-4E58-9C48-E61CC813601E}" v="8" dt="2026-05-14T19:23:02.35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7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6/11/relationships/changesInfo" Target="changesInfos/changesInfo1.xml"/><Relationship Id="rId11" Type="http://schemas.microsoft.com/office/2015/10/relationships/revisionInfo" Target="revisionInfo.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y v" userId="4f423bd08e6878be" providerId="LiveId" clId="{4ECA973F-1DBF-40DA-B9BB-731014A9BF8D}"/>
    <pc:docChg chg="undo custSel modSld">
      <pc:chgData name="c'y v" userId="4f423bd08e6878be" providerId="LiveId" clId="{4ECA973F-1DBF-40DA-B9BB-731014A9BF8D}" dt="2026-05-14T19:23:01.946" v="19" actId="1076"/>
      <pc:docMkLst>
        <pc:docMk/>
      </pc:docMkLst>
      <pc:sldChg chg="modSp mod">
        <pc:chgData name="c'y v" userId="4f423bd08e6878be" providerId="LiveId" clId="{4ECA973F-1DBF-40DA-B9BB-731014A9BF8D}" dt="2026-05-14T18:29:15.907" v="6"/>
        <pc:sldMkLst>
          <pc:docMk/>
          <pc:sldMk cId="0" sldId="256"/>
        </pc:sldMkLst>
        <pc:spChg chg="mod">
          <ac:chgData name="c'y v" userId="4f423bd08e6878be" providerId="LiveId" clId="{4ECA973F-1DBF-40DA-B9BB-731014A9BF8D}" dt="2026-05-14T18:29:08.749" v="5" actId="14100"/>
          <ac:spMkLst>
            <pc:docMk/>
            <pc:sldMk cId="0" sldId="256"/>
            <ac:spMk id="143" creationId="{00000000-0000-0000-0000-000000000000}"/>
          </ac:spMkLst>
        </pc:spChg>
        <pc:spChg chg="mod">
          <ac:chgData name="c'y v" userId="4f423bd08e6878be" providerId="LiveId" clId="{4ECA973F-1DBF-40DA-B9BB-731014A9BF8D}" dt="2026-05-14T18:29:15.907" v="6"/>
          <ac:spMkLst>
            <pc:docMk/>
            <pc:sldMk cId="0" sldId="256"/>
            <ac:spMk id="144" creationId="{00000000-0000-0000-0000-000000000000}"/>
          </ac:spMkLst>
        </pc:spChg>
      </pc:sldChg>
      <pc:sldChg chg="addSp modSp mod">
        <pc:chgData name="c'y v" userId="4f423bd08e6878be" providerId="LiveId" clId="{4ECA973F-1DBF-40DA-B9BB-731014A9BF8D}" dt="2026-05-14T19:23:01.946" v="19" actId="1076"/>
        <pc:sldMkLst>
          <pc:docMk/>
          <pc:sldMk cId="0" sldId="257"/>
        </pc:sldMkLst>
        <pc:spChg chg="add mod">
          <ac:chgData name="c'y v" userId="4f423bd08e6878be" providerId="LiveId" clId="{4ECA973F-1DBF-40DA-B9BB-731014A9BF8D}" dt="2026-05-14T18:31:18.200" v="10"/>
          <ac:spMkLst>
            <pc:docMk/>
            <pc:sldMk cId="0" sldId="257"/>
            <ac:spMk id="2" creationId="{1F0F3EBE-3ADC-78A7-3B7D-2638CFBEF7AC}"/>
          </ac:spMkLst>
        </pc:spChg>
        <pc:spChg chg="add mod">
          <ac:chgData name="c'y v" userId="4f423bd08e6878be" providerId="LiveId" clId="{4ECA973F-1DBF-40DA-B9BB-731014A9BF8D}" dt="2026-05-14T18:31:18.200" v="10"/>
          <ac:spMkLst>
            <pc:docMk/>
            <pc:sldMk cId="0" sldId="257"/>
            <ac:spMk id="3" creationId="{76ACEF49-D0C7-3940-EC7C-54C12B776576}"/>
          </ac:spMkLst>
        </pc:spChg>
        <pc:spChg chg="mod">
          <ac:chgData name="c'y v" userId="4f423bd08e6878be" providerId="LiveId" clId="{4ECA973F-1DBF-40DA-B9BB-731014A9BF8D}" dt="2026-05-14T18:31:06.272" v="7"/>
          <ac:spMkLst>
            <pc:docMk/>
            <pc:sldMk cId="0" sldId="257"/>
            <ac:spMk id="146" creationId="{00000000-0000-0000-0000-000000000000}"/>
          </ac:spMkLst>
        </pc:spChg>
        <pc:spChg chg="mod">
          <ac:chgData name="c'y v" userId="4f423bd08e6878be" providerId="LiveId" clId="{4ECA973F-1DBF-40DA-B9BB-731014A9BF8D}" dt="2026-05-14T19:23:01.586" v="18" actId="14100"/>
          <ac:spMkLst>
            <pc:docMk/>
            <pc:sldMk cId="0" sldId="257"/>
            <ac:spMk id="147" creationId="{00000000-0000-0000-0000-000000000000}"/>
          </ac:spMkLst>
        </pc:spChg>
        <pc:picChg chg="add mod">
          <ac:chgData name="c'y v" userId="4f423bd08e6878be" providerId="LiveId" clId="{4ECA973F-1DBF-40DA-B9BB-731014A9BF8D}" dt="2026-05-14T18:31:17.308" v="9" actId="27636"/>
          <ac:picMkLst>
            <pc:docMk/>
            <pc:sldMk cId="0" sldId="257"/>
            <ac:picMk id="4" creationId="{C021FE42-0829-0DB8-7550-45EE649E81D4}"/>
          </ac:picMkLst>
        </pc:picChg>
        <pc:picChg chg="add mod">
          <ac:chgData name="c'y v" userId="4f423bd08e6878be" providerId="LiveId" clId="{4ECA973F-1DBF-40DA-B9BB-731014A9BF8D}" dt="2026-05-14T19:23:01.946" v="19" actId="1076"/>
          <ac:picMkLst>
            <pc:docMk/>
            <pc:sldMk cId="0" sldId="257"/>
            <ac:picMk id="5" creationId="{A6E22A54-8ED8-619D-CDBD-87DBAD64A037}"/>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800" b="0">
                <a:solidFill>
                  <a:srgbClr val="5F6B76"/>
                </a:solidFill>
                <a:latin typeface="Gill Sans"/>
              </a:rPr>
              <a:t>Speedup over the fastest CPU run</a:t>
            </a:r>
          </a:p>
        </c:rich>
      </c:tx>
      <c:layout/>
      <c:overlay val="0"/>
    </c:title>
    <c:autoTitleDeleted val="0"/>
    <c:plotArea>
      <c:barChart>
        <c:barDir val="bar"/>
        <c:grouping val="clustered"/>
        <c:varyColors val="0"/>
        <c:ser>
          <c:idx val="0"/>
          <c:order val="0"/>
          <c:tx>
            <c:strRef>
              <c:f>Sheet1!$B$1</c:f>
              <c:strCache>
                <c:ptCount val="1"/>
                <c:pt idx="0">
                  <c:v>Speedup vs. CPU</c:v>
                </c:pt>
              </c:strCache>
            </c:strRef>
          </c:tx>
          <c:dPt>
            <c:idx val="0"/>
            <c:spPr>
              <a:solidFill>
                <a:srgbClr val="9AA8B5"/>
              </a:solidFill>
            </c:spPr>
          </c:dPt>
          <c:dPt>
            <c:idx val="1"/>
            <c:spPr>
              <a:solidFill>
                <a:srgbClr val="3F5A7E"/>
              </a:solidFill>
            </c:spPr>
          </c:dPt>
          <c:dPt>
            <c:idx val="2"/>
            <c:spPr>
              <a:solidFill>
                <a:srgbClr val="3F5A7E"/>
              </a:solidFill>
            </c:spPr>
          </c:dPt>
          <c:dPt>
            <c:idx val="3"/>
            <c:spPr>
              <a:solidFill>
                <a:srgbClr val="3F5A7E"/>
              </a:solidFill>
            </c:spPr>
          </c:dPt>
          <c:dPt>
            <c:idx val="4"/>
            <c:spPr>
              <a:solidFill>
                <a:srgbClr val="3F5A7E"/>
              </a:solidFill>
            </c:spPr>
          </c:dPt>
          <c:dPt>
            <c:idx val="5"/>
            <c:spPr>
              <a:solidFill>
                <a:srgbClr val="E87053"/>
              </a:solidFill>
            </c:spPr>
          </c:dPt>
          <c:cat>
            <c:strRef>
              <c:f>Sheet1!$A$2:$A$7</c:f>
              <c:strCache>
                <c:ptCount val="6"/>
                <c:pt idx="0">
                  <c:v>CPU, fastest config</c:v>
                </c:pt>
                <c:pt idx="1">
                  <c:v>Explicit residency</c:v>
                </c:pt>
                <c:pt idx="2">
                  <c:v>+ Actuator line on GPU</c:v>
                </c:pt>
                <c:pt idx="3">
                  <c:v>+ Chunk pipelining</c:v>
                </c:pt>
                <c:pt idx="4">
                  <c:v>+ Batching</c:v>
                </c:pt>
                <c:pt idx="5">
                  <c:v>+ CPU–GPU overlap</c:v>
                </c:pt>
              </c:strCache>
            </c:strRef>
          </c:cat>
          <c:val>
            <c:numRef>
              <c:f>Sheet1!$B$2:$B$7</c:f>
              <c:numCache>
                <c:formatCode>General</c:formatCode>
                <c:ptCount val="6"/>
                <c:pt idx="0">
                  <c:v>1.0</c:v>
                </c:pt>
                <c:pt idx="1">
                  <c:v>4.9</c:v>
                </c:pt>
                <c:pt idx="2">
                  <c:v>11.3</c:v>
                </c:pt>
                <c:pt idx="3">
                  <c:v>21.4</c:v>
                </c:pt>
                <c:pt idx="4">
                  <c:v>33.8</c:v>
                </c:pt>
                <c:pt idx="5">
                  <c:v>40.0</c:v>
                </c:pt>
              </c:numCache>
            </c:numRef>
          </c:val>
        </c:ser>
        <c:dLbls>
          <c:numFmt formatCode="0.0&quot;×&quot;" sourceLinked="0"/>
          <c:txPr>
            <a:bodyPr/>
            <a:lstStyle/>
            <a:p>
              <a:pPr>
                <a:defRPr sz="3000" b="1">
                  <a:solidFill>
                    <a:srgbClr val="2A2F30"/>
                  </a:solidFill>
                  <a:latin typeface="Gill Sans"/>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2800">
                <a:solidFill>
                  <a:srgbClr val="2A2F30"/>
                </a:solidFill>
              </a:defRPr>
            </a:pPr>
          </a:p>
        </c:txPr>
        <c:crossAx val="-2113994440"/>
        <c:crosses val="autoZero"/>
        <c:auto val="1"/>
        <c:lblAlgn val="ctr"/>
        <c:lblOffset val="100"/>
        <c:noMultiLvlLbl val="0"/>
      </c:catAx>
      <c:valAx>
        <c:axId val="-2113994440"/>
        <c:scaling>
          <c:max val="46.0"/>
          <c:min val="0.0"/>
        </c:scaling>
        <c:delete/>
        <c:axPos val="b"/>
        <c:majorTickMark val="out"/>
        <c:minorTickMark val="none"/>
        <c:tickLblPos val="nextTo"/>
        <c:crossAx val="-2068027336"/>
        <c:crosses val="autoZero"/>
      </c:valAx>
    </c:plotArea>
    <c:dispBlanksAs val="gap"/>
  </c:chart>
  <c:txPr>
    <a:bodyPr/>
    <a:lstStyle/>
    <a:p>
      <a:pPr>
        <a:defRPr sz="2800">
          <a:solidFill>
            <a:srgbClr val="2A2F30"/>
          </a:solidFill>
          <a:latin typeface="Gill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0" name="Shape 140"/>
          <p:cNvSpPr>
            <a:spLocks noGrp="1" noRot="1" noChangeAspect="1"/>
          </p:cNvSpPr>
          <p:nvPr>
            <p:ph type="sldImg"/>
          </p:nvPr>
        </p:nvSpPr>
        <p:spPr>
          <a:xfrm>
            <a:off x="1143000" y="685800"/>
            <a:ext cx="4572000" cy="3429000"/>
          </a:xfrm>
          <a:prstGeom prst="rect">
            <a:avLst/>
          </a:prstGeom>
        </p:spPr>
        <p:txBody>
          <a:bodyPr/>
          <a:lstStyle/>
          <a:p>
            <a:endParaRPr/>
          </a:p>
        </p:txBody>
      </p:sp>
      <p:sp>
        <p:nvSpPr>
          <p:cNvPr id="141" name="Shape 14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Title. This talk presents the first GPU port of LESGO, a pseudo-spectral large-eddy simulation code for wind farms.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Wake losses reduce farm output by 10 to 20 percent. LES is the standard tool, and LESGO is a widely used pseudo-spectral code for this regime. The problem: a production run of our 60-turbine case needs hundreds of thousands of steps, and the CPU code tops out at 6.48 seconds per step.</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main time loop from the paper's Algorithm 1, with minor routines elided. Five components take most of the step time. Derivatives and convection are FFT-heavy; the LASD subgrid model and the actuator-line turbines are irregular; the pressure solve couples all processes along z. The tags on the left mark which optimization later targets each routine. Every one of these routines sweeps dozens of persistent 3D arrays, so data placement matters a lot on the GPU.</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LESGO splits the domain into horizontal slabs along z. This keeps 2D FFTs local but makes the pressure solve a serial chain across processes. On Perlmutter CPU nodes, 16 to 64 cores gives only 1.08x, 128 processes run out of memory, and four nodes plateau at 6.48 seconds per step.</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Porting the computation is the easy part. Every LESGO kernel is a loop nest over x, y, and z with independent iterations, so one OpenACC parallel loop with collapse(3) offloads it. default(present) guarantees that no data is copied implicitly. FFTW calls become batched cuFFT on the same CUDA stream as the loops, so there is no host synchronization between them. The loop shown is a representative update loop, not a verbatim excerpt.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Where the data lives is the hard part. Every solver array is O(N^3), so any unnecessary host-device transfer moves a whole field. Directive-based ports usually pick one of three strategies: mirroring every array, letting CUDA managed memory migrate pages, or fine-grained explicit residency. The first two need few code changes, so we tried them first.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Mirroring works well when every kernel moves to the GPU and data only comes back for diagnostics and checkpoints. LESGO does not fit this mold. Some routines run slower on the GPU and stay on the host, so full fields cross PCIe wherever they read solver state. On the 256-cubed reference case, only 13 of 220 ms per step is GPU execution; the rest is transfers and host synchronization. The biggest item is twelve full-field syncs, 420 MB per step, although the host only reads about 5 MB. Mirroring every array also wastes device memory.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Managed memory is the least effort: one compiler flag. On the production benchmark with 16 A100s, nsys shows page faults and on-demand migration stalling execution. The figure shows the pressure solve alone taking 0.97 s per step, dominated by page faults, so the step is far slower than with explicit residency. The traffic is also invisible in the source. Both strategies fail for the same reason: after the kernels move to the GPU, the routines that stay on the host still demand full-field transfers. That leads to strategy 3.</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Our port keeps device memory as the primary copy of every field. We declare arrays device-resident at module scope and assert presence in every kernel, which exposes every coupling point. We then classify each coupling point and apply four treatments in order: gate, relocate, slice, and overlap. We move to the next only if the previous one does not apply.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table lists all nine classes we found in LESGO, what a naive port pays per step, and the treatment we apply. Most full-field transfers are either relocated to the GPU or sliced to a tiny footprint. After all treatments, steady-state PCIe traffic is 1.6 MB up and 2.0 MB down per step.</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Here is one slice in practice. The batched tridiagonal solve for all non-zero modes runs on the GPU. The DC mode needs a tiny serial recurrence that is faster on the CPU. Our first port wrapped it in full 3D transfers, three 34 MB round trips per step. Slicing moves only the 1 KB column in and out, with the exact same arithmetic.</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pressure solve gives about 590 thousand independent tridiagonal systems, each distributed across all processes. The Thomas algorithm is serial along z, so processes wait on each other. Because the systems are independent, we split them into chunks and pipeline them, and the last process turns around each chunk immediately. The inner loops are unchanged, so results match the sequential solve. This gives a 1.9x step speedup.</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Several components break into many small independent units. For the turbines, we batch the whole farm: one sampling kernel, one projection kernel, and a single packed reduction instead of over a thousand. Removing in-loop device allocations also sped up other stages by 15 to 18 percent. For the LASD model, promoting 2D scratch planes to 3D lets one batched cuFFT call filter every vertical level at once.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Blade-force evaluation actually ran slower on the GPU: only 10,800 points, and the airfoil lookups branch per point. So it stays on the CPU. Its inputs are fixed at the start of the step and its outputs are not needed until force projection. We split the turbine model into two phases around convection, so the CPU works while the GPU drains its backlog. This saves 30 ms per step and raises GPU utilization to 93 percent.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All runs use Perlmutter A100 nodes; CPU baselines use its Milan CPU nodes, and we always compare against the fastest CPU configuration. Before measuring speed, we checked correctness with matched single-turbine runs: after 1,000 steps the GPU-minus-CPU difference is at roundoff, around 1e-13.</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Each technique fixes a different bottleneck, and the gains multiply. Explicit residency alone gives 4.9x. Moving the actuator line to the GPU adds 2.3x, pipelining 1.9x, batching 1.6x, and overlap the final 1.2x, for 40x overall. The final profile shows the GPU busy 93 percent of the time and only a few MB of PCIe traffic per step: no O(N^3) transfers remain.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Strong scaling at three grid sizes. On the production grid, 64 GPUs reach 0.072 s per step, 90x the best CPU run. Efficiency stays around 87 to 90 percent per doubling. The stage breakdown shows compute stages shrinking, pressure scaling superlinearly as the pipeline deepens, and a roughly constant 'Other' floor from latency-bound collectives and kernel launches.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At the production load of 29.5 million cells per GPU, weak scaling keeps 90 percent efficiency out to 64 GPUs. The roofline shows the main kernels sitting on the bandwidth roof: custom field kernels reach 67 to 88 percent of peak DRAM bandwidth. The remaining gap is inside cuFFT library kernels. The 1D slab layout is enough for this physics, since grid size is set by turbulence scales, not domain size.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To wrap up: this is the first GPU port of LESGO. The key lesson is that for this class of solver, data movement, not kernel speed, sets performance, and a small set of treatments covers every coupling point. With three further optimizations, we get 40 to 90x over the best CPU runs, which turns months-long production campaigns into days. The code will be open-sourced.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tif"/><Relationship Id="rId6" Type="http://schemas.openxmlformats.org/officeDocument/2006/relationships/image" Target="../media/image8.tif"/><Relationship Id="rId7" Type="http://schemas.openxmlformats.org/officeDocument/2006/relationships/image" Target="../media/image9.tif"/><Relationship Id="rId8"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pic>
        <p:nvPicPr>
          <p:cNvPr id="17" name="Screen Shot 2019-08-20 at 10.14.44 PM.png" descr="Screen Shot 2019-08-20 at 10.14.44 PM.png"/>
          <p:cNvPicPr>
            <a:picLocks noChangeAspect="1"/>
          </p:cNvPicPr>
          <p:nvPr/>
        </p:nvPicPr>
        <p:blipFill>
          <a:blip r:embed="rId2"/>
          <a:stretch>
            <a:fillRect/>
          </a:stretch>
        </p:blipFill>
        <p:spPr>
          <a:xfrm>
            <a:off x="0" y="0"/>
            <a:ext cx="24384000" cy="13721166"/>
          </a:xfrm>
          <a:prstGeom prst="rect">
            <a:avLst/>
          </a:prstGeom>
          <a:ln w="12700">
            <a:miter lim="400000"/>
          </a:ln>
        </p:spPr>
      </p:pic>
      <p:sp>
        <p:nvSpPr>
          <p:cNvPr id="18" name="Rectangle"/>
          <p:cNvSpPr/>
          <p:nvPr/>
        </p:nvSpPr>
        <p:spPr>
          <a:xfrm>
            <a:off x="0" y="4609703"/>
            <a:ext cx="24384000" cy="4013994"/>
          </a:xfrm>
          <a:prstGeom prst="rect">
            <a:avLst/>
          </a:prstGeom>
          <a:solidFill>
            <a:srgbClr val="FFFFFF"/>
          </a:solidFill>
          <a:ln w="12700">
            <a:miter lim="400000"/>
          </a:ln>
        </p:spPr>
        <p:txBody>
          <a:bodyPr lIns="0" tIns="0" rIns="0" bIns="0" anchor="ctr"/>
          <a:lstStyle/>
          <a:p>
            <a:pPr>
              <a:defRPr sz="11200" b="0">
                <a:solidFill>
                  <a:srgbClr val="C30A29"/>
                </a:solidFill>
                <a:latin typeface="+mn-lt"/>
                <a:ea typeface="+mn-ea"/>
                <a:cs typeface="+mn-cs"/>
                <a:sym typeface="Helvetica Neue Medium"/>
              </a:defRPr>
            </a:pPr>
            <a:endParaRPr/>
          </a:p>
        </p:txBody>
      </p:sp>
      <p:sp>
        <p:nvSpPr>
          <p:cNvPr id="19" name="Title Text"/>
          <p:cNvSpPr txBox="1">
            <a:spLocks noGrp="1"/>
          </p:cNvSpPr>
          <p:nvPr>
            <p:ph type="title"/>
          </p:nvPr>
        </p:nvSpPr>
        <p:spPr>
          <a:xfrm>
            <a:off x="1270000" y="4961599"/>
            <a:ext cx="21844000" cy="2188502"/>
          </a:xfrm>
          <a:prstGeom prst="rect">
            <a:avLst/>
          </a:prstGeom>
        </p:spPr>
        <p:txBody>
          <a:bodyPr anchor="b"/>
          <a:lstStyle>
            <a:lvl1pPr algn="ctr">
              <a:defRPr>
                <a:solidFill>
                  <a:srgbClr val="35798B"/>
                </a:solidFill>
              </a:defRPr>
            </a:lvl1pPr>
          </a:lstStyle>
          <a:p>
            <a:r>
              <a:t>Title Text</a:t>
            </a:r>
          </a:p>
        </p:txBody>
      </p:sp>
      <p:sp>
        <p:nvSpPr>
          <p:cNvPr id="20" name="Body Level One…"/>
          <p:cNvSpPr txBox="1">
            <a:spLocks noGrp="1"/>
          </p:cNvSpPr>
          <p:nvPr>
            <p:ph type="body" sz="quarter" idx="1"/>
          </p:nvPr>
        </p:nvSpPr>
        <p:spPr>
          <a:xfrm>
            <a:off x="1270000" y="7086600"/>
            <a:ext cx="21844000" cy="2877389"/>
          </a:xfrm>
          <a:prstGeom prst="rect">
            <a:avLst/>
          </a:prstGeom>
        </p:spPr>
        <p:txBody>
          <a:bodyPr anchor="t"/>
          <a:lstStyle>
            <a:lvl1pPr marL="0" indent="0" algn="ctr">
              <a:spcBef>
                <a:spcPts val="0"/>
              </a:spcBef>
              <a:buClrTx/>
              <a:buSzTx/>
              <a:buNone/>
              <a:defRPr sz="4400">
                <a:solidFill>
                  <a:srgbClr val="000000"/>
                </a:solidFill>
                <a:latin typeface="DIN Alternate Bold"/>
                <a:ea typeface="DIN Alternate Bold"/>
                <a:cs typeface="DIN Alternate Bold"/>
                <a:sym typeface="DIN Alternate Bold"/>
              </a:defRPr>
            </a:lvl1pPr>
            <a:lvl2pPr marL="0" indent="0" algn="ctr">
              <a:spcBef>
                <a:spcPts val="0"/>
              </a:spcBef>
              <a:buClrTx/>
              <a:buSzTx/>
              <a:buNone/>
              <a:defRPr sz="4400">
                <a:solidFill>
                  <a:srgbClr val="000000"/>
                </a:solidFill>
                <a:latin typeface="DIN Alternate Bold"/>
                <a:ea typeface="DIN Alternate Bold"/>
                <a:cs typeface="DIN Alternate Bold"/>
                <a:sym typeface="DIN Alternate Bold"/>
              </a:defRPr>
            </a:lvl2pPr>
            <a:lvl3pPr marL="0" indent="0" algn="ctr">
              <a:spcBef>
                <a:spcPts val="0"/>
              </a:spcBef>
              <a:buClrTx/>
              <a:buSzTx/>
              <a:buNone/>
              <a:defRPr sz="4400">
                <a:solidFill>
                  <a:srgbClr val="000000"/>
                </a:solidFill>
                <a:latin typeface="DIN Alternate Bold"/>
                <a:ea typeface="DIN Alternate Bold"/>
                <a:cs typeface="DIN Alternate Bold"/>
                <a:sym typeface="DIN Alternate Bold"/>
              </a:defRPr>
            </a:lvl3pPr>
            <a:lvl4pPr marL="0" indent="0" algn="ctr">
              <a:spcBef>
                <a:spcPts val="0"/>
              </a:spcBef>
              <a:buClrTx/>
              <a:buSzTx/>
              <a:buNone/>
              <a:defRPr sz="4400">
                <a:solidFill>
                  <a:srgbClr val="000000"/>
                </a:solidFill>
                <a:latin typeface="DIN Alternate Bold"/>
                <a:ea typeface="DIN Alternate Bold"/>
                <a:cs typeface="DIN Alternate Bold"/>
                <a:sym typeface="DIN Alternate Bold"/>
              </a:defRPr>
            </a:lvl4pPr>
            <a:lvl5pPr marL="0" indent="0" algn="ctr">
              <a:spcBef>
                <a:spcPts val="0"/>
              </a:spcBef>
              <a:buClrTx/>
              <a:buSzTx/>
              <a:buNone/>
              <a:defRPr sz="4400">
                <a:solidFill>
                  <a:srgbClr val="000000"/>
                </a:solidFill>
                <a:latin typeface="DIN Alternate Bold"/>
                <a:ea typeface="DIN Alternate Bold"/>
                <a:cs typeface="DIN Alternate Bold"/>
                <a:sym typeface="DIN Alternate Bold"/>
              </a:defRPr>
            </a:lvl5pPr>
          </a:lstStyle>
          <a:p>
            <a:r>
              <a:t>Body Level One</a:t>
            </a:r>
          </a:p>
          <a:p>
            <a:pPr lvl="1"/>
            <a:r>
              <a:t>Body Level Two</a:t>
            </a:r>
          </a:p>
          <a:p>
            <a:pPr lvl="2"/>
            <a:r>
              <a:t>Body Level Three</a:t>
            </a:r>
          </a:p>
          <a:p>
            <a:pPr lvl="3"/>
            <a:r>
              <a:t>Body Level Four</a:t>
            </a:r>
          </a:p>
          <a:p>
            <a:pPr lvl="4"/>
            <a:r>
              <a:t>Body Level Five</a:t>
            </a:r>
          </a:p>
        </p:txBody>
      </p:sp>
      <p:pic>
        <p:nvPicPr>
          <p:cNvPr id="21" name="Image" descr="Image"/>
          <p:cNvPicPr>
            <a:picLocks noChangeAspect="1"/>
          </p:cNvPicPr>
          <p:nvPr/>
        </p:nvPicPr>
        <p:blipFill>
          <a:blip r:embed="rId3"/>
          <a:stretch>
            <a:fillRect/>
          </a:stretch>
        </p:blipFill>
        <p:spPr>
          <a:xfrm>
            <a:off x="17754600" y="11889448"/>
            <a:ext cx="6475565" cy="2188502"/>
          </a:xfrm>
          <a:prstGeom prst="rect">
            <a:avLst/>
          </a:prstGeom>
          <a:ln w="12700">
            <a:miter lim="400000"/>
          </a:ln>
        </p:spPr>
      </p:pic>
      <p:pic>
        <p:nvPicPr>
          <p:cNvPr id="22" name="PSSG_Square_HorizText.png" descr="PSSG_Square_HorizText.png"/>
          <p:cNvPicPr>
            <a:picLocks noChangeAspect="1"/>
          </p:cNvPicPr>
          <p:nvPr/>
        </p:nvPicPr>
        <p:blipFill>
          <a:blip r:embed="rId4"/>
          <a:stretch>
            <a:fillRect/>
          </a:stretch>
        </p:blipFill>
        <p:spPr>
          <a:xfrm>
            <a:off x="50800" y="9472761"/>
            <a:ext cx="7406829" cy="7406829"/>
          </a:xfrm>
          <a:prstGeom prst="rect">
            <a:avLst/>
          </a:prstGeom>
          <a:ln w="12700">
            <a:miter lim="400000"/>
          </a:ln>
        </p:spPr>
      </p:pic>
      <p:sp>
        <p:nvSpPr>
          <p:cNvPr id="23"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30" name="Title Text"/>
          <p:cNvSpPr txBox="1">
            <a:spLocks noGrp="1"/>
          </p:cNvSpPr>
          <p:nvPr>
            <p:ph type="title"/>
          </p:nvPr>
        </p:nvSpPr>
        <p:spPr>
          <a:prstGeom prst="rect">
            <a:avLst/>
          </a:prstGeom>
        </p:spPr>
        <p:txBody>
          <a:bodyPr/>
          <a:lstStyle/>
          <a:p>
            <a:r>
              <a:t>Title Text</a:t>
            </a:r>
          </a:p>
        </p:txBody>
      </p:sp>
      <p:sp>
        <p:nvSpPr>
          <p:cNvPr id="3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pic>
        <p:nvPicPr>
          <p:cNvPr id="39" name="Screen Shot 2019-08-20 at 10.14.44 PM.png" descr="Screen Shot 2019-08-20 at 10.14.44 PM.png"/>
          <p:cNvPicPr>
            <a:picLocks noChangeAspect="1"/>
          </p:cNvPicPr>
          <p:nvPr/>
        </p:nvPicPr>
        <p:blipFill>
          <a:blip r:embed="rId2"/>
          <a:stretch>
            <a:fillRect/>
          </a:stretch>
        </p:blipFill>
        <p:spPr>
          <a:xfrm>
            <a:off x="7315200" y="0"/>
            <a:ext cx="24384000" cy="13721166"/>
          </a:xfrm>
          <a:prstGeom prst="rect">
            <a:avLst/>
          </a:prstGeom>
          <a:ln w="12700">
            <a:miter lim="400000"/>
          </a:ln>
        </p:spPr>
      </p:pic>
      <p:sp>
        <p:nvSpPr>
          <p:cNvPr id="40" name="Rectangle"/>
          <p:cNvSpPr/>
          <p:nvPr/>
        </p:nvSpPr>
        <p:spPr>
          <a:xfrm>
            <a:off x="0" y="0"/>
            <a:ext cx="14605000" cy="13716000"/>
          </a:xfrm>
          <a:prstGeom prst="rect">
            <a:avLst/>
          </a:prstGeom>
          <a:solidFill>
            <a:srgbClr val="3F5A7E"/>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
        <p:nvSpPr>
          <p:cNvPr id="41" name="Abhinav Bhatele…"/>
          <p:cNvSpPr txBox="1"/>
          <p:nvPr/>
        </p:nvSpPr>
        <p:spPr>
          <a:xfrm>
            <a:off x="141126" y="10572749"/>
            <a:ext cx="14322748" cy="3035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50000"/>
              </a:lnSpc>
              <a:defRPr sz="3600" b="0">
                <a:solidFill>
                  <a:srgbClr val="FFFFFF"/>
                </a:solidFill>
                <a:latin typeface="DIN Alternate Bold"/>
                <a:ea typeface="DIN Alternate Bold"/>
                <a:cs typeface="DIN Alternate Bold"/>
                <a:sym typeface="DIN Alternate Bold"/>
              </a:defRPr>
            </a:pPr>
            <a:r>
              <a:t>Abhinav Bhatele</a:t>
            </a:r>
          </a:p>
          <a:p>
            <a:pPr>
              <a:lnSpc>
                <a:spcPct val="150000"/>
              </a:lnSpc>
              <a:defRPr sz="3600" b="0">
                <a:solidFill>
                  <a:srgbClr val="FFFFFF"/>
                </a:solidFill>
                <a:latin typeface="DIN Alternate Bold"/>
                <a:ea typeface="DIN Alternate Bold"/>
                <a:cs typeface="DIN Alternate Bold"/>
                <a:sym typeface="DIN Alternate Bold"/>
              </a:defRPr>
            </a:pPr>
            <a:r>
              <a:t>Parallel Software and Systems Group </a:t>
            </a:r>
          </a:p>
          <a:p>
            <a:pPr>
              <a:lnSpc>
                <a:spcPct val="150000"/>
              </a:lnSpc>
              <a:defRPr sz="3600" b="0">
                <a:solidFill>
                  <a:srgbClr val="FFFFFF"/>
                </a:solidFill>
                <a:latin typeface="DIN Alternate Bold"/>
                <a:ea typeface="DIN Alternate Bold"/>
                <a:cs typeface="DIN Alternate Bold"/>
                <a:sym typeface="DIN Alternate Bold"/>
              </a:defRPr>
            </a:pPr>
            <a:r>
              <a:t>5218 Brendan Iribe Center (IRB) / College Park, MD 20742</a:t>
            </a:r>
          </a:p>
          <a:p>
            <a:pPr>
              <a:lnSpc>
                <a:spcPct val="150000"/>
              </a:lnSpc>
              <a:defRPr sz="3600" b="0">
                <a:solidFill>
                  <a:srgbClr val="FFFFFF"/>
                </a:solidFill>
                <a:latin typeface="DIN Alternate Bold"/>
                <a:ea typeface="DIN Alternate Bold"/>
                <a:cs typeface="DIN Alternate Bold"/>
                <a:sym typeface="DIN Alternate Bold"/>
              </a:defRPr>
            </a:pPr>
            <a:r>
              <a:t>phone: 301.405.4507 / e-mail: bhatele@cs.umd.edu</a:t>
            </a:r>
          </a:p>
        </p:txBody>
      </p:sp>
      <p:pic>
        <p:nvPicPr>
          <p:cNvPr id="42" name="Image" descr="Image"/>
          <p:cNvPicPr>
            <a:picLocks noChangeAspect="1"/>
          </p:cNvPicPr>
          <p:nvPr/>
        </p:nvPicPr>
        <p:blipFill>
          <a:blip r:embed="rId3"/>
          <a:stretch>
            <a:fillRect/>
          </a:stretch>
        </p:blipFill>
        <p:spPr>
          <a:xfrm>
            <a:off x="15106650" y="11216828"/>
            <a:ext cx="2315022" cy="2315022"/>
          </a:xfrm>
          <a:prstGeom prst="rect">
            <a:avLst/>
          </a:prstGeom>
          <a:ln w="12700">
            <a:miter lim="400000"/>
          </a:ln>
        </p:spPr>
      </p:pic>
      <p:pic>
        <p:nvPicPr>
          <p:cNvPr id="43" name="PSSG_Square_NoText.png" descr="PSSG_Square_NoText.png"/>
          <p:cNvPicPr>
            <a:picLocks noChangeAspect="1"/>
          </p:cNvPicPr>
          <p:nvPr/>
        </p:nvPicPr>
        <p:blipFill>
          <a:blip r:embed="rId4"/>
          <a:stretch>
            <a:fillRect/>
          </a:stretch>
        </p:blipFill>
        <p:spPr>
          <a:xfrm>
            <a:off x="21725160" y="11156652"/>
            <a:ext cx="2435375" cy="2435375"/>
          </a:xfrm>
          <a:prstGeom prst="rect">
            <a:avLst/>
          </a:prstGeom>
          <a:ln w="12700">
            <a:miter lim="400000"/>
          </a:ln>
        </p:spPr>
      </p:pic>
      <p:pic>
        <p:nvPicPr>
          <p:cNvPr id="44" name="Image" descr="Image"/>
          <p:cNvPicPr>
            <a:picLocks noChangeAspect="1"/>
          </p:cNvPicPr>
          <p:nvPr/>
        </p:nvPicPr>
        <p:blipFill>
          <a:blip r:embed="rId5"/>
          <a:stretch>
            <a:fillRect/>
          </a:stretch>
        </p:blipFill>
        <p:spPr>
          <a:xfrm>
            <a:off x="15214376" y="3510260"/>
            <a:ext cx="1016001" cy="1016001"/>
          </a:xfrm>
          <a:prstGeom prst="rect">
            <a:avLst/>
          </a:prstGeom>
          <a:ln w="12700">
            <a:miter lim="400000"/>
          </a:ln>
        </p:spPr>
      </p:pic>
      <p:pic>
        <p:nvPicPr>
          <p:cNvPr id="45" name="Image" descr="Image"/>
          <p:cNvPicPr>
            <a:picLocks noChangeAspect="1"/>
          </p:cNvPicPr>
          <p:nvPr/>
        </p:nvPicPr>
        <p:blipFill>
          <a:blip r:embed="rId6"/>
          <a:stretch>
            <a:fillRect/>
          </a:stretch>
        </p:blipFill>
        <p:spPr>
          <a:xfrm>
            <a:off x="15214376" y="1035050"/>
            <a:ext cx="1016001" cy="1016000"/>
          </a:xfrm>
          <a:prstGeom prst="rect">
            <a:avLst/>
          </a:prstGeom>
          <a:ln w="12700">
            <a:miter lim="400000"/>
          </a:ln>
        </p:spPr>
      </p:pic>
      <p:pic>
        <p:nvPicPr>
          <p:cNvPr id="46" name="Image" descr="Image"/>
          <p:cNvPicPr>
            <a:picLocks noChangeAspect="1"/>
          </p:cNvPicPr>
          <p:nvPr/>
        </p:nvPicPr>
        <p:blipFill>
          <a:blip r:embed="rId7"/>
          <a:stretch>
            <a:fillRect/>
          </a:stretch>
        </p:blipFill>
        <p:spPr>
          <a:xfrm>
            <a:off x="15214376" y="2272655"/>
            <a:ext cx="1016001" cy="1016001"/>
          </a:xfrm>
          <a:prstGeom prst="rect">
            <a:avLst/>
          </a:prstGeom>
          <a:ln w="12700">
            <a:miter lim="400000"/>
          </a:ln>
        </p:spPr>
      </p:pic>
      <p:sp>
        <p:nvSpPr>
          <p:cNvPr id="47" name="github.com/hpcgroup"/>
          <p:cNvSpPr txBox="1"/>
          <p:nvPr/>
        </p:nvSpPr>
        <p:spPr>
          <a:xfrm>
            <a:off x="16624299" y="1136650"/>
            <a:ext cx="5567066" cy="812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800" b="0">
                <a:latin typeface="DIN Alternate Bold"/>
                <a:ea typeface="DIN Alternate Bold"/>
                <a:cs typeface="DIN Alternate Bold"/>
                <a:sym typeface="DIN Alternate Bold"/>
              </a:defRPr>
            </a:lvl1pPr>
          </a:lstStyle>
          <a:p>
            <a:r>
              <a:t>github.com/hpcgroup</a:t>
            </a:r>
          </a:p>
        </p:txBody>
      </p:sp>
      <p:sp>
        <p:nvSpPr>
          <p:cNvPr id="48" name="youtube.com/@hpc_group"/>
          <p:cNvSpPr txBox="1"/>
          <p:nvPr/>
        </p:nvSpPr>
        <p:spPr>
          <a:xfrm>
            <a:off x="16628467" y="2374255"/>
            <a:ext cx="6773466" cy="812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800" b="0">
                <a:latin typeface="DIN Alternate Bold"/>
                <a:ea typeface="DIN Alternate Bold"/>
                <a:cs typeface="DIN Alternate Bold"/>
                <a:sym typeface="DIN Alternate Bold"/>
              </a:defRPr>
            </a:lvl1pPr>
          </a:lstStyle>
          <a:p>
            <a:r>
              <a:t>youtube.com/@hpc_group</a:t>
            </a:r>
          </a:p>
        </p:txBody>
      </p:sp>
      <p:sp>
        <p:nvSpPr>
          <p:cNvPr id="49" name="x.com/hpc_group"/>
          <p:cNvSpPr txBox="1"/>
          <p:nvPr/>
        </p:nvSpPr>
        <p:spPr>
          <a:xfrm>
            <a:off x="16624299" y="3611860"/>
            <a:ext cx="4561286" cy="812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800" b="0">
                <a:latin typeface="DIN Alternate Bold"/>
                <a:ea typeface="DIN Alternate Bold"/>
                <a:cs typeface="DIN Alternate Bold"/>
                <a:sym typeface="DIN Alternate Bold"/>
              </a:defRPr>
            </a:lvl1pPr>
          </a:lstStyle>
          <a:p>
            <a:r>
              <a:t>x.com/hpc_group</a:t>
            </a:r>
          </a:p>
        </p:txBody>
      </p:sp>
      <p:sp>
        <p:nvSpPr>
          <p:cNvPr id="50" name="Rectangle"/>
          <p:cNvSpPr/>
          <p:nvPr/>
        </p:nvSpPr>
        <p:spPr>
          <a:xfrm>
            <a:off x="14605000" y="0"/>
            <a:ext cx="190500" cy="13716000"/>
          </a:xfrm>
          <a:prstGeom prst="rect">
            <a:avLst/>
          </a:prstGeom>
          <a:solidFill>
            <a:srgbClr val="E87053"/>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
        <p:nvSpPr>
          <p:cNvPr id="51" name="pssg.cs.umd.edu"/>
          <p:cNvSpPr txBox="1"/>
          <p:nvPr/>
        </p:nvSpPr>
        <p:spPr>
          <a:xfrm>
            <a:off x="17284303" y="5275560"/>
            <a:ext cx="4445794" cy="812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800" b="0">
                <a:latin typeface="DIN Alternate Bold"/>
                <a:ea typeface="DIN Alternate Bold"/>
                <a:cs typeface="DIN Alternate Bold"/>
                <a:sym typeface="DIN Alternate Bold"/>
              </a:defRPr>
            </a:lvl1pPr>
          </a:lstStyle>
          <a:p>
            <a:r>
              <a:t>pssg.cs.umd.edu</a:t>
            </a:r>
          </a:p>
        </p:txBody>
      </p:sp>
      <p:pic>
        <p:nvPicPr>
          <p:cNvPr id="52" name="qr-code-2.png" descr="qr-code-2.png"/>
          <p:cNvPicPr>
            <a:picLocks noChangeAspect="1"/>
          </p:cNvPicPr>
          <p:nvPr/>
        </p:nvPicPr>
        <p:blipFill>
          <a:blip r:embed="rId8"/>
          <a:stretch>
            <a:fillRect/>
          </a:stretch>
        </p:blipFill>
        <p:spPr>
          <a:xfrm>
            <a:off x="17094200" y="6201494"/>
            <a:ext cx="4826000" cy="4826001"/>
          </a:xfrm>
          <a:prstGeom prst="rect">
            <a:avLst/>
          </a:prstGeom>
          <a:ln w="12700">
            <a:miter lim="400000"/>
          </a:ln>
        </p:spPr>
      </p:pic>
      <p:sp>
        <p:nvSpPr>
          <p:cNvPr id="53"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Photo - Horizontal">
    <p:spTree>
      <p:nvGrpSpPr>
        <p:cNvPr id="1" name=""/>
        <p:cNvGrpSpPr/>
        <p:nvPr/>
      </p:nvGrpSpPr>
      <p:grpSpPr>
        <a:xfrm>
          <a:off x="0" y="0"/>
          <a:ext cx="0" cy="0"/>
          <a:chOff x="0" y="0"/>
          <a:chExt cx="0" cy="0"/>
        </a:xfrm>
      </p:grpSpPr>
      <p:sp>
        <p:nvSpPr>
          <p:cNvPr id="60" name="Image"/>
          <p:cNvSpPr>
            <a:spLocks noGrp="1"/>
          </p:cNvSpPr>
          <p:nvPr>
            <p:ph type="pic" idx="21"/>
          </p:nvPr>
        </p:nvSpPr>
        <p:spPr>
          <a:xfrm>
            <a:off x="3124200" y="-38100"/>
            <a:ext cx="18135600" cy="12096698"/>
          </a:xfrm>
          <a:prstGeom prst="rect">
            <a:avLst/>
          </a:prstGeom>
        </p:spPr>
        <p:txBody>
          <a:bodyPr lIns="91439" tIns="45719" rIns="91439" bIns="45719" anchor="t">
            <a:noAutofit/>
          </a:bodyPr>
          <a:lstStyle/>
          <a:p>
            <a:endParaRPr/>
          </a:p>
        </p:txBody>
      </p:sp>
      <p:sp>
        <p:nvSpPr>
          <p:cNvPr id="61" name="Title Text"/>
          <p:cNvSpPr txBox="1">
            <a:spLocks noGrp="1"/>
          </p:cNvSpPr>
          <p:nvPr>
            <p:ph type="title"/>
          </p:nvPr>
        </p:nvSpPr>
        <p:spPr>
          <a:xfrm>
            <a:off x="635000" y="9512300"/>
            <a:ext cx="23114000" cy="2006600"/>
          </a:xfrm>
          <a:prstGeom prst="rect">
            <a:avLst/>
          </a:prstGeom>
        </p:spPr>
        <p:txBody>
          <a:bodyPr anchor="b"/>
          <a:lstStyle>
            <a:lvl1pPr algn="ctr">
              <a:defRPr sz="11200" b="0">
                <a:solidFill>
                  <a:srgbClr val="000000"/>
                </a:solidFill>
                <a:latin typeface="+mn-lt"/>
                <a:ea typeface="+mn-ea"/>
                <a:cs typeface="+mn-cs"/>
                <a:sym typeface="Helvetica Neue Medium"/>
              </a:defRPr>
            </a:lvl1pPr>
          </a:lstStyle>
          <a:p>
            <a:r>
              <a:t>Title Text</a:t>
            </a:r>
          </a:p>
        </p:txBody>
      </p:sp>
      <p:sp>
        <p:nvSpPr>
          <p:cNvPr id="62" name="Body Level One…"/>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ClrTx/>
              <a:buSzTx/>
              <a:buNone/>
              <a:defRPr sz="5400">
                <a:solidFill>
                  <a:srgbClr val="000000"/>
                </a:solidFill>
                <a:latin typeface="Helvetica Neue"/>
                <a:ea typeface="Helvetica Neue"/>
                <a:cs typeface="Helvetica Neue"/>
                <a:sym typeface="Helvetica Neue"/>
              </a:defRPr>
            </a:lvl1pPr>
            <a:lvl2pPr marL="0" indent="0" algn="ctr">
              <a:spcBef>
                <a:spcPts val="0"/>
              </a:spcBef>
              <a:buClrTx/>
              <a:buSzTx/>
              <a:buNone/>
              <a:defRPr sz="5400">
                <a:solidFill>
                  <a:srgbClr val="000000"/>
                </a:solidFill>
                <a:latin typeface="Helvetica Neue"/>
                <a:ea typeface="Helvetica Neue"/>
                <a:cs typeface="Helvetica Neue"/>
                <a:sym typeface="Helvetica Neue"/>
              </a:defRPr>
            </a:lvl2pPr>
            <a:lvl3pPr marL="0" indent="0" algn="ctr">
              <a:spcBef>
                <a:spcPts val="0"/>
              </a:spcBef>
              <a:buClrTx/>
              <a:buSzTx/>
              <a:buNone/>
              <a:defRPr sz="5400">
                <a:solidFill>
                  <a:srgbClr val="000000"/>
                </a:solidFill>
                <a:latin typeface="Helvetica Neue"/>
                <a:ea typeface="Helvetica Neue"/>
                <a:cs typeface="Helvetica Neue"/>
                <a:sym typeface="Helvetica Neue"/>
              </a:defRPr>
            </a:lvl3pPr>
            <a:lvl4pPr marL="0" indent="0" algn="ctr">
              <a:spcBef>
                <a:spcPts val="0"/>
              </a:spcBef>
              <a:buClrTx/>
              <a:buSzTx/>
              <a:buNone/>
              <a:defRPr sz="5400">
                <a:solidFill>
                  <a:srgbClr val="000000"/>
                </a:solidFill>
                <a:latin typeface="Helvetica Neue"/>
                <a:ea typeface="Helvetica Neue"/>
                <a:cs typeface="Helvetica Neue"/>
                <a:sym typeface="Helvetica Neue"/>
              </a:defRPr>
            </a:lvl4pPr>
            <a:lvl5pPr marL="0" indent="0" algn="ctr">
              <a:spcBef>
                <a:spcPts val="0"/>
              </a:spcBef>
              <a:buClrTx/>
              <a:buSzTx/>
              <a:buNone/>
              <a:defRPr sz="5400">
                <a:solidFill>
                  <a:srgbClr val="000000"/>
                </a:solidFill>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63"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0" name="Title Text"/>
          <p:cNvSpPr txBox="1">
            <a:spLocks noGrp="1"/>
          </p:cNvSpPr>
          <p:nvPr>
            <p:ph type="title"/>
          </p:nvPr>
        </p:nvSpPr>
        <p:spPr>
          <a:xfrm>
            <a:off x="1778000" y="4533900"/>
            <a:ext cx="20828000" cy="4648200"/>
          </a:xfrm>
          <a:prstGeom prst="rect">
            <a:avLst/>
          </a:prstGeom>
        </p:spPr>
        <p:txBody>
          <a:bodyPr/>
          <a:lstStyle>
            <a:lvl1pPr algn="ctr">
              <a:defRPr sz="11200" b="0">
                <a:solidFill>
                  <a:srgbClr val="000000"/>
                </a:solidFill>
                <a:latin typeface="+mn-lt"/>
                <a:ea typeface="+mn-ea"/>
                <a:cs typeface="+mn-cs"/>
                <a:sym typeface="Helvetica Neue Medium"/>
              </a:defRPr>
            </a:lvl1pPr>
          </a:lstStyle>
          <a:p>
            <a:r>
              <a:t>Title Text</a:t>
            </a:r>
          </a:p>
        </p:txBody>
      </p:sp>
      <p:sp>
        <p:nvSpPr>
          <p:cNvPr id="71"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Photo - Vertical">
    <p:spTree>
      <p:nvGrpSpPr>
        <p:cNvPr id="1" name=""/>
        <p:cNvGrpSpPr/>
        <p:nvPr/>
      </p:nvGrpSpPr>
      <p:grpSpPr>
        <a:xfrm>
          <a:off x="0" y="0"/>
          <a:ext cx="0" cy="0"/>
          <a:chOff x="0" y="0"/>
          <a:chExt cx="0" cy="0"/>
        </a:xfrm>
      </p:grpSpPr>
      <p:sp>
        <p:nvSpPr>
          <p:cNvPr id="78" name="Image"/>
          <p:cNvSpPr>
            <a:spLocks noGrp="1"/>
          </p:cNvSpPr>
          <p:nvPr>
            <p:ph type="pic" idx="21"/>
          </p:nvPr>
        </p:nvSpPr>
        <p:spPr>
          <a:xfrm>
            <a:off x="7950200" y="1104900"/>
            <a:ext cx="17259302" cy="11506201"/>
          </a:xfrm>
          <a:prstGeom prst="rect">
            <a:avLst/>
          </a:prstGeom>
        </p:spPr>
        <p:txBody>
          <a:bodyPr lIns="91439" tIns="45719" rIns="91439" bIns="45719" anchor="t">
            <a:noAutofit/>
          </a:bodyPr>
          <a:lstStyle/>
          <a:p>
            <a:endParaRPr/>
          </a:p>
        </p:txBody>
      </p:sp>
      <p:sp>
        <p:nvSpPr>
          <p:cNvPr id="79" name="Title Text"/>
          <p:cNvSpPr txBox="1">
            <a:spLocks noGrp="1"/>
          </p:cNvSpPr>
          <p:nvPr>
            <p:ph type="title"/>
          </p:nvPr>
        </p:nvSpPr>
        <p:spPr>
          <a:xfrm>
            <a:off x="1651000" y="952500"/>
            <a:ext cx="10223500" cy="5549900"/>
          </a:xfrm>
          <a:prstGeom prst="rect">
            <a:avLst/>
          </a:prstGeom>
        </p:spPr>
        <p:txBody>
          <a:bodyPr anchor="b"/>
          <a:lstStyle>
            <a:lvl1pPr algn="ctr">
              <a:defRPr sz="8400" b="0">
                <a:solidFill>
                  <a:srgbClr val="000000"/>
                </a:solidFill>
                <a:latin typeface="+mn-lt"/>
                <a:ea typeface="+mn-ea"/>
                <a:cs typeface="+mn-cs"/>
                <a:sym typeface="Helvetica Neue Medium"/>
              </a:defRPr>
            </a:lvl1pPr>
          </a:lstStyle>
          <a:p>
            <a:r>
              <a:t>Title Text</a:t>
            </a:r>
          </a:p>
        </p:txBody>
      </p:sp>
      <p:sp>
        <p:nvSpPr>
          <p:cNvPr id="80" name="Body Level One…"/>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ClrTx/>
              <a:buSzTx/>
              <a:buNone/>
              <a:defRPr sz="5400">
                <a:solidFill>
                  <a:srgbClr val="000000"/>
                </a:solidFill>
                <a:latin typeface="Helvetica Neue"/>
                <a:ea typeface="Helvetica Neue"/>
                <a:cs typeface="Helvetica Neue"/>
                <a:sym typeface="Helvetica Neue"/>
              </a:defRPr>
            </a:lvl1pPr>
            <a:lvl2pPr marL="0" indent="0" algn="ctr">
              <a:spcBef>
                <a:spcPts val="0"/>
              </a:spcBef>
              <a:buClrTx/>
              <a:buSzTx/>
              <a:buNone/>
              <a:defRPr sz="5400">
                <a:solidFill>
                  <a:srgbClr val="000000"/>
                </a:solidFill>
                <a:latin typeface="Helvetica Neue"/>
                <a:ea typeface="Helvetica Neue"/>
                <a:cs typeface="Helvetica Neue"/>
                <a:sym typeface="Helvetica Neue"/>
              </a:defRPr>
            </a:lvl2pPr>
            <a:lvl3pPr marL="0" indent="0" algn="ctr">
              <a:spcBef>
                <a:spcPts val="0"/>
              </a:spcBef>
              <a:buClrTx/>
              <a:buSzTx/>
              <a:buNone/>
              <a:defRPr sz="5400">
                <a:solidFill>
                  <a:srgbClr val="000000"/>
                </a:solidFill>
                <a:latin typeface="Helvetica Neue"/>
                <a:ea typeface="Helvetica Neue"/>
                <a:cs typeface="Helvetica Neue"/>
                <a:sym typeface="Helvetica Neue"/>
              </a:defRPr>
            </a:lvl3pPr>
            <a:lvl4pPr marL="0" indent="0" algn="ctr">
              <a:spcBef>
                <a:spcPts val="0"/>
              </a:spcBef>
              <a:buClrTx/>
              <a:buSzTx/>
              <a:buNone/>
              <a:defRPr sz="5400">
                <a:solidFill>
                  <a:srgbClr val="000000"/>
                </a:solidFill>
                <a:latin typeface="Helvetica Neue"/>
                <a:ea typeface="Helvetica Neue"/>
                <a:cs typeface="Helvetica Neue"/>
                <a:sym typeface="Helvetica Neue"/>
              </a:defRPr>
            </a:lvl4pPr>
            <a:lvl5pPr marL="0" indent="0" algn="ctr">
              <a:spcBef>
                <a:spcPts val="0"/>
              </a:spcBef>
              <a:buClrTx/>
              <a:buSzTx/>
              <a:buNone/>
              <a:defRPr sz="5400">
                <a:solidFill>
                  <a:srgbClr val="000000"/>
                </a:solidFill>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81"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8" name="Title Text"/>
          <p:cNvSpPr txBox="1">
            <a:spLocks noGrp="1"/>
          </p:cNvSpPr>
          <p:nvPr>
            <p:ph type="title"/>
          </p:nvPr>
        </p:nvSpPr>
        <p:spPr>
          <a:xfrm>
            <a:off x="1689100" y="355600"/>
            <a:ext cx="21005800" cy="2286000"/>
          </a:xfrm>
          <a:prstGeom prst="rect">
            <a:avLst/>
          </a:prstGeom>
        </p:spPr>
        <p:txBody>
          <a:bodyPr/>
          <a:lstStyle>
            <a:lvl1pPr algn="ctr">
              <a:defRPr sz="11200" b="0">
                <a:solidFill>
                  <a:srgbClr val="000000"/>
                </a:solidFill>
                <a:latin typeface="+mn-lt"/>
                <a:ea typeface="+mn-ea"/>
                <a:cs typeface="+mn-cs"/>
                <a:sym typeface="Helvetica Neue Medium"/>
              </a:defRPr>
            </a:lvl1pPr>
          </a:lstStyle>
          <a:p>
            <a:r>
              <a:t>Title Text</a:t>
            </a:r>
          </a:p>
        </p:txBody>
      </p:sp>
      <p:sp>
        <p:nvSpPr>
          <p:cNvPr id="89"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Bullets &amp; Photo">
    <p:spTree>
      <p:nvGrpSpPr>
        <p:cNvPr id="1" name=""/>
        <p:cNvGrpSpPr/>
        <p:nvPr/>
      </p:nvGrpSpPr>
      <p:grpSpPr>
        <a:xfrm>
          <a:off x="0" y="0"/>
          <a:ext cx="0" cy="0"/>
          <a:chOff x="0" y="0"/>
          <a:chExt cx="0" cy="0"/>
        </a:xfrm>
      </p:grpSpPr>
      <p:sp>
        <p:nvSpPr>
          <p:cNvPr id="96" name="Image"/>
          <p:cNvSpPr>
            <a:spLocks noGrp="1"/>
          </p:cNvSpPr>
          <p:nvPr>
            <p:ph type="pic" sz="half" idx="21"/>
          </p:nvPr>
        </p:nvSpPr>
        <p:spPr>
          <a:xfrm>
            <a:off x="10960100" y="3149600"/>
            <a:ext cx="13944600" cy="9296400"/>
          </a:xfrm>
          <a:prstGeom prst="rect">
            <a:avLst/>
          </a:prstGeom>
        </p:spPr>
        <p:txBody>
          <a:bodyPr lIns="91439" tIns="45719" rIns="91439" bIns="45719" anchor="t">
            <a:noAutofit/>
          </a:bodyPr>
          <a:lstStyle/>
          <a:p>
            <a:endParaRPr/>
          </a:p>
        </p:txBody>
      </p:sp>
      <p:sp>
        <p:nvSpPr>
          <p:cNvPr id="97" name="Title Text"/>
          <p:cNvSpPr txBox="1">
            <a:spLocks noGrp="1"/>
          </p:cNvSpPr>
          <p:nvPr>
            <p:ph type="title"/>
          </p:nvPr>
        </p:nvSpPr>
        <p:spPr>
          <a:xfrm>
            <a:off x="1689100" y="355600"/>
            <a:ext cx="21005800" cy="2286000"/>
          </a:xfrm>
          <a:prstGeom prst="rect">
            <a:avLst/>
          </a:prstGeom>
        </p:spPr>
        <p:txBody>
          <a:bodyPr/>
          <a:lstStyle>
            <a:lvl1pPr algn="ctr">
              <a:defRPr sz="11200" b="0">
                <a:solidFill>
                  <a:srgbClr val="000000"/>
                </a:solidFill>
                <a:latin typeface="+mn-lt"/>
                <a:ea typeface="+mn-ea"/>
                <a:cs typeface="+mn-cs"/>
                <a:sym typeface="Helvetica Neue Medium"/>
              </a:defRPr>
            </a:lvl1pPr>
          </a:lstStyle>
          <a:p>
            <a:r>
              <a:t>Title Text</a:t>
            </a:r>
          </a:p>
        </p:txBody>
      </p:sp>
      <p:sp>
        <p:nvSpPr>
          <p:cNvPr id="98" name="Body Level One…"/>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buClrTx/>
              <a:buSzPct val="125000"/>
              <a:defRPr sz="3800">
                <a:solidFill>
                  <a:srgbClr val="000000"/>
                </a:solidFill>
                <a:latin typeface="Helvetica Neue"/>
                <a:ea typeface="Helvetica Neue"/>
                <a:cs typeface="Helvetica Neue"/>
                <a:sym typeface="Helvetica Neue"/>
              </a:defRPr>
            </a:lvl1pPr>
            <a:lvl2pPr marL="1117600" indent="-558800">
              <a:spcBef>
                <a:spcPts val="4500"/>
              </a:spcBef>
              <a:buClrTx/>
              <a:defRPr sz="3800">
                <a:solidFill>
                  <a:srgbClr val="000000"/>
                </a:solidFill>
                <a:latin typeface="Helvetica Neue"/>
                <a:ea typeface="Helvetica Neue"/>
                <a:cs typeface="Helvetica Neue"/>
                <a:sym typeface="Helvetica Neue"/>
              </a:defRPr>
            </a:lvl2pPr>
            <a:lvl3pPr marL="1676400" indent="-558800">
              <a:spcBef>
                <a:spcPts val="4500"/>
              </a:spcBef>
              <a:buClrTx/>
              <a:defRPr sz="3800">
                <a:solidFill>
                  <a:srgbClr val="000000"/>
                </a:solidFill>
                <a:latin typeface="Helvetica Neue"/>
                <a:ea typeface="Helvetica Neue"/>
                <a:cs typeface="Helvetica Neue"/>
                <a:sym typeface="Helvetica Neue"/>
              </a:defRPr>
            </a:lvl3pPr>
            <a:lvl4pPr marL="2235200" indent="-558800">
              <a:spcBef>
                <a:spcPts val="4500"/>
              </a:spcBef>
              <a:buClrTx/>
              <a:defRPr sz="3800">
                <a:solidFill>
                  <a:srgbClr val="000000"/>
                </a:solidFill>
                <a:latin typeface="Helvetica Neue"/>
                <a:ea typeface="Helvetica Neue"/>
                <a:cs typeface="Helvetica Neue"/>
                <a:sym typeface="Helvetica Neue"/>
              </a:defRPr>
            </a:lvl4pPr>
            <a:lvl5pPr marL="2794000" indent="-558800">
              <a:spcBef>
                <a:spcPts val="4500"/>
              </a:spcBef>
              <a:buClrTx/>
              <a:defRPr sz="3800">
                <a:solidFill>
                  <a:srgbClr val="000000"/>
                </a:solidFill>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99"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Bullets">
    <p:spTree>
      <p:nvGrpSpPr>
        <p:cNvPr id="1" name=""/>
        <p:cNvGrpSpPr/>
        <p:nvPr/>
      </p:nvGrpSpPr>
      <p:grpSpPr>
        <a:xfrm>
          <a:off x="0" y="0"/>
          <a:ext cx="0" cy="0"/>
          <a:chOff x="0" y="0"/>
          <a:chExt cx="0" cy="0"/>
        </a:xfrm>
      </p:grpSpPr>
      <p:sp>
        <p:nvSpPr>
          <p:cNvPr id="106" name="Body Level One…"/>
          <p:cNvSpPr txBox="1">
            <a:spLocks noGrp="1"/>
          </p:cNvSpPr>
          <p:nvPr>
            <p:ph type="body" idx="1"/>
          </p:nvPr>
        </p:nvSpPr>
        <p:spPr>
          <a:xfrm>
            <a:off x="1689100" y="1778000"/>
            <a:ext cx="21005800" cy="10160000"/>
          </a:xfrm>
          <a:prstGeom prst="rect">
            <a:avLst/>
          </a:prstGeom>
        </p:spPr>
        <p:txBody>
          <a:bodyPr/>
          <a:lstStyle>
            <a:lvl1pPr>
              <a:spcBef>
                <a:spcPts val="5900"/>
              </a:spcBef>
              <a:buClrTx/>
              <a:buSzPct val="125000"/>
              <a:defRPr>
                <a:solidFill>
                  <a:srgbClr val="000000"/>
                </a:solidFill>
                <a:latin typeface="Helvetica Neue"/>
                <a:ea typeface="Helvetica Neue"/>
                <a:cs typeface="Helvetica Neue"/>
                <a:sym typeface="Helvetica Neue"/>
              </a:defRPr>
            </a:lvl1pPr>
            <a:lvl2pPr marL="1270000" indent="-635000">
              <a:spcBef>
                <a:spcPts val="5900"/>
              </a:spcBef>
              <a:buClrTx/>
              <a:defRPr sz="4800">
                <a:solidFill>
                  <a:srgbClr val="000000"/>
                </a:solidFill>
                <a:latin typeface="Helvetica Neue"/>
                <a:ea typeface="Helvetica Neue"/>
                <a:cs typeface="Helvetica Neue"/>
                <a:sym typeface="Helvetica Neue"/>
              </a:defRPr>
            </a:lvl2pPr>
            <a:lvl3pPr marL="1905000" indent="-635000">
              <a:spcBef>
                <a:spcPts val="5900"/>
              </a:spcBef>
              <a:buClrTx/>
              <a:defRPr sz="4800">
                <a:solidFill>
                  <a:srgbClr val="000000"/>
                </a:solidFill>
                <a:latin typeface="Helvetica Neue"/>
                <a:ea typeface="Helvetica Neue"/>
                <a:cs typeface="Helvetica Neue"/>
                <a:sym typeface="Helvetica Neue"/>
              </a:defRPr>
            </a:lvl3pPr>
            <a:lvl4pPr marL="2540000" indent="-635000">
              <a:spcBef>
                <a:spcPts val="5900"/>
              </a:spcBef>
              <a:buClrTx/>
              <a:defRPr sz="4800">
                <a:solidFill>
                  <a:srgbClr val="000000"/>
                </a:solidFill>
                <a:latin typeface="Helvetica Neue"/>
                <a:ea typeface="Helvetica Neue"/>
                <a:cs typeface="Helvetica Neue"/>
                <a:sym typeface="Helvetica Neue"/>
              </a:defRPr>
            </a:lvl4pPr>
            <a:lvl5pPr marL="3175000" indent="-635000">
              <a:spcBef>
                <a:spcPts val="5900"/>
              </a:spcBef>
              <a:buClrTx/>
              <a:defRPr sz="4800">
                <a:solidFill>
                  <a:srgbClr val="000000"/>
                </a:solidFill>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Photo - 3 Up">
    <p:spTree>
      <p:nvGrpSpPr>
        <p:cNvPr id="1" name=""/>
        <p:cNvGrpSpPr/>
        <p:nvPr/>
      </p:nvGrpSpPr>
      <p:grpSpPr>
        <a:xfrm>
          <a:off x="0" y="0"/>
          <a:ext cx="0" cy="0"/>
          <a:chOff x="0" y="0"/>
          <a:chExt cx="0" cy="0"/>
        </a:xfrm>
      </p:grpSpPr>
      <p:sp>
        <p:nvSpPr>
          <p:cNvPr id="114" name="Image"/>
          <p:cNvSpPr>
            <a:spLocks noGrp="1"/>
          </p:cNvSpPr>
          <p:nvPr>
            <p:ph type="pic" sz="quarter" idx="21"/>
          </p:nvPr>
        </p:nvSpPr>
        <p:spPr>
          <a:xfrm>
            <a:off x="15681340" y="7035800"/>
            <a:ext cx="8396678" cy="5600700"/>
          </a:xfrm>
          <a:prstGeom prst="rect">
            <a:avLst/>
          </a:prstGeom>
        </p:spPr>
        <p:txBody>
          <a:bodyPr lIns="91439" tIns="45719" rIns="91439" bIns="45719" anchor="t">
            <a:noAutofit/>
          </a:bodyPr>
          <a:lstStyle/>
          <a:p>
            <a:endParaRPr/>
          </a:p>
        </p:txBody>
      </p:sp>
      <p:sp>
        <p:nvSpPr>
          <p:cNvPr id="115" name="Image"/>
          <p:cNvSpPr>
            <a:spLocks noGrp="1"/>
          </p:cNvSpPr>
          <p:nvPr>
            <p:ph type="pic" sz="quarter" idx="22"/>
          </p:nvPr>
        </p:nvSpPr>
        <p:spPr>
          <a:xfrm>
            <a:off x="15290800" y="1130300"/>
            <a:ext cx="8331200" cy="5554134"/>
          </a:xfrm>
          <a:prstGeom prst="rect">
            <a:avLst/>
          </a:prstGeom>
        </p:spPr>
        <p:txBody>
          <a:bodyPr lIns="91439" tIns="45719" rIns="91439" bIns="45719" anchor="t">
            <a:noAutofit/>
          </a:bodyPr>
          <a:lstStyle/>
          <a:p>
            <a:endParaRPr/>
          </a:p>
        </p:txBody>
      </p:sp>
      <p:sp>
        <p:nvSpPr>
          <p:cNvPr id="116" name="Image"/>
          <p:cNvSpPr>
            <a:spLocks noGrp="1"/>
          </p:cNvSpPr>
          <p:nvPr>
            <p:ph type="pic" idx="23"/>
          </p:nvPr>
        </p:nvSpPr>
        <p:spPr>
          <a:xfrm>
            <a:off x="-304800" y="1130300"/>
            <a:ext cx="17202150" cy="11468100"/>
          </a:xfrm>
          <a:prstGeom prst="rect">
            <a:avLst/>
          </a:prstGeom>
        </p:spPr>
        <p:txBody>
          <a:bodyPr lIns="91439" tIns="45719" rIns="91439" bIns="45719" anchor="t">
            <a:noAutofit/>
          </a:bodyPr>
          <a:lstStyle/>
          <a:p>
            <a:endParaRPr/>
          </a:p>
        </p:txBody>
      </p:sp>
      <p:sp>
        <p:nvSpPr>
          <p:cNvPr id="117"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Quote">
    <p:spTree>
      <p:nvGrpSpPr>
        <p:cNvPr id="1" name=""/>
        <p:cNvGrpSpPr/>
        <p:nvPr/>
      </p:nvGrpSpPr>
      <p:grpSpPr>
        <a:xfrm>
          <a:off x="0" y="0"/>
          <a:ext cx="0" cy="0"/>
          <a:chOff x="0" y="0"/>
          <a:chExt cx="0" cy="0"/>
        </a:xfrm>
      </p:grpSpPr>
      <p:sp>
        <p:nvSpPr>
          <p:cNvPr id="124" name="–Johnny Appleseed"/>
          <p:cNvSpPr txBox="1">
            <a:spLocks noGrp="1"/>
          </p:cNvSpPr>
          <p:nvPr>
            <p:ph type="body" sz="quarter" idx="21"/>
          </p:nvPr>
        </p:nvSpPr>
        <p:spPr>
          <a:xfrm>
            <a:off x="2387600" y="8953500"/>
            <a:ext cx="19621500" cy="585521"/>
          </a:xfrm>
          <a:prstGeom prst="rect">
            <a:avLst/>
          </a:prstGeom>
        </p:spPr>
        <p:txBody>
          <a:bodyPr anchor="t">
            <a:spAutoFit/>
          </a:bodyPr>
          <a:lstStyle>
            <a:lvl1pPr marL="0" indent="0" algn="ctr">
              <a:spcBef>
                <a:spcPts val="0"/>
              </a:spcBef>
              <a:buClrTx/>
              <a:buSzTx/>
              <a:buNone/>
              <a:defRPr sz="3200" i="1">
                <a:solidFill>
                  <a:srgbClr val="000000"/>
                </a:solidFill>
                <a:latin typeface="Helvetica Neue"/>
                <a:ea typeface="Helvetica Neue"/>
                <a:cs typeface="Helvetica Neue"/>
                <a:sym typeface="Helvetica Neue"/>
              </a:defRPr>
            </a:lvl1pPr>
          </a:lstStyle>
          <a:p>
            <a:r>
              <a:t>–Johnny Appleseed</a:t>
            </a:r>
          </a:p>
        </p:txBody>
      </p:sp>
      <p:sp>
        <p:nvSpPr>
          <p:cNvPr id="125" name="“Type a quote here.”"/>
          <p:cNvSpPr txBox="1">
            <a:spLocks noGrp="1"/>
          </p:cNvSpPr>
          <p:nvPr>
            <p:ph type="body" sz="quarter" idx="22"/>
          </p:nvPr>
        </p:nvSpPr>
        <p:spPr>
          <a:xfrm>
            <a:off x="2387600" y="6076950"/>
            <a:ext cx="19621500" cy="825500"/>
          </a:xfrm>
          <a:prstGeom prst="rect">
            <a:avLst/>
          </a:prstGeom>
        </p:spPr>
        <p:txBody>
          <a:bodyPr>
            <a:spAutoFit/>
          </a:bodyPr>
          <a:lstStyle>
            <a:lvl1pPr marL="0" indent="0" algn="ctr">
              <a:spcBef>
                <a:spcPts val="0"/>
              </a:spcBef>
              <a:buClrTx/>
              <a:buSzTx/>
              <a:buNone/>
              <a:defRPr>
                <a:solidFill>
                  <a:srgbClr val="000000"/>
                </a:solidFill>
                <a:latin typeface="+mn-lt"/>
                <a:ea typeface="+mn-ea"/>
                <a:cs typeface="+mn-cs"/>
                <a:sym typeface="Helvetica Neue Medium"/>
              </a:defRPr>
            </a:lvl1pPr>
          </a:lstStyle>
          <a:p>
            <a:r>
              <a:t>“Type a quote here.” </a:t>
            </a:r>
          </a:p>
        </p:txBody>
      </p:sp>
      <p:sp>
        <p:nvSpPr>
          <p:cNvPr id="126"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33" name="Image"/>
          <p:cNvSpPr>
            <a:spLocks noGrp="1"/>
          </p:cNvSpPr>
          <p:nvPr>
            <p:ph type="pic" idx="21"/>
          </p:nvPr>
        </p:nvSpPr>
        <p:spPr>
          <a:xfrm>
            <a:off x="0" y="0"/>
            <a:ext cx="24384000" cy="16264467"/>
          </a:xfrm>
          <a:prstGeom prst="rect">
            <a:avLst/>
          </a:prstGeom>
        </p:spPr>
        <p:txBody>
          <a:bodyPr lIns="91439" tIns="45719" rIns="91439" bIns="45719" anchor="t">
            <a:noAutofit/>
          </a:bodyPr>
          <a:lstStyle/>
          <a:p>
            <a:endParaRPr/>
          </a:p>
        </p:txBody>
      </p:sp>
      <p:sp>
        <p:nvSpPr>
          <p:cNvPr id="134" name="Slide Number"/>
          <p:cNvSpPr txBox="1">
            <a:spLocks noGrp="1"/>
          </p:cNvSpPr>
          <p:nvPr>
            <p:ph type="sldNum" sz="quarter" idx="2"/>
          </p:nvPr>
        </p:nvSpPr>
        <p:spPr>
          <a:xfrm>
            <a:off x="11959031" y="13081000"/>
            <a:ext cx="453238" cy="461059"/>
          </a:xfrm>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Screen Shot 2019-08-20 at 10.14.44 PM.png" descr="Screen Shot 2019-08-20 at 10.14.44 PM.png"/>
          <p:cNvPicPr>
            <a:picLocks noChangeAspect="1"/>
          </p:cNvPicPr>
          <p:nvPr/>
        </p:nvPicPr>
        <p:blipFill>
          <a:blip r:embed="rId14"/>
          <a:stretch>
            <a:fillRect/>
          </a:stretch>
        </p:blipFill>
        <p:spPr>
          <a:xfrm>
            <a:off x="0" y="800100"/>
            <a:ext cx="24384000" cy="13721166"/>
          </a:xfrm>
          <a:prstGeom prst="rect">
            <a:avLst/>
          </a:prstGeom>
          <a:ln w="12700">
            <a:miter lim="400000"/>
          </a:ln>
        </p:spPr>
      </p:pic>
      <p:sp>
        <p:nvSpPr>
          <p:cNvPr id="3" name="Rectangle"/>
          <p:cNvSpPr/>
          <p:nvPr/>
        </p:nvSpPr>
        <p:spPr>
          <a:xfrm>
            <a:off x="0" y="-1"/>
            <a:ext cx="24384000" cy="2641601"/>
          </a:xfrm>
          <a:prstGeom prst="rect">
            <a:avLst/>
          </a:prstGeom>
          <a:solidFill>
            <a:srgbClr val="3F5A7E"/>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
        <p:nvSpPr>
          <p:cNvPr id="4" name="Title Text"/>
          <p:cNvSpPr txBox="1">
            <a:spLocks noGrp="1"/>
          </p:cNvSpPr>
          <p:nvPr>
            <p:ph type="title"/>
          </p:nvPr>
        </p:nvSpPr>
        <p:spPr>
          <a:xfrm>
            <a:off x="1270000" y="177800"/>
            <a:ext cx="21844000" cy="228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5" name="Body Level One…"/>
          <p:cNvSpPr txBox="1">
            <a:spLocks noGrp="1"/>
          </p:cNvSpPr>
          <p:nvPr>
            <p:ph type="body" idx="1"/>
          </p:nvPr>
        </p:nvSpPr>
        <p:spPr>
          <a:xfrm>
            <a:off x="1270000" y="2804423"/>
            <a:ext cx="21844000" cy="9641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2pPr marL="1111250" indent="-476250">
              <a:defRPr sz="3600"/>
            </a:lvl2pPr>
            <a:lvl3pPr marL="1746250" indent="-476250">
              <a:defRPr sz="3600"/>
            </a:lvl3pPr>
            <a:lvl4pPr marL="2381250" indent="-476250">
              <a:defRPr sz="3600"/>
            </a:lvl4pPr>
            <a:lvl5pPr marL="3016250" indent="-476250">
              <a:defRPr sz="3600"/>
            </a:lvl5pPr>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11982449" y="12867527"/>
            <a:ext cx="419101" cy="457201"/>
          </a:xfrm>
          <a:prstGeom prst="rect">
            <a:avLst/>
          </a:prstGeom>
          <a:ln w="12700">
            <a:miter lim="400000"/>
          </a:ln>
        </p:spPr>
        <p:txBody>
          <a:bodyPr wrap="none" lIns="50800" tIns="50800" rIns="50800" bIns="50800">
            <a:spAutoFit/>
          </a:bodyPr>
          <a:lstStyle>
            <a:lvl1pPr>
              <a:defRPr sz="2400" b="0">
                <a:latin typeface="Gill Sans"/>
                <a:ea typeface="Gill Sans"/>
                <a:cs typeface="Gill Sans"/>
                <a:sym typeface="Gill Sans"/>
              </a:defRPr>
            </a:lvl1pPr>
          </a:lstStyle>
          <a:p>
            <a:fld id="{86CB4B4D-7CA3-9044-876B-883B54F8677D}" type="slidenum">
              <a:t>‹#›</a:t>
            </a:fld>
            <a:endParaRPr/>
          </a:p>
        </p:txBody>
      </p:sp>
      <p:sp>
        <p:nvSpPr>
          <p:cNvPr id="7" name="Abhinav Bhatele"/>
          <p:cNvSpPr txBox="1"/>
          <p:nvPr/>
        </p:nvSpPr>
        <p:spPr>
          <a:xfrm>
            <a:off x="21038517" y="12867527"/>
            <a:ext cx="2093566" cy="457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r">
              <a:defRPr sz="2400" b="0">
                <a:latin typeface="Gill Sans"/>
                <a:ea typeface="Gill Sans"/>
                <a:cs typeface="Gill Sans"/>
                <a:sym typeface="Gill Sans"/>
              </a:defRPr>
            </a:lvl1pPr>
          </a:lstStyle>
          <a:p>
            <a:r>
              <a:t>Cunyang Wei</a:t>
            </a:r>
          </a:p>
        </p:txBody>
      </p:sp>
      <p:sp>
        <p:nvSpPr>
          <p:cNvPr id="8" name="Rectangle"/>
          <p:cNvSpPr/>
          <p:nvPr/>
        </p:nvSpPr>
        <p:spPr>
          <a:xfrm>
            <a:off x="0" y="12507814"/>
            <a:ext cx="24384001" cy="50801"/>
          </a:xfrm>
          <a:prstGeom prst="rect">
            <a:avLst/>
          </a:prstGeom>
          <a:solidFill>
            <a:srgbClr val="E4F4F7"/>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pic>
        <p:nvPicPr>
          <p:cNvPr id="9" name="PSSG_Horiz_NoText.png" descr="PSSG_Horiz_NoText.png"/>
          <p:cNvPicPr>
            <a:picLocks noChangeAspect="1"/>
          </p:cNvPicPr>
          <p:nvPr/>
        </p:nvPicPr>
        <p:blipFill>
          <a:blip r:embed="rId15"/>
          <a:stretch>
            <a:fillRect/>
          </a:stretch>
        </p:blipFill>
        <p:spPr>
          <a:xfrm>
            <a:off x="1066800" y="11107784"/>
            <a:ext cx="3976688" cy="3976688"/>
          </a:xfrm>
          <a:prstGeom prst="rect">
            <a:avLst/>
          </a:prstGeom>
          <a:ln w="12700">
            <a:miter lim="400000"/>
          </a:ln>
        </p:spPr>
      </p:pic>
      <p:sp>
        <p:nvSpPr>
          <p:cNvPr id="10" name="Rectangle"/>
          <p:cNvSpPr/>
          <p:nvPr/>
        </p:nvSpPr>
        <p:spPr>
          <a:xfrm>
            <a:off x="0" y="2641600"/>
            <a:ext cx="24384000" cy="127000"/>
          </a:xfrm>
          <a:prstGeom prst="rect">
            <a:avLst/>
          </a:prstGeom>
          <a:solidFill>
            <a:srgbClr val="E87053"/>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1pPr>
      <a:lvl2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2pPr>
      <a:lvl3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3pPr>
      <a:lvl4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4pPr>
      <a:lvl5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5pPr>
      <a:lvl6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6pPr>
      <a:lvl7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7pPr>
      <a:lvl8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8pPr>
      <a:lvl9pPr marL="0" marR="0" indent="0" algn="l" defTabSz="825500" latinLnBrk="0">
        <a:lnSpc>
          <a:spcPct val="100000"/>
        </a:lnSpc>
        <a:spcBef>
          <a:spcPts val="0"/>
        </a:spcBef>
        <a:spcAft>
          <a:spcPts val="0"/>
        </a:spcAft>
        <a:buClrTx/>
        <a:buSzTx/>
        <a:buFontTx/>
        <a:buNone/>
        <a:tabLst/>
        <a:defRPr sz="9000" b="1" i="0" u="none" strike="noStrike" cap="none" spc="0" baseline="0">
          <a:solidFill>
            <a:srgbClr val="FFFFFF"/>
          </a:solidFill>
          <a:uFillTx/>
          <a:latin typeface="Arial"/>
          <a:ea typeface="Arial"/>
          <a:cs typeface="Arial"/>
          <a:sym typeface="Arial"/>
        </a:defRPr>
      </a:lvl9pPr>
    </p:titleStyle>
    <p:bodyStyle>
      <a:lvl1pPr marL="635000" marR="0" indent="-635000" algn="l" defTabSz="825500" latinLnBrk="0">
        <a:lnSpc>
          <a:spcPct val="100000"/>
        </a:lnSpc>
        <a:spcBef>
          <a:spcPts val="4200"/>
        </a:spcBef>
        <a:spcAft>
          <a:spcPts val="0"/>
        </a:spcAft>
        <a:buClr>
          <a:srgbClr val="35798B"/>
        </a:buClr>
        <a:buSzPct val="150000"/>
        <a:buFontTx/>
        <a:buChar char="•"/>
        <a:tabLst/>
        <a:defRPr sz="4800" b="0" i="0" u="none" strike="noStrike" cap="none" spc="0" baseline="0">
          <a:solidFill>
            <a:srgbClr val="2A2F30"/>
          </a:solidFill>
          <a:uFillTx/>
          <a:latin typeface="Gill Sans"/>
          <a:ea typeface="Gill Sans"/>
          <a:cs typeface="Gill Sans"/>
          <a:sym typeface="Gill Sans"/>
        </a:defRPr>
      </a:lvl1pPr>
      <a:lvl2pPr marL="1270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2pPr>
      <a:lvl3pPr marL="1905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3pPr>
      <a:lvl4pPr marL="2540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4pPr>
      <a:lvl5pPr marL="3175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5pPr>
      <a:lvl6pPr marL="3810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6pPr>
      <a:lvl7pPr marL="4445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7pPr>
      <a:lvl8pPr marL="5080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8pPr>
      <a:lvl9pPr marL="5715000" marR="0" indent="-635000" algn="l" defTabSz="825500" latinLnBrk="0">
        <a:lnSpc>
          <a:spcPct val="100000"/>
        </a:lnSpc>
        <a:spcBef>
          <a:spcPts val="4200"/>
        </a:spcBef>
        <a:spcAft>
          <a:spcPts val="0"/>
        </a:spcAft>
        <a:buClr>
          <a:srgbClr val="35798B"/>
        </a:buClr>
        <a:buSzPct val="125000"/>
        <a:buFontTx/>
        <a:buChar char="•"/>
        <a:tabLst/>
        <a:defRPr sz="4800" b="0" i="0" u="none" strike="noStrike" cap="none" spc="0" baseline="0">
          <a:solidFill>
            <a:srgbClr val="2A2F30"/>
          </a:solidFill>
          <a:uFillTx/>
          <a:latin typeface="Gill Sans"/>
          <a:ea typeface="Gill Sans"/>
          <a:cs typeface="Gill Sans"/>
          <a:sym typeface="Gill Sans"/>
        </a:defRPr>
      </a:lvl9pPr>
    </p:bodyStyle>
    <p:otherStyle>
      <a:lvl1pPr marL="0" marR="0" indent="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1pPr>
      <a:lvl2pPr marL="0" marR="0" indent="2286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2pPr>
      <a:lvl3pPr marL="0" marR="0" indent="4572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3pPr>
      <a:lvl4pPr marL="0" marR="0" indent="6858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4pPr>
      <a:lvl5pPr marL="0" marR="0" indent="9144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5pPr>
      <a:lvl6pPr marL="0" marR="0" indent="11430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6pPr>
      <a:lvl7pPr marL="0" marR="0" indent="13716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7pPr>
      <a:lvl8pPr marL="0" marR="0" indent="16002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8pPr>
      <a:lvl9pPr marL="0" marR="0" indent="18288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Double-click to edit"/>
          <p:cNvSpPr txBox="1">
            <a:spLocks noGrp="1"/>
          </p:cNvSpPr>
          <p:nvPr>
            <p:ph type="ctrTitle"/>
          </p:nvPr>
        </p:nvSpPr>
        <p:spPr>
          <a:xfrm>
            <a:off x="0" y="4961599"/>
            <a:ext cx="24384000" cy="2188502"/>
          </a:xfrm>
          <a:prstGeom prst="rect">
            <a:avLst/>
          </a:prstGeom>
        </p:spPr>
        <p:txBody>
          <a:bodyPr>
            <a:noAutofit/>
          </a:bodyPr>
          <a:lstStyle/>
          <a:p>
            <a:r>
              <a:rPr sz="7200"/>
              <a:t>Accelerating Production-Scale Large Eddy</a:t>
            </a:r>
            <a:br/>
            <a:r>
              <a:rPr sz="7200"/>
              <a:t>Simulations of Wind Farms on GPUs</a:t>
            </a:r>
            <a:endParaRPr sz="8000" dirty="0"/>
          </a:p>
        </p:txBody>
      </p:sp>
      <p:sp>
        <p:nvSpPr>
          <p:cNvPr id="144" name="Double-click to edit"/>
          <p:cNvSpPr txBox="1">
            <a:spLocks noGrp="1"/>
          </p:cNvSpPr>
          <p:nvPr>
            <p:ph type="subTitle" sz="quarter" idx="1"/>
          </p:nvPr>
        </p:nvSpPr>
        <p:spPr>
          <a:xfrm>
            <a:off x="1270000" y="7251700"/>
            <a:ext cx="21844000" cy="2877389"/>
          </a:xfrm>
          <a:prstGeom prst="rect">
            <a:avLst/>
          </a:prstGeom>
        </p:spPr>
        <p:txBody>
          <a:bodyPr/>
          <a:lstStyle/>
          <a:p>
            <a:pPr lvl="0" rtl="0">
              <a:buSzPts val="1600"/>
            </a:pPr>
            <a:r>
              <a:t>Cunyang Wei, Wenyuan Chen, Abhinav Bhatele, Charles Meneveau, Zheng Li</a:t>
            </a:r>
            <a:endParaRPr lang="en-US" altLang="zh-CN" dirty="0"/>
          </a:p>
          <a:p>
            <a:r>
              <a:rPr sz="3200">
                <a:solidFill>
                  <a:srgbClr val="5F6B76"/>
                </a:solidFill>
              </a:rPr>
              <a:t>University of Maryland  ·  Morgan State University  ·  Johns Hopkins University</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377440"/>
            <a:ext cx="13167360" cy="2011680"/>
          </a:xfrm>
          <a:prstGeom prst="rect">
            <a:avLst/>
          </a:prstGeom>
          <a:noFill/>
        </p:spPr>
        <p:txBody>
          <a:bodyPr wrap="square" lIns="0" rIns="0" tIns="0" bIns="0" anchor="ctr">
            <a:noAutofit/>
          </a:bodyPr>
          <a:lstStyle/>
          <a:p>
            <a:pPr algn="ctr"/>
            <a:r>
              <a:rPr sz="10800" b="1" i="0">
                <a:solidFill>
                  <a:srgbClr val="FFFFFF"/>
                </a:solidFill>
                <a:latin typeface="Arial"/>
              </a:rPr>
              <a:t>Thank you!</a:t>
            </a:r>
          </a:p>
        </p:txBody>
      </p:sp>
      <p:sp>
        <p:nvSpPr>
          <p:cNvPr id="3" name="TextBox 2"/>
          <p:cNvSpPr txBox="1"/>
          <p:nvPr/>
        </p:nvSpPr>
        <p:spPr>
          <a:xfrm>
            <a:off x="731520" y="4480560"/>
            <a:ext cx="13167360" cy="1280160"/>
          </a:xfrm>
          <a:prstGeom prst="rect">
            <a:avLst/>
          </a:prstGeom>
          <a:noFill/>
        </p:spPr>
        <p:txBody>
          <a:bodyPr wrap="square" lIns="0" rIns="0" tIns="0" bIns="0" anchor="ctr">
            <a:noAutofit/>
          </a:bodyPr>
          <a:lstStyle/>
          <a:p>
            <a:pPr algn="ctr"/>
            <a:r>
              <a:rPr sz="6000" b="0" i="0">
                <a:solidFill>
                  <a:srgbClr val="FFFFFF"/>
                </a:solidFill>
                <a:latin typeface="Gill Sans"/>
              </a:rPr>
              <a:t>Questions?</a:t>
            </a:r>
          </a:p>
        </p:txBody>
      </p:sp>
      <p:sp>
        <p:nvSpPr>
          <p:cNvPr id="4" name="TextBox 3"/>
          <p:cNvSpPr txBox="1"/>
          <p:nvPr/>
        </p:nvSpPr>
        <p:spPr>
          <a:xfrm>
            <a:off x="1645920" y="6309360"/>
            <a:ext cx="11338560" cy="1645920"/>
          </a:xfrm>
          <a:prstGeom prst="rect">
            <a:avLst/>
          </a:prstGeom>
          <a:noFill/>
        </p:spPr>
        <p:txBody>
          <a:bodyPr wrap="square" lIns="0" rIns="0" tIns="0" bIns="0" anchor="t">
            <a:noAutofit/>
          </a:bodyPr>
          <a:lstStyle/>
          <a:p>
            <a:pPr algn="ctr"/>
            <a:r>
              <a:rPr sz="3200" b="0" i="1">
                <a:solidFill>
                  <a:srgbClr val="D5DFEA"/>
                </a:solidFill>
                <a:latin typeface="Gill Sans"/>
              </a:rPr>
              <a:t>Accelerating Production-Scale Large Eddy Simulations of Wind Farms on GPUs</a:t>
            </a:r>
          </a:p>
        </p:txBody>
      </p:sp>
    </p:spTree>
  </p:cSld>
  <p:clrMapOvr>
    <a:masterClrMapping/>
  </p:clrMapOvr>
  <p:transition spd="me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Why Accelerate Wind-Farm LES?</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Fidelity needs fine grids and long physical times. The CPU code can't provide both.</a:t>
            </a:r>
          </a:p>
        </p:txBody>
      </p:sp>
      <p:sp>
        <p:nvSpPr>
          <p:cNvPr id="150" name="TextBox 149"/>
          <p:cNvSpPr txBox="1"/>
          <p:nvPr/>
        </p:nvSpPr>
        <p:spPr>
          <a:xfrm>
            <a:off x="1097280" y="4206240"/>
            <a:ext cx="10424160" cy="731520"/>
          </a:xfrm>
          <a:prstGeom prst="rect">
            <a:avLst/>
          </a:prstGeom>
          <a:noFill/>
        </p:spPr>
        <p:txBody>
          <a:bodyPr wrap="square" lIns="0" rIns="0" tIns="0" bIns="0" anchor="t">
            <a:noAutofit/>
          </a:bodyPr>
          <a:lstStyle/>
          <a:p>
            <a:pPr algn="l"/>
            <a:r>
              <a:rPr sz="3600" b="1" i="0">
                <a:solidFill>
                  <a:srgbClr val="2A2F30"/>
                </a:solidFill>
                <a:latin typeface="Gill Sans"/>
              </a:rPr>
              <a:t>Wakes cost 10–20% of farm power</a:t>
            </a:r>
          </a:p>
        </p:txBody>
      </p:sp>
      <p:sp>
        <p:nvSpPr>
          <p:cNvPr id="151" name="TextBox 150"/>
          <p:cNvSpPr txBox="1"/>
          <p:nvPr/>
        </p:nvSpPr>
        <p:spPr>
          <a:xfrm>
            <a:off x="1097280" y="5010912"/>
            <a:ext cx="10424160" cy="1645920"/>
          </a:xfrm>
          <a:prstGeom prst="rect">
            <a:avLst/>
          </a:prstGeom>
          <a:noFill/>
        </p:spPr>
        <p:txBody>
          <a:bodyPr wrap="square" lIns="0" rIns="0" tIns="0" bIns="0" anchor="t">
            <a:noAutofit/>
          </a:bodyPr>
          <a:lstStyle/>
          <a:p>
            <a:pPr algn="l"/>
            <a:r>
              <a:rPr sz="2800" b="0" i="0">
                <a:solidFill>
                  <a:srgbClr val="5F6B76"/>
                </a:solidFill>
                <a:latin typeface="Gill Sans"/>
              </a:rPr>
              <a:t>Studying them means tens of turbines in kilometers of turbulent atmosphere, over hours of physical time.</a:t>
            </a:r>
          </a:p>
        </p:txBody>
      </p:sp>
      <p:sp>
        <p:nvSpPr>
          <p:cNvPr id="152" name="TextBox 151"/>
          <p:cNvSpPr txBox="1"/>
          <p:nvPr/>
        </p:nvSpPr>
        <p:spPr>
          <a:xfrm>
            <a:off x="1097280" y="6858000"/>
            <a:ext cx="10424160" cy="731520"/>
          </a:xfrm>
          <a:prstGeom prst="rect">
            <a:avLst/>
          </a:prstGeom>
          <a:noFill/>
        </p:spPr>
        <p:txBody>
          <a:bodyPr wrap="square" lIns="0" rIns="0" tIns="0" bIns="0" anchor="t">
            <a:noAutofit/>
          </a:bodyPr>
          <a:lstStyle/>
          <a:p>
            <a:pPr algn="l"/>
            <a:r>
              <a:rPr sz="3600" b="1" i="0">
                <a:solidFill>
                  <a:srgbClr val="2A2F30"/>
                </a:solidFill>
                <a:latin typeface="Gill Sans"/>
              </a:rPr>
              <a:t>LES resolves the turbulence directly</a:t>
            </a:r>
          </a:p>
        </p:txBody>
      </p:sp>
      <p:sp>
        <p:nvSpPr>
          <p:cNvPr id="153" name="TextBox 152"/>
          <p:cNvSpPr txBox="1"/>
          <p:nvPr/>
        </p:nvSpPr>
        <p:spPr>
          <a:xfrm>
            <a:off x="1097280" y="7662672"/>
            <a:ext cx="10424160" cy="1645920"/>
          </a:xfrm>
          <a:prstGeom prst="rect">
            <a:avLst/>
          </a:prstGeom>
          <a:noFill/>
        </p:spPr>
        <p:txBody>
          <a:bodyPr wrap="square" lIns="0" rIns="0" tIns="0" bIns="0" anchor="t">
            <a:noAutofit/>
          </a:bodyPr>
          <a:lstStyle/>
          <a:p>
            <a:pPr algn="l"/>
            <a:r>
              <a:rPr sz="2800" b="0" i="0">
                <a:solidFill>
                  <a:srgbClr val="5F6B76"/>
                </a:solidFill>
                <a:latin typeface="Gill Sans"/>
              </a:rPr>
              <a:t>LESGO is a widely used open-source pseudo-spectral LES code: little numerical dissipation, high accuracy per grid point.</a:t>
            </a:r>
          </a:p>
        </p:txBody>
      </p:sp>
      <p:sp>
        <p:nvSpPr>
          <p:cNvPr id="154" name="TextBox 153"/>
          <p:cNvSpPr txBox="1"/>
          <p:nvPr/>
        </p:nvSpPr>
        <p:spPr>
          <a:xfrm>
            <a:off x="1097280" y="9509760"/>
            <a:ext cx="10424160" cy="731520"/>
          </a:xfrm>
          <a:prstGeom prst="rect">
            <a:avLst/>
          </a:prstGeom>
          <a:noFill/>
        </p:spPr>
        <p:txBody>
          <a:bodyPr wrap="square" lIns="0" rIns="0" tIns="0" bIns="0" anchor="t">
            <a:noAutofit/>
          </a:bodyPr>
          <a:lstStyle/>
          <a:p>
            <a:pPr algn="l"/>
            <a:r>
              <a:rPr sz="3600" b="1" i="0">
                <a:solidFill>
                  <a:srgbClr val="2A2F30"/>
                </a:solidFill>
                <a:latin typeface="Gill Sans"/>
              </a:rPr>
              <a:t>Production runs take hours to days</a:t>
            </a:r>
          </a:p>
        </p:txBody>
      </p:sp>
      <p:sp>
        <p:nvSpPr>
          <p:cNvPr id="155" name="TextBox 154"/>
          <p:cNvSpPr txBox="1"/>
          <p:nvPr/>
        </p:nvSpPr>
        <p:spPr>
          <a:xfrm>
            <a:off x="1097280" y="10314432"/>
            <a:ext cx="10424160" cy="1645920"/>
          </a:xfrm>
          <a:prstGeom prst="rect">
            <a:avLst/>
          </a:prstGeom>
          <a:noFill/>
        </p:spPr>
        <p:txBody>
          <a:bodyPr wrap="square" lIns="0" rIns="0" tIns="0" bIns="0" anchor="t">
            <a:noAutofit/>
          </a:bodyPr>
          <a:lstStyle/>
          <a:p>
            <a:pPr algn="l"/>
            <a:r>
              <a:rPr sz="2800" b="0" i="0">
                <a:solidFill>
                  <a:srgbClr val="5F6B76"/>
                </a:solidFill>
                <a:latin typeface="Gill Sans"/>
              </a:rPr>
              <a:t>Converged statistics need hundreds of thousands of steps, at 6.48 s per step on 4 CPU nodes.</a:t>
            </a:r>
          </a:p>
        </p:txBody>
      </p:sp>
      <p:pic>
        <p:nvPicPr>
          <p:cNvPr id="156" name="Picture 155" descr="wf60_raw.png"/>
          <p:cNvPicPr>
            <a:picLocks noChangeAspect="1"/>
          </p:cNvPicPr>
          <p:nvPr/>
        </p:nvPicPr>
        <p:blipFill>
          <a:blip r:embed="rId2"/>
          <a:stretch>
            <a:fillRect/>
          </a:stretch>
        </p:blipFill>
        <p:spPr>
          <a:xfrm>
            <a:off x="12252960" y="4023360"/>
            <a:ext cx="10972800" cy="5003597"/>
          </a:xfrm>
          <a:prstGeom prst="rect">
            <a:avLst/>
          </a:prstGeom>
        </p:spPr>
      </p:pic>
      <p:sp>
        <p:nvSpPr>
          <p:cNvPr id="157" name="TextBox 156"/>
          <p:cNvSpPr txBox="1"/>
          <p:nvPr/>
        </p:nvSpPr>
        <p:spPr>
          <a:xfrm>
            <a:off x="12252960" y="9118397"/>
            <a:ext cx="10972800" cy="548640"/>
          </a:xfrm>
          <a:prstGeom prst="rect">
            <a:avLst/>
          </a:prstGeom>
          <a:noFill/>
        </p:spPr>
        <p:txBody>
          <a:bodyPr wrap="square" lIns="0" rIns="0" tIns="0" bIns="0" anchor="t">
            <a:noAutofit/>
          </a:bodyPr>
          <a:lstStyle/>
          <a:p>
            <a:pPr algn="l"/>
            <a:r>
              <a:rPr sz="2200" b="0" i="1">
                <a:solidFill>
                  <a:srgbClr val="5F6B76"/>
                </a:solidFill>
                <a:latin typeface="Gill Sans"/>
              </a:rPr>
              <a:t>Production benchmark wf60: instantaneous streamwise velocity, 4×4 turbine section</a:t>
            </a:r>
          </a:p>
        </p:txBody>
      </p:sp>
      <p:sp>
        <p:nvSpPr>
          <p:cNvPr id="158" name="Rounded Rectangle 157"/>
          <p:cNvSpPr/>
          <p:nvPr/>
        </p:nvSpPr>
        <p:spPr>
          <a:xfrm>
            <a:off x="12252960" y="9966960"/>
            <a:ext cx="3413760" cy="2103120"/>
          </a:xfrm>
          <a:prstGeom prst="roundRect">
            <a:avLst>
              <a:gd name="adj" fmla="val 10434"/>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2582144" y="10076688"/>
            <a:ext cx="2755392" cy="1156716"/>
          </a:xfrm>
          <a:prstGeom prst="rect">
            <a:avLst/>
          </a:prstGeom>
          <a:noFill/>
        </p:spPr>
        <p:txBody>
          <a:bodyPr wrap="square" lIns="0" rIns="0" tIns="0" bIns="0" anchor="ctr">
            <a:noAutofit/>
          </a:bodyPr>
          <a:lstStyle/>
          <a:p>
            <a:pPr algn="l"/>
            <a:r>
              <a:rPr sz="5200" b="1" i="0">
                <a:solidFill>
                  <a:srgbClr val="35798B"/>
                </a:solidFill>
                <a:latin typeface="Arial"/>
              </a:rPr>
              <a:t>60</a:t>
            </a:r>
          </a:p>
        </p:txBody>
      </p:sp>
      <p:sp>
        <p:nvSpPr>
          <p:cNvPr id="160" name="TextBox 159"/>
          <p:cNvSpPr txBox="1"/>
          <p:nvPr/>
        </p:nvSpPr>
        <p:spPr>
          <a:xfrm>
            <a:off x="12582144" y="11233404"/>
            <a:ext cx="2755392" cy="726948"/>
          </a:xfrm>
          <a:prstGeom prst="rect">
            <a:avLst/>
          </a:prstGeom>
          <a:noFill/>
        </p:spPr>
        <p:txBody>
          <a:bodyPr wrap="square" lIns="0" rIns="0" tIns="0" bIns="0" anchor="t">
            <a:noAutofit/>
          </a:bodyPr>
          <a:lstStyle/>
          <a:p>
            <a:pPr algn="l"/>
            <a:r>
              <a:rPr sz="2500" b="0" i="0">
                <a:solidFill>
                  <a:srgbClr val="5F6B76"/>
                </a:solidFill>
                <a:latin typeface="Gill Sans"/>
              </a:rPr>
              <a:t>wind turbines</a:t>
            </a:r>
          </a:p>
        </p:txBody>
      </p:sp>
      <p:sp>
        <p:nvSpPr>
          <p:cNvPr id="161" name="Rounded Rectangle 160"/>
          <p:cNvSpPr/>
          <p:nvPr/>
        </p:nvSpPr>
        <p:spPr>
          <a:xfrm>
            <a:off x="16032480" y="9966960"/>
            <a:ext cx="3413760" cy="2103120"/>
          </a:xfrm>
          <a:prstGeom prst="roundRect">
            <a:avLst>
              <a:gd name="adj" fmla="val 10434"/>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6361664" y="10076688"/>
            <a:ext cx="2755392" cy="1156716"/>
          </a:xfrm>
          <a:prstGeom prst="rect">
            <a:avLst/>
          </a:prstGeom>
          <a:noFill/>
        </p:spPr>
        <p:txBody>
          <a:bodyPr wrap="square" lIns="0" rIns="0" tIns="0" bIns="0" anchor="ctr">
            <a:noAutofit/>
          </a:bodyPr>
          <a:lstStyle/>
          <a:p>
            <a:pPr algn="l"/>
            <a:r>
              <a:rPr sz="5200" b="1" i="0">
                <a:solidFill>
                  <a:srgbClr val="35798B"/>
                </a:solidFill>
                <a:latin typeface="Arial"/>
              </a:rPr>
              <a:t>604M</a:t>
            </a:r>
          </a:p>
        </p:txBody>
      </p:sp>
      <p:sp>
        <p:nvSpPr>
          <p:cNvPr id="163" name="TextBox 162"/>
          <p:cNvSpPr txBox="1"/>
          <p:nvPr/>
        </p:nvSpPr>
        <p:spPr>
          <a:xfrm>
            <a:off x="16361664" y="11233404"/>
            <a:ext cx="2755392" cy="726948"/>
          </a:xfrm>
          <a:prstGeom prst="rect">
            <a:avLst/>
          </a:prstGeom>
          <a:noFill/>
        </p:spPr>
        <p:txBody>
          <a:bodyPr wrap="square" lIns="0" rIns="0" tIns="0" bIns="0" anchor="t">
            <a:noAutofit/>
          </a:bodyPr>
          <a:lstStyle/>
          <a:p>
            <a:pPr algn="l"/>
            <a:r>
              <a:rPr sz="2500" b="0" i="0">
                <a:solidFill>
                  <a:srgbClr val="5F6B76"/>
                </a:solidFill>
                <a:latin typeface="Gill Sans"/>
              </a:rPr>
              <a:t>grid cells</a:t>
            </a:r>
          </a:p>
        </p:txBody>
      </p:sp>
      <p:sp>
        <p:nvSpPr>
          <p:cNvPr id="164" name="Rounded Rectangle 163"/>
          <p:cNvSpPr/>
          <p:nvPr/>
        </p:nvSpPr>
        <p:spPr>
          <a:xfrm>
            <a:off x="19812000" y="9966960"/>
            <a:ext cx="3413760" cy="2103120"/>
          </a:xfrm>
          <a:prstGeom prst="roundRect">
            <a:avLst>
              <a:gd name="adj" fmla="val 10434"/>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0141184" y="10076688"/>
            <a:ext cx="2755392" cy="1156716"/>
          </a:xfrm>
          <a:prstGeom prst="rect">
            <a:avLst/>
          </a:prstGeom>
          <a:noFill/>
        </p:spPr>
        <p:txBody>
          <a:bodyPr wrap="square" lIns="0" rIns="0" tIns="0" bIns="0" anchor="ctr">
            <a:noAutofit/>
          </a:bodyPr>
          <a:lstStyle/>
          <a:p>
            <a:pPr algn="l"/>
            <a:r>
              <a:rPr sz="5200" b="1" i="0">
                <a:solidFill>
                  <a:srgbClr val="35798B"/>
                </a:solidFill>
                <a:latin typeface="Arial"/>
              </a:rPr>
              <a:t>28 km</a:t>
            </a:r>
          </a:p>
        </p:txBody>
      </p:sp>
      <p:sp>
        <p:nvSpPr>
          <p:cNvPr id="166" name="TextBox 165"/>
          <p:cNvSpPr txBox="1"/>
          <p:nvPr/>
        </p:nvSpPr>
        <p:spPr>
          <a:xfrm>
            <a:off x="20141184" y="11233404"/>
            <a:ext cx="2755392" cy="726948"/>
          </a:xfrm>
          <a:prstGeom prst="rect">
            <a:avLst/>
          </a:prstGeom>
          <a:noFill/>
        </p:spPr>
        <p:txBody>
          <a:bodyPr wrap="square" lIns="0" rIns="0" tIns="0" bIns="0" anchor="t">
            <a:noAutofit/>
          </a:bodyPr>
          <a:lstStyle/>
          <a:p>
            <a:pPr algn="l"/>
            <a:r>
              <a:rPr sz="2500" b="0" i="0">
                <a:solidFill>
                  <a:srgbClr val="5F6B76"/>
                </a:solidFill>
                <a:latin typeface="Gill Sans"/>
              </a:rPr>
              <a:t>domain length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One LESGO Time Step</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Rounded Rectangle 148"/>
          <p:cNvSpPr/>
          <p:nvPr/>
        </p:nvSpPr>
        <p:spPr>
          <a:xfrm>
            <a:off x="1097280" y="3291840"/>
            <a:ext cx="9601200" cy="8805672"/>
          </a:xfrm>
          <a:prstGeom prst="roundRect">
            <a:avLst>
              <a:gd name="adj" fmla="val 2492"/>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554480" y="3602736"/>
            <a:ext cx="7406640" cy="347472"/>
          </a:xfrm>
          <a:prstGeom prst="rect">
            <a:avLst/>
          </a:prstGeom>
          <a:noFill/>
        </p:spPr>
        <p:txBody>
          <a:bodyPr wrap="square" lIns="0" rIns="0" tIns="0" bIns="0" anchor="ctr">
            <a:noAutofit/>
          </a:bodyPr>
          <a:lstStyle/>
          <a:p>
            <a:pPr algn="l"/>
            <a:r>
              <a:rPr sz="2300" b="1" i="0">
                <a:solidFill>
                  <a:srgbClr val="2A2F30"/>
                </a:solidFill>
                <a:latin typeface="Courier New"/>
              </a:rPr>
              <a:t>for</a:t>
            </a:r>
            <a:r>
              <a:rPr sz="2300" b="0" i="0">
                <a:solidFill>
                  <a:srgbClr val="2A2F30"/>
                </a:solidFill>
                <a:latin typeface="Courier New"/>
              </a:rPr>
              <a:t> n = 1, N </a:t>
            </a:r>
            <a:r>
              <a:rPr sz="2300" b="1" i="0">
                <a:solidFill>
                  <a:srgbClr val="2A2F30"/>
                </a:solidFill>
                <a:latin typeface="Courier New"/>
              </a:rPr>
              <a:t>do</a:t>
            </a:r>
          </a:p>
        </p:txBody>
      </p:sp>
      <p:sp>
        <p:nvSpPr>
          <p:cNvPr id="151" name="TextBox 150"/>
          <p:cNvSpPr txBox="1"/>
          <p:nvPr/>
        </p:nvSpPr>
        <p:spPr>
          <a:xfrm>
            <a:off x="11430000" y="3950208"/>
            <a:ext cx="11795760" cy="506578"/>
          </a:xfrm>
          <a:prstGeom prst="rect">
            <a:avLst/>
          </a:prstGeom>
          <a:noFill/>
        </p:spPr>
        <p:txBody>
          <a:bodyPr wrap="square" lIns="0" rIns="0" tIns="0" bIns="0" anchor="t">
            <a:noAutofit/>
          </a:bodyPr>
          <a:lstStyle/>
          <a:p>
            <a:pPr algn="l"/>
            <a:r>
              <a:rPr sz="2300" b="0" i="1">
                <a:solidFill>
                  <a:srgbClr val="5F6B76"/>
                </a:solidFill>
                <a:latin typeface="Gill Sans"/>
              </a:rPr>
              <a:t>adaptive time-step control (elided)</a:t>
            </a:r>
          </a:p>
        </p:txBody>
      </p:sp>
      <p:sp>
        <p:nvSpPr>
          <p:cNvPr id="152" name="TextBox 151"/>
          <p:cNvSpPr txBox="1"/>
          <p:nvPr/>
        </p:nvSpPr>
        <p:spPr>
          <a:xfrm>
            <a:off x="2103120" y="3950208"/>
            <a:ext cx="7406640" cy="347472"/>
          </a:xfrm>
          <a:prstGeom prst="rect">
            <a:avLst/>
          </a:prstGeom>
          <a:noFill/>
        </p:spPr>
        <p:txBody>
          <a:bodyPr wrap="square" lIns="0" rIns="0" tIns="0" bIns="0" anchor="ctr">
            <a:noAutofit/>
          </a:bodyPr>
          <a:lstStyle/>
          <a:p>
            <a:pPr algn="l"/>
            <a:r>
              <a:rPr sz="2300" b="0" i="0">
                <a:solidFill>
                  <a:srgbClr val="2A2F30"/>
                </a:solidFill>
                <a:latin typeface="Courier New"/>
              </a:rPr>
              <a:t>…</a:t>
            </a:r>
          </a:p>
        </p:txBody>
      </p:sp>
      <p:sp>
        <p:nvSpPr>
          <p:cNvPr id="153" name="TextBox 152"/>
          <p:cNvSpPr txBox="1"/>
          <p:nvPr/>
        </p:nvSpPr>
        <p:spPr>
          <a:xfrm>
            <a:off x="11430000" y="4475074"/>
            <a:ext cx="11795760" cy="506578"/>
          </a:xfrm>
          <a:prstGeom prst="rect">
            <a:avLst/>
          </a:prstGeom>
          <a:noFill/>
        </p:spPr>
        <p:txBody>
          <a:bodyPr wrap="square" lIns="0" rIns="0" tIns="0" bIns="0" anchor="t">
            <a:noAutofit/>
          </a:bodyPr>
          <a:lstStyle/>
          <a:p>
            <a:pPr algn="l"/>
            <a:r>
              <a:rPr sz="2400" b="1" i="0">
                <a:solidFill>
                  <a:srgbClr val="0072B2"/>
                </a:solidFill>
                <a:latin typeface="Gill Sans"/>
              </a:rPr>
              <a:t>Derivatives</a:t>
            </a:r>
            <a:r>
              <a:rPr sz="2400" b="0" i="0">
                <a:solidFill>
                  <a:srgbClr val="2A2F30"/>
                </a:solidFill>
                <a:latin typeface="Gill Sans"/>
              </a:rPr>
              <a:t>  Velocity gradients: 2D FFTs in x–y, centered differences in z.</a:t>
            </a:r>
          </a:p>
        </p:txBody>
      </p:sp>
      <p:sp>
        <p:nvSpPr>
          <p:cNvPr id="154" name="TextBox 153"/>
          <p:cNvSpPr txBox="1"/>
          <p:nvPr/>
        </p:nvSpPr>
        <p:spPr>
          <a:xfrm>
            <a:off x="2103120" y="4475074"/>
            <a:ext cx="7406640" cy="347472"/>
          </a:xfrm>
          <a:prstGeom prst="rect">
            <a:avLst/>
          </a:prstGeom>
          <a:noFill/>
        </p:spPr>
        <p:txBody>
          <a:bodyPr wrap="square" lIns="0" rIns="0" tIns="0" bIns="0" anchor="ctr">
            <a:noAutofit/>
          </a:bodyPr>
          <a:lstStyle/>
          <a:p>
            <a:pPr algn="l"/>
            <a:r>
              <a:rPr sz="2300" b="0" i="0">
                <a:solidFill>
                  <a:srgbClr val="0072B2"/>
                </a:solidFill>
                <a:latin typeface="Courier New"/>
              </a:rPr>
              <a:t>Derivatives()</a:t>
            </a:r>
          </a:p>
        </p:txBody>
      </p:sp>
      <p:sp>
        <p:nvSpPr>
          <p:cNvPr id="155" name="TextBox 154"/>
          <p:cNvSpPr txBox="1"/>
          <p:nvPr/>
        </p:nvSpPr>
        <p:spPr>
          <a:xfrm>
            <a:off x="11430000" y="4999939"/>
            <a:ext cx="11795760" cy="1336853"/>
          </a:xfrm>
          <a:prstGeom prst="rect">
            <a:avLst/>
          </a:prstGeom>
          <a:noFill/>
        </p:spPr>
        <p:txBody>
          <a:bodyPr wrap="square" lIns="0" rIns="0" tIns="0" bIns="0" anchor="t">
            <a:noAutofit/>
          </a:bodyPr>
          <a:lstStyle/>
          <a:p>
            <a:pPr algn="l"/>
            <a:r>
              <a:rPr sz="2400" b="1" i="0">
                <a:solidFill>
                  <a:srgbClr val="009E73"/>
                </a:solidFill>
                <a:latin typeface="Gill Sans"/>
              </a:rPr>
              <a:t>SGS</a:t>
            </a:r>
            <a:r>
              <a:rPr sz="2400" b="0" i="0">
                <a:solidFill>
                  <a:srgbClr val="2A2F30"/>
                </a:solidFill>
                <a:latin typeface="Gill Sans"/>
              </a:rPr>
              <a:t>  Subgrid stress from the LASD model. Every 5th step (c = 5) it filters 21 fields at two widths and interpolates along particle paths, the most irregular routine in the solver.</a:t>
            </a:r>
          </a:p>
        </p:txBody>
      </p:sp>
      <p:sp>
        <p:nvSpPr>
          <p:cNvPr id="156" name="TextBox 155"/>
          <p:cNvSpPr txBox="1"/>
          <p:nvPr/>
        </p:nvSpPr>
        <p:spPr>
          <a:xfrm>
            <a:off x="2103120" y="4999939"/>
            <a:ext cx="7406640" cy="347472"/>
          </a:xfrm>
          <a:prstGeom prst="rect">
            <a:avLst/>
          </a:prstGeom>
          <a:noFill/>
        </p:spPr>
        <p:txBody>
          <a:bodyPr wrap="square" lIns="0" rIns="0" tIns="0" bIns="0" anchor="ctr">
            <a:noAutofit/>
          </a:bodyPr>
          <a:lstStyle/>
          <a:p>
            <a:pPr algn="l"/>
            <a:r>
              <a:rPr sz="2300" b="0" i="0">
                <a:solidFill>
                  <a:srgbClr val="009E73"/>
                </a:solidFill>
                <a:latin typeface="Courier New"/>
              </a:rPr>
              <a:t>SGS()</a:t>
            </a:r>
          </a:p>
        </p:txBody>
      </p:sp>
      <p:sp>
        <p:nvSpPr>
          <p:cNvPr id="157" name="TextBox 156"/>
          <p:cNvSpPr txBox="1"/>
          <p:nvPr/>
        </p:nvSpPr>
        <p:spPr>
          <a:xfrm>
            <a:off x="2651760" y="5347411"/>
            <a:ext cx="7406640" cy="347472"/>
          </a:xfrm>
          <a:prstGeom prst="rect">
            <a:avLst/>
          </a:prstGeom>
          <a:noFill/>
        </p:spPr>
        <p:txBody>
          <a:bodyPr wrap="square" lIns="0" rIns="0" tIns="0" bIns="0" anchor="ctr">
            <a:noAutofit/>
          </a:bodyPr>
          <a:lstStyle/>
          <a:p>
            <a:pPr algn="l"/>
            <a:r>
              <a:rPr sz="2300" b="1" i="0">
                <a:solidFill>
                  <a:srgbClr val="2A2F30"/>
                </a:solidFill>
                <a:latin typeface="Courier New"/>
              </a:rPr>
              <a:t>if</a:t>
            </a:r>
            <a:r>
              <a:rPr sz="2300" b="0" i="0">
                <a:solidFill>
                  <a:srgbClr val="2A2F30"/>
                </a:solidFill>
                <a:latin typeface="Courier New"/>
              </a:rPr>
              <a:t> n mod c = 0 </a:t>
            </a:r>
            <a:r>
              <a:rPr sz="2300" b="1" i="0">
                <a:solidFill>
                  <a:srgbClr val="2A2F30"/>
                </a:solidFill>
                <a:latin typeface="Courier New"/>
              </a:rPr>
              <a:t>then</a:t>
            </a:r>
          </a:p>
        </p:txBody>
      </p:sp>
      <p:sp>
        <p:nvSpPr>
          <p:cNvPr id="158" name="TextBox 157"/>
          <p:cNvSpPr txBox="1"/>
          <p:nvPr/>
        </p:nvSpPr>
        <p:spPr>
          <a:xfrm>
            <a:off x="3200400" y="5694883"/>
            <a:ext cx="7406640" cy="347472"/>
          </a:xfrm>
          <a:prstGeom prst="rect">
            <a:avLst/>
          </a:prstGeom>
          <a:noFill/>
        </p:spPr>
        <p:txBody>
          <a:bodyPr wrap="square" lIns="0" rIns="0" tIns="0" bIns="0" anchor="ctr">
            <a:noAutofit/>
          </a:bodyPr>
          <a:lstStyle/>
          <a:p>
            <a:pPr algn="l"/>
            <a:r>
              <a:rPr sz="2300" b="0" i="0">
                <a:solidFill>
                  <a:srgbClr val="009E73"/>
                </a:solidFill>
                <a:latin typeface="Courier New"/>
              </a:rPr>
              <a:t>UpdateLASDCoefficient()</a:t>
            </a:r>
          </a:p>
        </p:txBody>
      </p:sp>
      <p:sp>
        <p:nvSpPr>
          <p:cNvPr id="159" name="TextBox 158"/>
          <p:cNvSpPr txBox="1"/>
          <p:nvPr/>
        </p:nvSpPr>
        <p:spPr>
          <a:xfrm>
            <a:off x="8869680" y="5694883"/>
            <a:ext cx="1463040" cy="347472"/>
          </a:xfrm>
          <a:prstGeom prst="rect">
            <a:avLst/>
          </a:prstGeom>
          <a:noFill/>
        </p:spPr>
        <p:txBody>
          <a:bodyPr wrap="square" lIns="0" rIns="0" tIns="0" bIns="0" anchor="ctr">
            <a:noAutofit/>
          </a:bodyPr>
          <a:lstStyle/>
          <a:p>
            <a:pPr algn="r"/>
            <a:r>
              <a:rPr sz="2100" b="0" i="1">
                <a:solidFill>
                  <a:srgbClr val="35798B"/>
                </a:solidFill>
                <a:latin typeface="Gill Sans"/>
              </a:rPr>
              <a:t>Opt. 2</a:t>
            </a:r>
          </a:p>
        </p:txBody>
      </p:sp>
      <p:sp>
        <p:nvSpPr>
          <p:cNvPr id="160" name="TextBox 159"/>
          <p:cNvSpPr txBox="1"/>
          <p:nvPr/>
        </p:nvSpPr>
        <p:spPr>
          <a:xfrm>
            <a:off x="2651760" y="6042355"/>
            <a:ext cx="7406640" cy="347472"/>
          </a:xfrm>
          <a:prstGeom prst="rect">
            <a:avLst/>
          </a:prstGeom>
          <a:noFill/>
        </p:spPr>
        <p:txBody>
          <a:bodyPr wrap="square" lIns="0" rIns="0" tIns="0" bIns="0" anchor="ctr">
            <a:noAutofit/>
          </a:bodyPr>
          <a:lstStyle/>
          <a:p>
            <a:pPr algn="l"/>
            <a:r>
              <a:rPr sz="2300" b="0" i="0">
                <a:solidFill>
                  <a:srgbClr val="009E73"/>
                </a:solidFill>
                <a:latin typeface="Courier New"/>
              </a:rPr>
              <a:t>SGSStress()</a:t>
            </a:r>
          </a:p>
        </p:txBody>
      </p:sp>
      <p:sp>
        <p:nvSpPr>
          <p:cNvPr id="161" name="TextBox 160"/>
          <p:cNvSpPr txBox="1"/>
          <p:nvPr/>
        </p:nvSpPr>
        <p:spPr>
          <a:xfrm>
            <a:off x="2651760" y="6389827"/>
            <a:ext cx="7406640" cy="347472"/>
          </a:xfrm>
          <a:prstGeom prst="rect">
            <a:avLst/>
          </a:prstGeom>
          <a:noFill/>
        </p:spPr>
        <p:txBody>
          <a:bodyPr wrap="square" lIns="0" rIns="0" tIns="0" bIns="0" anchor="ctr">
            <a:noAutofit/>
          </a:bodyPr>
          <a:lstStyle/>
          <a:p>
            <a:pPr algn="l"/>
            <a:r>
              <a:rPr sz="2300" b="0" i="0">
                <a:solidFill>
                  <a:srgbClr val="009E73"/>
                </a:solidFill>
                <a:latin typeface="Courier New"/>
              </a:rPr>
              <a:t>StressDivergence()</a:t>
            </a:r>
          </a:p>
        </p:txBody>
      </p:sp>
      <p:sp>
        <p:nvSpPr>
          <p:cNvPr id="162" name="TextBox 161"/>
          <p:cNvSpPr txBox="1"/>
          <p:nvPr/>
        </p:nvSpPr>
        <p:spPr>
          <a:xfrm>
            <a:off x="11430000" y="6847027"/>
            <a:ext cx="11795760" cy="921715"/>
          </a:xfrm>
          <a:prstGeom prst="rect">
            <a:avLst/>
          </a:prstGeom>
          <a:noFill/>
        </p:spPr>
        <p:txBody>
          <a:bodyPr wrap="square" lIns="0" rIns="0" tIns="0" bIns="0" anchor="t">
            <a:noAutofit/>
          </a:bodyPr>
          <a:lstStyle/>
          <a:p>
            <a:pPr algn="l"/>
            <a:r>
              <a:rPr sz="2400" b="1" i="0">
                <a:solidFill>
                  <a:srgbClr val="646464"/>
                </a:solidFill>
                <a:latin typeface="Gill Sans"/>
              </a:rPr>
              <a:t>Convection</a:t>
            </a:r>
            <a:r>
              <a:rPr sz="2400" b="0" i="0">
                <a:solidFill>
                  <a:srgbClr val="2A2F30"/>
                </a:solidFill>
                <a:latin typeface="Gill Sans"/>
              </a:rPr>
              <a:t>  Nonlinear term with 3/2-rule dealiasing: FFT to a 1.5× padded grid and back. The most FFT-heavy stage.</a:t>
            </a:r>
          </a:p>
        </p:txBody>
      </p:sp>
      <p:sp>
        <p:nvSpPr>
          <p:cNvPr id="163" name="TextBox 162"/>
          <p:cNvSpPr txBox="1"/>
          <p:nvPr/>
        </p:nvSpPr>
        <p:spPr>
          <a:xfrm>
            <a:off x="2103120" y="6847027"/>
            <a:ext cx="7406640" cy="347472"/>
          </a:xfrm>
          <a:prstGeom prst="rect">
            <a:avLst/>
          </a:prstGeom>
          <a:noFill/>
        </p:spPr>
        <p:txBody>
          <a:bodyPr wrap="square" lIns="0" rIns="0" tIns="0" bIns="0" anchor="ctr">
            <a:noAutofit/>
          </a:bodyPr>
          <a:lstStyle/>
          <a:p>
            <a:pPr algn="l"/>
            <a:r>
              <a:rPr sz="2300" b="0" i="0">
                <a:solidFill>
                  <a:srgbClr val="646464"/>
                </a:solidFill>
                <a:latin typeface="Courier New"/>
              </a:rPr>
              <a:t>Convection()</a:t>
            </a:r>
          </a:p>
        </p:txBody>
      </p:sp>
      <p:sp>
        <p:nvSpPr>
          <p:cNvPr id="164" name="TextBox 163"/>
          <p:cNvSpPr txBox="1"/>
          <p:nvPr/>
        </p:nvSpPr>
        <p:spPr>
          <a:xfrm>
            <a:off x="8869680" y="6847027"/>
            <a:ext cx="1463040" cy="347472"/>
          </a:xfrm>
          <a:prstGeom prst="rect">
            <a:avLst/>
          </a:prstGeom>
          <a:noFill/>
        </p:spPr>
        <p:txBody>
          <a:bodyPr wrap="square" lIns="0" rIns="0" tIns="0" bIns="0" anchor="ctr">
            <a:noAutofit/>
          </a:bodyPr>
          <a:lstStyle/>
          <a:p>
            <a:pPr algn="r"/>
            <a:r>
              <a:rPr sz="2100" b="0" i="1">
                <a:solidFill>
                  <a:srgbClr val="35798B"/>
                </a:solidFill>
                <a:latin typeface="Gill Sans"/>
              </a:rPr>
              <a:t>Opt. 3</a:t>
            </a:r>
          </a:p>
        </p:txBody>
      </p:sp>
      <p:sp>
        <p:nvSpPr>
          <p:cNvPr id="165" name="TextBox 164"/>
          <p:cNvSpPr txBox="1"/>
          <p:nvPr/>
        </p:nvSpPr>
        <p:spPr>
          <a:xfrm>
            <a:off x="11430000" y="7787030"/>
            <a:ext cx="11795760" cy="1336853"/>
          </a:xfrm>
          <a:prstGeom prst="rect">
            <a:avLst/>
          </a:prstGeom>
          <a:noFill/>
        </p:spPr>
        <p:txBody>
          <a:bodyPr wrap="square" lIns="0" rIns="0" tIns="0" bIns="0" anchor="t">
            <a:noAutofit/>
          </a:bodyPr>
          <a:lstStyle/>
          <a:p>
            <a:pPr algn="l"/>
            <a:r>
              <a:rPr sz="2400" b="1" i="0">
                <a:solidFill>
                  <a:srgbClr val="800080"/>
                </a:solidFill>
                <a:latin typeface="Gill Sans"/>
              </a:rPr>
              <a:t>Turbines</a:t>
            </a:r>
            <a:r>
              <a:rPr sz="2400" b="0" i="0">
                <a:solidFill>
                  <a:srgbClr val="2A2F30"/>
                </a:solidFill>
                <a:latin typeface="Gill Sans"/>
              </a:rPr>
              <a:t>  Actuator line: interpolate velocity at thousands of blade points, look up lift and drag in airfoil tables, then spread the forces back with a Gaussian kernel.</a:t>
            </a:r>
          </a:p>
        </p:txBody>
      </p:sp>
      <p:sp>
        <p:nvSpPr>
          <p:cNvPr id="166" name="TextBox 165"/>
          <p:cNvSpPr txBox="1"/>
          <p:nvPr/>
        </p:nvSpPr>
        <p:spPr>
          <a:xfrm>
            <a:off x="2103120" y="7787030"/>
            <a:ext cx="7406640" cy="347472"/>
          </a:xfrm>
          <a:prstGeom prst="rect">
            <a:avLst/>
          </a:prstGeom>
          <a:noFill/>
        </p:spPr>
        <p:txBody>
          <a:bodyPr wrap="square" lIns="0" rIns="0" tIns="0" bIns="0" anchor="ctr">
            <a:noAutofit/>
          </a:bodyPr>
          <a:lstStyle/>
          <a:p>
            <a:pPr algn="l"/>
            <a:r>
              <a:rPr sz="2300" b="0" i="0">
                <a:solidFill>
                  <a:srgbClr val="800080"/>
                </a:solidFill>
                <a:latin typeface="Courier New"/>
              </a:rPr>
              <a:t>Turbines()</a:t>
            </a:r>
          </a:p>
        </p:txBody>
      </p:sp>
      <p:sp>
        <p:nvSpPr>
          <p:cNvPr id="167" name="TextBox 166"/>
          <p:cNvSpPr txBox="1"/>
          <p:nvPr/>
        </p:nvSpPr>
        <p:spPr>
          <a:xfrm>
            <a:off x="2651760" y="8134502"/>
            <a:ext cx="7406640" cy="347472"/>
          </a:xfrm>
          <a:prstGeom prst="rect">
            <a:avLst/>
          </a:prstGeom>
          <a:noFill/>
        </p:spPr>
        <p:txBody>
          <a:bodyPr wrap="square" lIns="0" rIns="0" tIns="0" bIns="0" anchor="ctr">
            <a:noAutofit/>
          </a:bodyPr>
          <a:lstStyle/>
          <a:p>
            <a:pPr algn="l"/>
            <a:r>
              <a:rPr sz="2300" b="0" i="0">
                <a:solidFill>
                  <a:srgbClr val="800080"/>
                </a:solidFill>
                <a:latin typeface="Courier New"/>
              </a:rPr>
              <a:t>SampleBladeVelocities()</a:t>
            </a:r>
          </a:p>
        </p:txBody>
      </p:sp>
      <p:sp>
        <p:nvSpPr>
          <p:cNvPr id="168" name="TextBox 167"/>
          <p:cNvSpPr txBox="1"/>
          <p:nvPr/>
        </p:nvSpPr>
        <p:spPr>
          <a:xfrm>
            <a:off x="8869680" y="8134502"/>
            <a:ext cx="1463040" cy="347472"/>
          </a:xfrm>
          <a:prstGeom prst="rect">
            <a:avLst/>
          </a:prstGeom>
          <a:noFill/>
        </p:spPr>
        <p:txBody>
          <a:bodyPr wrap="square" lIns="0" rIns="0" tIns="0" bIns="0" anchor="ctr">
            <a:noAutofit/>
          </a:bodyPr>
          <a:lstStyle/>
          <a:p>
            <a:pPr algn="r"/>
            <a:r>
              <a:rPr sz="2100" b="0" i="1">
                <a:solidFill>
                  <a:srgbClr val="35798B"/>
                </a:solidFill>
                <a:latin typeface="Gill Sans"/>
              </a:rPr>
              <a:t>Opt. 2</a:t>
            </a:r>
          </a:p>
        </p:txBody>
      </p:sp>
      <p:sp>
        <p:nvSpPr>
          <p:cNvPr id="169" name="TextBox 168"/>
          <p:cNvSpPr txBox="1"/>
          <p:nvPr/>
        </p:nvSpPr>
        <p:spPr>
          <a:xfrm>
            <a:off x="2651760" y="8481974"/>
            <a:ext cx="7406640" cy="347472"/>
          </a:xfrm>
          <a:prstGeom prst="rect">
            <a:avLst/>
          </a:prstGeom>
          <a:noFill/>
        </p:spPr>
        <p:txBody>
          <a:bodyPr wrap="square" lIns="0" rIns="0" tIns="0" bIns="0" anchor="ctr">
            <a:noAutofit/>
          </a:bodyPr>
          <a:lstStyle/>
          <a:p>
            <a:pPr algn="l"/>
            <a:r>
              <a:rPr sz="2300" b="0" i="0">
                <a:solidFill>
                  <a:srgbClr val="800080"/>
                </a:solidFill>
                <a:latin typeface="Courier New"/>
              </a:rPr>
              <a:t>ComputeBladeForces()</a:t>
            </a:r>
          </a:p>
        </p:txBody>
      </p:sp>
      <p:sp>
        <p:nvSpPr>
          <p:cNvPr id="170" name="TextBox 169"/>
          <p:cNvSpPr txBox="1"/>
          <p:nvPr/>
        </p:nvSpPr>
        <p:spPr>
          <a:xfrm>
            <a:off x="8869680" y="8481974"/>
            <a:ext cx="1463040" cy="347472"/>
          </a:xfrm>
          <a:prstGeom prst="rect">
            <a:avLst/>
          </a:prstGeom>
          <a:noFill/>
        </p:spPr>
        <p:txBody>
          <a:bodyPr wrap="square" lIns="0" rIns="0" tIns="0" bIns="0" anchor="ctr">
            <a:noAutofit/>
          </a:bodyPr>
          <a:lstStyle/>
          <a:p>
            <a:pPr algn="r"/>
            <a:r>
              <a:rPr sz="2100" b="0" i="1">
                <a:solidFill>
                  <a:srgbClr val="35798B"/>
                </a:solidFill>
                <a:latin typeface="Gill Sans"/>
              </a:rPr>
              <a:t>Opt. 3</a:t>
            </a:r>
          </a:p>
        </p:txBody>
      </p:sp>
      <p:sp>
        <p:nvSpPr>
          <p:cNvPr id="171" name="TextBox 170"/>
          <p:cNvSpPr txBox="1"/>
          <p:nvPr/>
        </p:nvSpPr>
        <p:spPr>
          <a:xfrm>
            <a:off x="2651760" y="8829446"/>
            <a:ext cx="7406640" cy="347472"/>
          </a:xfrm>
          <a:prstGeom prst="rect">
            <a:avLst/>
          </a:prstGeom>
          <a:noFill/>
        </p:spPr>
        <p:txBody>
          <a:bodyPr wrap="square" lIns="0" rIns="0" tIns="0" bIns="0" anchor="ctr">
            <a:noAutofit/>
          </a:bodyPr>
          <a:lstStyle/>
          <a:p>
            <a:pPr algn="l"/>
            <a:r>
              <a:rPr sz="2300" b="0" i="0">
                <a:solidFill>
                  <a:srgbClr val="800080"/>
                </a:solidFill>
                <a:latin typeface="Courier New"/>
              </a:rPr>
              <a:t>SpreadBladeForces()</a:t>
            </a:r>
          </a:p>
        </p:txBody>
      </p:sp>
      <p:sp>
        <p:nvSpPr>
          <p:cNvPr id="172" name="TextBox 171"/>
          <p:cNvSpPr txBox="1"/>
          <p:nvPr/>
        </p:nvSpPr>
        <p:spPr>
          <a:xfrm>
            <a:off x="8869680" y="8829446"/>
            <a:ext cx="1463040" cy="347472"/>
          </a:xfrm>
          <a:prstGeom prst="rect">
            <a:avLst/>
          </a:prstGeom>
          <a:noFill/>
        </p:spPr>
        <p:txBody>
          <a:bodyPr wrap="square" lIns="0" rIns="0" tIns="0" bIns="0" anchor="ctr">
            <a:noAutofit/>
          </a:bodyPr>
          <a:lstStyle/>
          <a:p>
            <a:pPr algn="r"/>
            <a:r>
              <a:rPr sz="2100" b="0" i="1">
                <a:solidFill>
                  <a:srgbClr val="35798B"/>
                </a:solidFill>
                <a:latin typeface="Gill Sans"/>
              </a:rPr>
              <a:t>Opt. 2</a:t>
            </a:r>
          </a:p>
        </p:txBody>
      </p:sp>
      <p:sp>
        <p:nvSpPr>
          <p:cNvPr id="173" name="TextBox 172"/>
          <p:cNvSpPr txBox="1"/>
          <p:nvPr/>
        </p:nvSpPr>
        <p:spPr>
          <a:xfrm>
            <a:off x="11430000" y="9176918"/>
            <a:ext cx="11795760" cy="506578"/>
          </a:xfrm>
          <a:prstGeom prst="rect">
            <a:avLst/>
          </a:prstGeom>
          <a:noFill/>
        </p:spPr>
        <p:txBody>
          <a:bodyPr wrap="square" lIns="0" rIns="0" tIns="0" bIns="0" anchor="t">
            <a:noAutofit/>
          </a:bodyPr>
          <a:lstStyle/>
          <a:p>
            <a:pPr algn="l"/>
            <a:r>
              <a:rPr sz="2300" b="0" i="1">
                <a:solidFill>
                  <a:srgbClr val="5F6B76"/>
                </a:solidFill>
                <a:latin typeface="Gill Sans"/>
              </a:rPr>
              <a:t>explicit time integration (elided)</a:t>
            </a:r>
          </a:p>
        </p:txBody>
      </p:sp>
      <p:sp>
        <p:nvSpPr>
          <p:cNvPr id="174" name="TextBox 173"/>
          <p:cNvSpPr txBox="1"/>
          <p:nvPr/>
        </p:nvSpPr>
        <p:spPr>
          <a:xfrm>
            <a:off x="2103120" y="9176918"/>
            <a:ext cx="7406640" cy="347472"/>
          </a:xfrm>
          <a:prstGeom prst="rect">
            <a:avLst/>
          </a:prstGeom>
          <a:noFill/>
        </p:spPr>
        <p:txBody>
          <a:bodyPr wrap="square" lIns="0" rIns="0" tIns="0" bIns="0" anchor="ctr">
            <a:noAutofit/>
          </a:bodyPr>
          <a:lstStyle/>
          <a:p>
            <a:pPr algn="l"/>
            <a:r>
              <a:rPr sz="2300" b="0" i="0">
                <a:solidFill>
                  <a:srgbClr val="2A2F30"/>
                </a:solidFill>
                <a:latin typeface="Courier New"/>
              </a:rPr>
              <a:t>…</a:t>
            </a:r>
          </a:p>
        </p:txBody>
      </p:sp>
      <p:sp>
        <p:nvSpPr>
          <p:cNvPr id="175" name="TextBox 174"/>
          <p:cNvSpPr txBox="1"/>
          <p:nvPr/>
        </p:nvSpPr>
        <p:spPr>
          <a:xfrm>
            <a:off x="11430000" y="9701784"/>
            <a:ext cx="11795760" cy="1336853"/>
          </a:xfrm>
          <a:prstGeom prst="rect">
            <a:avLst/>
          </a:prstGeom>
          <a:noFill/>
        </p:spPr>
        <p:txBody>
          <a:bodyPr wrap="square" lIns="0" rIns="0" tIns="0" bIns="0" anchor="t">
            <a:noAutofit/>
          </a:bodyPr>
          <a:lstStyle/>
          <a:p>
            <a:pPr algn="l"/>
            <a:r>
              <a:rPr sz="2400" b="1" i="0">
                <a:solidFill>
                  <a:srgbClr val="D55E00"/>
                </a:solidFill>
                <a:latin typeface="Gill Sans"/>
              </a:rPr>
              <a:t>Pressure</a:t>
            </a:r>
            <a:r>
              <a:rPr sz="2400" b="0" i="0">
                <a:solidFill>
                  <a:srgbClr val="2A2F30"/>
                </a:solidFill>
                <a:latin typeface="Gill Sans"/>
              </a:rPr>
              <a:t>  2D FFTs split the Poisson equation into ~590K tridiagonal systems along z, one per wavenumber pair, and Thomas solves them. ProjectVelocity() then removes the divergence.</a:t>
            </a:r>
          </a:p>
        </p:txBody>
      </p:sp>
      <p:sp>
        <p:nvSpPr>
          <p:cNvPr id="176" name="TextBox 175"/>
          <p:cNvSpPr txBox="1"/>
          <p:nvPr/>
        </p:nvSpPr>
        <p:spPr>
          <a:xfrm>
            <a:off x="2103120" y="9701784"/>
            <a:ext cx="7406640" cy="347472"/>
          </a:xfrm>
          <a:prstGeom prst="rect">
            <a:avLst/>
          </a:prstGeom>
          <a:noFill/>
        </p:spPr>
        <p:txBody>
          <a:bodyPr wrap="square" lIns="0" rIns="0" tIns="0" bIns="0" anchor="ctr">
            <a:noAutofit/>
          </a:bodyPr>
          <a:lstStyle/>
          <a:p>
            <a:pPr algn="l"/>
            <a:r>
              <a:rPr sz="2300" b="0" i="0">
                <a:solidFill>
                  <a:srgbClr val="D55E00"/>
                </a:solidFill>
                <a:latin typeface="Courier New"/>
              </a:rPr>
              <a:t>Pressure()</a:t>
            </a:r>
          </a:p>
        </p:txBody>
      </p:sp>
      <p:sp>
        <p:nvSpPr>
          <p:cNvPr id="177" name="TextBox 176"/>
          <p:cNvSpPr txBox="1"/>
          <p:nvPr/>
        </p:nvSpPr>
        <p:spPr>
          <a:xfrm>
            <a:off x="2651760" y="10049256"/>
            <a:ext cx="7406640" cy="347472"/>
          </a:xfrm>
          <a:prstGeom prst="rect">
            <a:avLst/>
          </a:prstGeom>
          <a:noFill/>
        </p:spPr>
        <p:txBody>
          <a:bodyPr wrap="square" lIns="0" rIns="0" tIns="0" bIns="0" anchor="ctr">
            <a:noAutofit/>
          </a:bodyPr>
          <a:lstStyle/>
          <a:p>
            <a:pPr algn="l"/>
            <a:r>
              <a:rPr sz="2300" b="0" i="0">
                <a:solidFill>
                  <a:srgbClr val="D55E00"/>
                </a:solidFill>
                <a:latin typeface="Courier New"/>
              </a:rPr>
              <a:t>PoissonFFT()</a:t>
            </a:r>
          </a:p>
        </p:txBody>
      </p:sp>
      <p:sp>
        <p:nvSpPr>
          <p:cNvPr id="178" name="TextBox 177"/>
          <p:cNvSpPr txBox="1"/>
          <p:nvPr/>
        </p:nvSpPr>
        <p:spPr>
          <a:xfrm>
            <a:off x="2651760" y="10396728"/>
            <a:ext cx="7406640" cy="347472"/>
          </a:xfrm>
          <a:prstGeom prst="rect">
            <a:avLst/>
          </a:prstGeom>
          <a:noFill/>
        </p:spPr>
        <p:txBody>
          <a:bodyPr wrap="square" lIns="0" rIns="0" tIns="0" bIns="0" anchor="ctr">
            <a:noAutofit/>
          </a:bodyPr>
          <a:lstStyle/>
          <a:p>
            <a:pPr algn="l"/>
            <a:r>
              <a:rPr sz="2300" b="0" i="0">
                <a:solidFill>
                  <a:srgbClr val="D55E00"/>
                </a:solidFill>
                <a:latin typeface="Courier New"/>
              </a:rPr>
              <a:t>PoissonTridiag()</a:t>
            </a:r>
          </a:p>
        </p:txBody>
      </p:sp>
      <p:sp>
        <p:nvSpPr>
          <p:cNvPr id="179" name="TextBox 178"/>
          <p:cNvSpPr txBox="1"/>
          <p:nvPr/>
        </p:nvSpPr>
        <p:spPr>
          <a:xfrm>
            <a:off x="8869680" y="10396728"/>
            <a:ext cx="1463040" cy="347472"/>
          </a:xfrm>
          <a:prstGeom prst="rect">
            <a:avLst/>
          </a:prstGeom>
          <a:noFill/>
        </p:spPr>
        <p:txBody>
          <a:bodyPr wrap="square" lIns="0" rIns="0" tIns="0" bIns="0" anchor="ctr">
            <a:noAutofit/>
          </a:bodyPr>
          <a:lstStyle/>
          <a:p>
            <a:pPr algn="r"/>
            <a:r>
              <a:rPr sz="2100" b="0" i="1">
                <a:solidFill>
                  <a:srgbClr val="35798B"/>
                </a:solidFill>
                <a:latin typeface="Gill Sans"/>
              </a:rPr>
              <a:t>Opt. 1</a:t>
            </a:r>
          </a:p>
        </p:txBody>
      </p:sp>
      <p:sp>
        <p:nvSpPr>
          <p:cNvPr id="180" name="TextBox 179"/>
          <p:cNvSpPr txBox="1"/>
          <p:nvPr/>
        </p:nvSpPr>
        <p:spPr>
          <a:xfrm>
            <a:off x="2651760" y="10744200"/>
            <a:ext cx="7406640" cy="347472"/>
          </a:xfrm>
          <a:prstGeom prst="rect">
            <a:avLst/>
          </a:prstGeom>
          <a:noFill/>
        </p:spPr>
        <p:txBody>
          <a:bodyPr wrap="square" lIns="0" rIns="0" tIns="0" bIns="0" anchor="ctr">
            <a:noAutofit/>
          </a:bodyPr>
          <a:lstStyle/>
          <a:p>
            <a:pPr algn="l"/>
            <a:r>
              <a:rPr sz="2300" b="0" i="0">
                <a:solidFill>
                  <a:srgbClr val="D55E00"/>
                </a:solidFill>
                <a:latin typeface="Courier New"/>
              </a:rPr>
              <a:t>PoissonInvFFT()</a:t>
            </a:r>
          </a:p>
        </p:txBody>
      </p:sp>
      <p:sp>
        <p:nvSpPr>
          <p:cNvPr id="181" name="TextBox 180"/>
          <p:cNvSpPr txBox="1"/>
          <p:nvPr/>
        </p:nvSpPr>
        <p:spPr>
          <a:xfrm>
            <a:off x="2103120" y="11091672"/>
            <a:ext cx="7406640" cy="347472"/>
          </a:xfrm>
          <a:prstGeom prst="rect">
            <a:avLst/>
          </a:prstGeom>
          <a:noFill/>
        </p:spPr>
        <p:txBody>
          <a:bodyPr wrap="square" lIns="0" rIns="0" tIns="0" bIns="0" anchor="ctr">
            <a:noAutofit/>
          </a:bodyPr>
          <a:lstStyle/>
          <a:p>
            <a:pPr algn="l"/>
            <a:r>
              <a:rPr sz="2300" b="0" i="0">
                <a:solidFill>
                  <a:srgbClr val="2A2F30"/>
                </a:solidFill>
                <a:latin typeface="Courier New"/>
              </a:rPr>
              <a:t>ProjectVelocity()</a:t>
            </a:r>
          </a:p>
        </p:txBody>
      </p:sp>
      <p:sp>
        <p:nvSpPr>
          <p:cNvPr id="182" name="TextBox 181"/>
          <p:cNvSpPr txBox="1"/>
          <p:nvPr/>
        </p:nvSpPr>
        <p:spPr>
          <a:xfrm>
            <a:off x="1554480" y="11439144"/>
            <a:ext cx="7406640" cy="347472"/>
          </a:xfrm>
          <a:prstGeom prst="rect">
            <a:avLst/>
          </a:prstGeom>
          <a:noFill/>
        </p:spPr>
        <p:txBody>
          <a:bodyPr wrap="square" lIns="0" rIns="0" tIns="0" bIns="0" anchor="ctr">
            <a:noAutofit/>
          </a:bodyPr>
          <a:lstStyle/>
          <a:p>
            <a:pPr algn="l"/>
            <a:r>
              <a:rPr sz="2300" b="1" i="0">
                <a:solidFill>
                  <a:srgbClr val="2A2F30"/>
                </a:solidFill>
                <a:latin typeface="Courier New"/>
              </a:rPr>
              <a:t>end for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1D Slab Decomposition Hits a CPU Ceiling</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More cores barely help: the node saturates memory bandwidth, then runs out of memory.</a:t>
            </a:r>
          </a:p>
        </p:txBody>
      </p:sp>
      <p:sp>
        <p:nvSpPr>
          <p:cNvPr id="150" name="Rectangle 149"/>
          <p:cNvSpPr/>
          <p:nvPr/>
        </p:nvSpPr>
        <p:spPr>
          <a:xfrm>
            <a:off x="2468880" y="4206240"/>
            <a:ext cx="6949440" cy="841248"/>
          </a:xfrm>
          <a:prstGeom prst="rect">
            <a:avLst/>
          </a:prstGeom>
          <a:solidFill>
            <a:srgbClr val="C8D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743200" y="4206240"/>
            <a:ext cx="6400800" cy="841248"/>
          </a:xfrm>
          <a:prstGeom prst="rect">
            <a:avLst/>
          </a:prstGeom>
          <a:noFill/>
        </p:spPr>
        <p:txBody>
          <a:bodyPr wrap="square" lIns="0" rIns="0" tIns="0" bIns="0" anchor="ctr">
            <a:noAutofit/>
          </a:bodyPr>
          <a:lstStyle/>
          <a:p>
            <a:pPr algn="l"/>
            <a:r>
              <a:rPr sz="2600" b="0" i="0">
                <a:solidFill>
                  <a:srgbClr val="2A2F30"/>
                </a:solidFill>
                <a:latin typeface="Gill Sans"/>
              </a:rPr>
              <a:t>Process 3  ·  full x–y planes</a:t>
            </a:r>
          </a:p>
        </p:txBody>
      </p:sp>
      <p:sp>
        <p:nvSpPr>
          <p:cNvPr id="152" name="Rectangle 151"/>
          <p:cNvSpPr/>
          <p:nvPr/>
        </p:nvSpPr>
        <p:spPr>
          <a:xfrm>
            <a:off x="2468880" y="5175504"/>
            <a:ext cx="6949440" cy="841248"/>
          </a:xfrm>
          <a:prstGeom prst="rect">
            <a:avLst/>
          </a:prstGeom>
          <a:solidFill>
            <a:srgbClr val="AFC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743200" y="5175504"/>
            <a:ext cx="6400800" cy="841248"/>
          </a:xfrm>
          <a:prstGeom prst="rect">
            <a:avLst/>
          </a:prstGeom>
          <a:noFill/>
        </p:spPr>
        <p:txBody>
          <a:bodyPr wrap="square" lIns="0" rIns="0" tIns="0" bIns="0" anchor="ctr">
            <a:noAutofit/>
          </a:bodyPr>
          <a:lstStyle/>
          <a:p>
            <a:pPr algn="l"/>
            <a:r>
              <a:rPr sz="2600" b="0" i="0">
                <a:solidFill>
                  <a:srgbClr val="2A2F30"/>
                </a:solidFill>
                <a:latin typeface="Gill Sans"/>
              </a:rPr>
              <a:t>Process 2  ·  full x–y planes</a:t>
            </a:r>
          </a:p>
        </p:txBody>
      </p:sp>
      <p:sp>
        <p:nvSpPr>
          <p:cNvPr id="154" name="Rectangle 153"/>
          <p:cNvSpPr/>
          <p:nvPr/>
        </p:nvSpPr>
        <p:spPr>
          <a:xfrm>
            <a:off x="2468880" y="6144768"/>
            <a:ext cx="6949440" cy="841248"/>
          </a:xfrm>
          <a:prstGeom prst="rect">
            <a:avLst/>
          </a:prstGeom>
          <a:solidFill>
            <a:srgbClr val="95A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743200" y="6144768"/>
            <a:ext cx="6400800" cy="841248"/>
          </a:xfrm>
          <a:prstGeom prst="rect">
            <a:avLst/>
          </a:prstGeom>
          <a:noFill/>
        </p:spPr>
        <p:txBody>
          <a:bodyPr wrap="square" lIns="0" rIns="0" tIns="0" bIns="0" anchor="ctr">
            <a:noAutofit/>
          </a:bodyPr>
          <a:lstStyle/>
          <a:p>
            <a:pPr algn="l"/>
            <a:r>
              <a:rPr sz="2600" b="0" i="0">
                <a:solidFill>
                  <a:srgbClr val="2A2F30"/>
                </a:solidFill>
                <a:latin typeface="Gill Sans"/>
              </a:rPr>
              <a:t>Process 1  ·  full x–y planes</a:t>
            </a:r>
          </a:p>
        </p:txBody>
      </p:sp>
      <p:sp>
        <p:nvSpPr>
          <p:cNvPr id="156" name="Rectangle 155"/>
          <p:cNvSpPr/>
          <p:nvPr/>
        </p:nvSpPr>
        <p:spPr>
          <a:xfrm>
            <a:off x="2468880" y="7114032"/>
            <a:ext cx="6949440" cy="841248"/>
          </a:xfrm>
          <a:prstGeom prst="rect">
            <a:avLst/>
          </a:prstGeom>
          <a:solidFill>
            <a:srgbClr val="7C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2743200" y="7114032"/>
            <a:ext cx="6400800" cy="841248"/>
          </a:xfrm>
          <a:prstGeom prst="rect">
            <a:avLst/>
          </a:prstGeom>
          <a:noFill/>
        </p:spPr>
        <p:txBody>
          <a:bodyPr wrap="square" lIns="0" rIns="0" tIns="0" bIns="0" anchor="ctr">
            <a:noAutofit/>
          </a:bodyPr>
          <a:lstStyle/>
          <a:p>
            <a:pPr algn="l"/>
            <a:r>
              <a:rPr sz="2600" b="0" i="0">
                <a:solidFill>
                  <a:srgbClr val="2A2F30"/>
                </a:solidFill>
                <a:latin typeface="Gill Sans"/>
              </a:rPr>
              <a:t>Process 0  ·  full x–y planes</a:t>
            </a:r>
          </a:p>
        </p:txBody>
      </p:sp>
      <p:cxnSp>
        <p:nvCxnSpPr>
          <p:cNvPr id="158" name="Connector 157"/>
          <p:cNvCxnSpPr/>
          <p:nvPr/>
        </p:nvCxnSpPr>
        <p:spPr>
          <a:xfrm flipV="1">
            <a:off x="1737360" y="4206240"/>
            <a:ext cx="0" cy="3749040"/>
          </a:xfrm>
          <a:prstGeom prst="line">
            <a:avLst/>
          </a:prstGeom>
          <a:ln w="38100">
            <a:solidFill>
              <a:srgbClr val="2A2F30"/>
            </a:solidFill>
            <a:tailEnd type="triangle"/>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1097280" y="5715000"/>
            <a:ext cx="548640" cy="731520"/>
          </a:xfrm>
          <a:prstGeom prst="rect">
            <a:avLst/>
          </a:prstGeom>
          <a:noFill/>
        </p:spPr>
        <p:txBody>
          <a:bodyPr wrap="square" lIns="0" rIns="0" tIns="0" bIns="0" anchor="ctr">
            <a:noAutofit/>
          </a:bodyPr>
          <a:lstStyle/>
          <a:p>
            <a:pPr algn="l"/>
            <a:r>
              <a:rPr sz="3200" b="1" i="1">
                <a:solidFill>
                  <a:srgbClr val="2A2F30"/>
                </a:solidFill>
                <a:latin typeface="Gill Sans"/>
              </a:rPr>
              <a:t>z</a:t>
            </a:r>
          </a:p>
        </p:txBody>
      </p:sp>
      <p:sp>
        <p:nvSpPr>
          <p:cNvPr id="160" name="TextBox 159"/>
          <p:cNvSpPr txBox="1"/>
          <p:nvPr/>
        </p:nvSpPr>
        <p:spPr>
          <a:xfrm>
            <a:off x="1097280" y="8412480"/>
            <a:ext cx="9875520" cy="3657600"/>
          </a:xfrm>
          <a:prstGeom prst="rect">
            <a:avLst/>
          </a:prstGeom>
          <a:noFill/>
        </p:spPr>
        <p:txBody>
          <a:bodyPr wrap="square" lIns="0" rIns="0" tIns="0" bIns="0" anchor="t">
            <a:noAutofit/>
          </a:bodyPr>
          <a:lstStyle/>
          <a:p>
            <a:pPr algn="l" marL="438912" indent="-438912">
              <a:spcAft>
                <a:spcPts val="1600"/>
              </a:spcAft>
              <a:buClr>
                <a:srgbClr val="35798B"/>
              </a:buClr>
              <a:buSzPct val="100000"/>
              <a:buFont typeface="Arial"/>
              <a:buChar char="•"/>
            </a:pPr>
            <a:r>
              <a:rPr sz="3000" b="1" i="0">
                <a:solidFill>
                  <a:srgbClr val="2A2F30"/>
                </a:solidFill>
                <a:latin typeface="Gill Sans"/>
              </a:rPr>
              <a:t>2D horizontal FFTs stay local: </a:t>
            </a:r>
            <a:r>
              <a:rPr sz="3000" b="0" i="0">
                <a:solidFill>
                  <a:srgbClr val="2A2F30"/>
                </a:solidFill>
                <a:latin typeface="Gill Sans"/>
              </a:rPr>
              <a:t>no all-to-all transposes</a:t>
            </a:r>
          </a:p>
          <a:p>
            <a:pPr algn="l" marL="438912" indent="-438912">
              <a:spcAft>
                <a:spcPts val="1600"/>
              </a:spcAft>
              <a:buClr>
                <a:srgbClr val="35798B"/>
              </a:buClr>
              <a:buSzPct val="100000"/>
              <a:buFont typeface="Arial"/>
              <a:buChar char="•"/>
            </a:pPr>
            <a:r>
              <a:rPr sz="3000" b="1" i="0">
                <a:solidFill>
                  <a:srgbClr val="2A2F30"/>
                </a:solidFill>
                <a:latin typeface="Gill Sans"/>
              </a:rPr>
              <a:t>Halo exchange: </a:t>
            </a:r>
            <a:r>
              <a:rPr sz="3000" b="0" i="0">
                <a:solidFill>
                  <a:srgbClr val="2A2F30"/>
                </a:solidFill>
                <a:latin typeface="Gill Sans"/>
              </a:rPr>
              <a:t>single planes between neighbors</a:t>
            </a:r>
          </a:p>
          <a:p>
            <a:pPr algn="l" marL="438912" indent="-438912">
              <a:spcAft>
                <a:spcPts val="1600"/>
              </a:spcAft>
              <a:buClr>
                <a:srgbClr val="35798B"/>
              </a:buClr>
              <a:buSzPct val="100000"/>
              <a:buFont typeface="Arial"/>
              <a:buChar char="•"/>
            </a:pPr>
            <a:r>
              <a:rPr sz="3000" b="1" i="0">
                <a:solidFill>
                  <a:srgbClr val="2A2F30"/>
                </a:solidFill>
                <a:latin typeface="Gill Sans"/>
              </a:rPr>
              <a:t>Poisson solve is global: </a:t>
            </a:r>
            <a:r>
              <a:rPr sz="3000" b="0" i="0">
                <a:solidFill>
                  <a:srgbClr val="2A2F30"/>
                </a:solidFill>
                <a:latin typeface="Gill Sans"/>
              </a:rPr>
              <a:t>every tridiagonal system spans all processes in z</a:t>
            </a:r>
          </a:p>
        </p:txBody>
      </p:sp>
      <p:pic>
        <p:nvPicPr>
          <p:cNvPr id="161" name="Picture 160" descr="fig_ceiling.png"/>
          <p:cNvPicPr>
            <a:picLocks noChangeAspect="1"/>
          </p:cNvPicPr>
          <p:nvPr/>
        </p:nvPicPr>
        <p:blipFill>
          <a:blip r:embed="rId2"/>
          <a:stretch>
            <a:fillRect/>
          </a:stretch>
        </p:blipFill>
        <p:spPr>
          <a:xfrm>
            <a:off x="12801600" y="3931920"/>
            <a:ext cx="10424160" cy="6254496"/>
          </a:xfrm>
          <a:prstGeom prst="rect">
            <a:avLst/>
          </a:prstGeom>
        </p:spPr>
      </p:pic>
      <p:sp>
        <p:nvSpPr>
          <p:cNvPr id="162" name="Rounded Rectangle 161"/>
          <p:cNvSpPr/>
          <p:nvPr/>
        </p:nvSpPr>
        <p:spPr>
          <a:xfrm>
            <a:off x="12801600" y="10405872"/>
            <a:ext cx="3230880" cy="1737360"/>
          </a:xfrm>
          <a:prstGeom prst="roundRect">
            <a:avLst>
              <a:gd name="adj" fmla="val 12631"/>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3075920" y="10515600"/>
            <a:ext cx="2682240" cy="955548"/>
          </a:xfrm>
          <a:prstGeom prst="rect">
            <a:avLst/>
          </a:prstGeom>
          <a:noFill/>
        </p:spPr>
        <p:txBody>
          <a:bodyPr wrap="square" lIns="0" rIns="0" tIns="0" bIns="0" anchor="ctr">
            <a:noAutofit/>
          </a:bodyPr>
          <a:lstStyle/>
          <a:p>
            <a:pPr algn="l"/>
            <a:r>
              <a:rPr sz="4400" b="1" i="0">
                <a:solidFill>
                  <a:srgbClr val="C4512F"/>
                </a:solidFill>
                <a:latin typeface="Arial"/>
              </a:rPr>
              <a:t>1.08×</a:t>
            </a:r>
          </a:p>
        </p:txBody>
      </p:sp>
      <p:sp>
        <p:nvSpPr>
          <p:cNvPr id="164" name="TextBox 163"/>
          <p:cNvSpPr txBox="1"/>
          <p:nvPr/>
        </p:nvSpPr>
        <p:spPr>
          <a:xfrm>
            <a:off x="13075920" y="11471148"/>
            <a:ext cx="2682240" cy="562356"/>
          </a:xfrm>
          <a:prstGeom prst="rect">
            <a:avLst/>
          </a:prstGeom>
          <a:noFill/>
        </p:spPr>
        <p:txBody>
          <a:bodyPr wrap="square" lIns="0" rIns="0" tIns="0" bIns="0" anchor="t">
            <a:noAutofit/>
          </a:bodyPr>
          <a:lstStyle/>
          <a:p>
            <a:pPr algn="l"/>
            <a:r>
              <a:rPr sz="2500" b="0" i="0">
                <a:solidFill>
                  <a:srgbClr val="5F6B76"/>
                </a:solidFill>
                <a:latin typeface="Gill Sans"/>
              </a:rPr>
              <a:t>16 → 64 cores</a:t>
            </a:r>
          </a:p>
        </p:txBody>
      </p:sp>
      <p:sp>
        <p:nvSpPr>
          <p:cNvPr id="165" name="Rounded Rectangle 164"/>
          <p:cNvSpPr/>
          <p:nvPr/>
        </p:nvSpPr>
        <p:spPr>
          <a:xfrm>
            <a:off x="16398240" y="10405872"/>
            <a:ext cx="3230880" cy="1737360"/>
          </a:xfrm>
          <a:prstGeom prst="roundRect">
            <a:avLst>
              <a:gd name="adj" fmla="val 12631"/>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6672560" y="10515600"/>
            <a:ext cx="2682240" cy="955548"/>
          </a:xfrm>
          <a:prstGeom prst="rect">
            <a:avLst/>
          </a:prstGeom>
          <a:noFill/>
        </p:spPr>
        <p:txBody>
          <a:bodyPr wrap="square" lIns="0" rIns="0" tIns="0" bIns="0" anchor="ctr">
            <a:noAutofit/>
          </a:bodyPr>
          <a:lstStyle/>
          <a:p>
            <a:pPr algn="l"/>
            <a:r>
              <a:rPr sz="4400" b="1" i="0">
                <a:solidFill>
                  <a:srgbClr val="C4512F"/>
                </a:solidFill>
                <a:latin typeface="Arial"/>
              </a:rPr>
              <a:t>OOM</a:t>
            </a:r>
          </a:p>
        </p:txBody>
      </p:sp>
      <p:sp>
        <p:nvSpPr>
          <p:cNvPr id="167" name="TextBox 166"/>
          <p:cNvSpPr txBox="1"/>
          <p:nvPr/>
        </p:nvSpPr>
        <p:spPr>
          <a:xfrm>
            <a:off x="16672560" y="11471148"/>
            <a:ext cx="2682240" cy="562356"/>
          </a:xfrm>
          <a:prstGeom prst="rect">
            <a:avLst/>
          </a:prstGeom>
          <a:noFill/>
        </p:spPr>
        <p:txBody>
          <a:bodyPr wrap="square" lIns="0" rIns="0" tIns="0" bIns="0" anchor="t">
            <a:noAutofit/>
          </a:bodyPr>
          <a:lstStyle/>
          <a:p>
            <a:pPr algn="l"/>
            <a:r>
              <a:rPr sz="2500" b="0" i="0">
                <a:solidFill>
                  <a:srgbClr val="5F6B76"/>
                </a:solidFill>
                <a:latin typeface="Gill Sans"/>
              </a:rPr>
              <a:t>at 128 processes</a:t>
            </a:r>
          </a:p>
        </p:txBody>
      </p:sp>
      <p:sp>
        <p:nvSpPr>
          <p:cNvPr id="168" name="Rounded Rectangle 167"/>
          <p:cNvSpPr/>
          <p:nvPr/>
        </p:nvSpPr>
        <p:spPr>
          <a:xfrm>
            <a:off x="19994880" y="10405872"/>
            <a:ext cx="3230880" cy="1737360"/>
          </a:xfrm>
          <a:prstGeom prst="roundRect">
            <a:avLst>
              <a:gd name="adj" fmla="val 12631"/>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20269200" y="10515600"/>
            <a:ext cx="2682240" cy="955548"/>
          </a:xfrm>
          <a:prstGeom prst="rect">
            <a:avLst/>
          </a:prstGeom>
          <a:noFill/>
        </p:spPr>
        <p:txBody>
          <a:bodyPr wrap="square" lIns="0" rIns="0" tIns="0" bIns="0" anchor="ctr">
            <a:noAutofit/>
          </a:bodyPr>
          <a:lstStyle/>
          <a:p>
            <a:pPr algn="l"/>
            <a:r>
              <a:rPr sz="4400" b="1" i="0">
                <a:solidFill>
                  <a:srgbClr val="C4512F"/>
                </a:solidFill>
                <a:latin typeface="Arial"/>
              </a:rPr>
              <a:t>2.1×</a:t>
            </a:r>
          </a:p>
        </p:txBody>
      </p:sp>
      <p:sp>
        <p:nvSpPr>
          <p:cNvPr id="170" name="TextBox 169"/>
          <p:cNvSpPr txBox="1"/>
          <p:nvPr/>
        </p:nvSpPr>
        <p:spPr>
          <a:xfrm>
            <a:off x="20269200" y="11471148"/>
            <a:ext cx="2682240" cy="562356"/>
          </a:xfrm>
          <a:prstGeom prst="rect">
            <a:avLst/>
          </a:prstGeom>
          <a:noFill/>
        </p:spPr>
        <p:txBody>
          <a:bodyPr wrap="square" lIns="0" rIns="0" tIns="0" bIns="0" anchor="t">
            <a:noAutofit/>
          </a:bodyPr>
          <a:lstStyle/>
          <a:p>
            <a:pPr algn="l"/>
            <a:r>
              <a:rPr sz="2500" b="0" i="0">
                <a:solidFill>
                  <a:srgbClr val="5F6B76"/>
                </a:solidFill>
                <a:latin typeface="Gill Sans"/>
              </a:rPr>
              <a:t>4 nodes vs.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Porting the Kernels with OpenACC</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Offloading the computation is the straightforward part.</a:t>
            </a:r>
          </a:p>
        </p:txBody>
      </p:sp>
      <p:sp>
        <p:nvSpPr>
          <p:cNvPr id="150" name="TextBox 149"/>
          <p:cNvSpPr txBox="1"/>
          <p:nvPr/>
        </p:nvSpPr>
        <p:spPr>
          <a:xfrm>
            <a:off x="1097280" y="4023360"/>
            <a:ext cx="10972800" cy="640080"/>
          </a:xfrm>
          <a:prstGeom prst="rect">
            <a:avLst/>
          </a:prstGeom>
          <a:noFill/>
        </p:spPr>
        <p:txBody>
          <a:bodyPr wrap="square" lIns="0" rIns="0" tIns="0" bIns="0" anchor="ctr">
            <a:noAutofit/>
          </a:bodyPr>
          <a:lstStyle/>
          <a:p>
            <a:pPr algn="l"/>
            <a:r>
              <a:rPr sz="3000" b="1" i="0">
                <a:solidFill>
                  <a:srgbClr val="2A2F30"/>
                </a:solidFill>
                <a:latin typeface="Gill Sans"/>
              </a:rPr>
              <a:t>Example: a field update loop</a:t>
            </a:r>
          </a:p>
        </p:txBody>
      </p:sp>
      <p:sp>
        <p:nvSpPr>
          <p:cNvPr id="151" name="Rounded Rectangle 150"/>
          <p:cNvSpPr/>
          <p:nvPr/>
        </p:nvSpPr>
        <p:spPr>
          <a:xfrm>
            <a:off x="1097280" y="4791456"/>
            <a:ext cx="10972800" cy="5669280"/>
          </a:xfrm>
          <a:prstGeom prst="roundRect">
            <a:avLst>
              <a:gd name="adj" fmla="val 3225"/>
            </a:avLst>
          </a:prstGeom>
          <a:solidFill>
            <a:srgbClr val="1E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554480" y="4791456"/>
            <a:ext cx="10241280" cy="5669280"/>
          </a:xfrm>
          <a:prstGeom prst="rect">
            <a:avLst/>
          </a:prstGeom>
          <a:noFill/>
        </p:spPr>
        <p:txBody>
          <a:bodyPr wrap="square" lIns="0" rIns="0" tIns="0" bIns="0" anchor="ctr">
            <a:noAutofit/>
          </a:bodyPr>
          <a:lstStyle/>
          <a:p>
            <a:pPr algn="l"/>
            <a:r>
              <a:rPr sz="2800" b="0" i="0">
                <a:solidFill>
                  <a:srgbClr val="F5B26B"/>
                </a:solidFill>
                <a:latin typeface="Courier New"/>
              </a:rPr>
              <a:t>!$acc parallel loop collapse(3) default(present)</a:t>
            </a:r>
          </a:p>
          <a:p>
            <a:pPr algn="l"/>
            <a:r>
              <a:rPr sz="2800" b="0" i="0">
                <a:solidFill>
                  <a:srgbClr val="E6EDF3"/>
                </a:solidFill>
                <a:latin typeface="Courier New"/>
              </a:rPr>
              <a:t>do k = 1, nz</a:t>
            </a:r>
          </a:p>
          <a:p>
            <a:pPr algn="l"/>
            <a:r>
              <a:rPr sz="2800" b="0" i="0">
                <a:solidFill>
                  <a:srgbClr val="E6EDF3"/>
                </a:solidFill>
                <a:latin typeface="Courier New"/>
              </a:rPr>
              <a:t>  do j = 1, ny</a:t>
            </a:r>
          </a:p>
          <a:p>
            <a:pPr algn="l"/>
            <a:r>
              <a:rPr sz="2800" b="0" i="0">
                <a:solidFill>
                  <a:srgbClr val="E6EDF3"/>
                </a:solidFill>
                <a:latin typeface="Courier New"/>
              </a:rPr>
              <a:t>    do i = 1, nx</a:t>
            </a:r>
          </a:p>
          <a:p>
            <a:pPr algn="l"/>
            <a:r>
              <a:rPr sz="2800" b="0" i="0">
                <a:solidFill>
                  <a:srgbClr val="E6EDF3"/>
                </a:solidFill>
                <a:latin typeface="Courier New"/>
              </a:rPr>
              <a:t>      u(i,j,k) = u(i,j,k) + dt * rhs(i,j,k)</a:t>
            </a:r>
          </a:p>
          <a:p>
            <a:pPr algn="l"/>
            <a:r>
              <a:rPr sz="2800" b="0" i="0">
                <a:solidFill>
                  <a:srgbClr val="E6EDF3"/>
                </a:solidFill>
                <a:latin typeface="Courier New"/>
              </a:rPr>
              <a:t>    end do</a:t>
            </a:r>
          </a:p>
          <a:p>
            <a:pPr algn="l"/>
            <a:r>
              <a:rPr sz="2800" b="0" i="0">
                <a:solidFill>
                  <a:srgbClr val="E6EDF3"/>
                </a:solidFill>
                <a:latin typeface="Courier New"/>
              </a:rPr>
              <a:t>  end do</a:t>
            </a:r>
          </a:p>
          <a:p>
            <a:pPr algn="l"/>
            <a:r>
              <a:rPr sz="2800" b="0" i="0">
                <a:solidFill>
                  <a:srgbClr val="E6EDF3"/>
                </a:solidFill>
                <a:latin typeface="Courier New"/>
              </a:rPr>
              <a:t>end do</a:t>
            </a:r>
          </a:p>
        </p:txBody>
      </p:sp>
      <p:sp>
        <p:nvSpPr>
          <p:cNvPr id="153" name="TextBox 152"/>
          <p:cNvSpPr txBox="1"/>
          <p:nvPr/>
        </p:nvSpPr>
        <p:spPr>
          <a:xfrm>
            <a:off x="12801600" y="4023360"/>
            <a:ext cx="10424160" cy="8138160"/>
          </a:xfrm>
          <a:prstGeom prst="rect">
            <a:avLst/>
          </a:prstGeom>
          <a:noFill/>
        </p:spPr>
        <p:txBody>
          <a:bodyPr wrap="square" lIns="0" rIns="0" tIns="0" bIns="0" anchor="t">
            <a:noAutofit/>
          </a:bodyPr>
          <a:lstStyle/>
          <a:p>
            <a:pPr algn="l">
              <a:spcAft>
                <a:spcPts val="2200"/>
              </a:spcAft>
            </a:pPr>
            <a:r>
              <a:rPr sz="2900" b="1" i="0">
                <a:solidFill>
                  <a:srgbClr val="2A2F30"/>
                </a:solidFill>
                <a:latin typeface="Gill Sans"/>
              </a:rPr>
              <a:t>One directive per loop nest. </a:t>
            </a:r>
            <a:r>
              <a:rPr sz="2900" b="0" i="0">
                <a:solidFill>
                  <a:srgbClr val="2A2F30"/>
                </a:solidFill>
                <a:latin typeface="Gill Sans"/>
              </a:rPr>
              <a:t>LESGO's kernels are loops over x, y, and z with independent iterations, so each one is offloaded as is.</a:t>
            </a:r>
          </a:p>
          <a:p>
            <a:pPr algn="l">
              <a:spcAft>
                <a:spcPts val="2200"/>
              </a:spcAft>
            </a:pPr>
            <a:r>
              <a:rPr sz="2900" b="1" i="0">
                <a:solidFill>
                  <a:srgbClr val="2A2F30"/>
                </a:solidFill>
                <a:latin typeface="Courier New"/>
              </a:rPr>
              <a:t>collapse(3)</a:t>
            </a:r>
            <a:r>
              <a:rPr sz="2900" b="0" i="0">
                <a:solidFill>
                  <a:srgbClr val="2A2F30"/>
                </a:solidFill>
                <a:latin typeface="Gill Sans"/>
              </a:rPr>
              <a:t> </a:t>
            </a:r>
            <a:r>
              <a:rPr sz="2900" b="0" i="0">
                <a:solidFill>
                  <a:srgbClr val="2A2F30"/>
                </a:solidFill>
                <a:latin typeface="Gill Sans"/>
              </a:rPr>
              <a:t>merges the three loop levels, so every grid cell gets its own GPU thread.</a:t>
            </a:r>
          </a:p>
          <a:p>
            <a:pPr algn="l">
              <a:spcAft>
                <a:spcPts val="2200"/>
              </a:spcAft>
            </a:pPr>
            <a:r>
              <a:rPr sz="2900" b="1" i="0">
                <a:solidFill>
                  <a:srgbClr val="2A2F30"/>
                </a:solidFill>
                <a:latin typeface="Courier New"/>
              </a:rPr>
              <a:t>default(present)</a:t>
            </a:r>
            <a:r>
              <a:rPr sz="2900" b="0" i="0">
                <a:solidFill>
                  <a:srgbClr val="2A2F30"/>
                </a:solidFill>
                <a:latin typeface="Gill Sans"/>
              </a:rPr>
              <a:t> </a:t>
            </a:r>
            <a:r>
              <a:rPr sz="2900" b="0" i="0">
                <a:solidFill>
                  <a:srgbClr val="2A2F30"/>
                </a:solidFill>
                <a:latin typeface="Gill Sans"/>
              </a:rPr>
              <a:t>stops with an error if an array is not already on the device, so no data moves behind our back.</a:t>
            </a:r>
          </a:p>
          <a:p>
            <a:pPr algn="l">
              <a:spcAft>
                <a:spcPts val="2200"/>
              </a:spcAft>
            </a:pPr>
            <a:r>
              <a:rPr sz="2900" b="1" i="0">
                <a:solidFill>
                  <a:srgbClr val="2A2F30"/>
                </a:solidFill>
                <a:latin typeface="Gill Sans"/>
              </a:rPr>
              <a:t>FFTs </a:t>
            </a:r>
            <a:r>
              <a:rPr sz="2900" b="0" i="0">
                <a:solidFill>
                  <a:srgbClr val="2A2F30"/>
                </a:solidFill>
                <a:latin typeface="Gill Sans"/>
              </a:rPr>
              <a:t>call batched cuFFT on the same CUDA stream as the OpenACC kernels, so transforms and loops run in order without host synchronization.</a:t>
            </a:r>
          </a:p>
          <a:p>
            <a:pPr algn="l">
              <a:spcAft>
                <a:spcPts val="2200"/>
              </a:spcAft>
            </a:pPr>
            <a:r>
              <a:rPr sz="2900" b="1" i="0">
                <a:solidFill>
                  <a:srgbClr val="2A2F30"/>
                </a:solidFill>
                <a:latin typeface="Gill Sans"/>
              </a:rPr>
              <a:t>One source tree. </a:t>
            </a:r>
            <a:r>
              <a:rPr sz="2900" b="0" i="0">
                <a:solidFill>
                  <a:srgbClr val="2A2F30"/>
                </a:solidFill>
                <a:latin typeface="Gill Sans"/>
              </a:rPr>
              <a:t>Without -acc the directives are plain comments, so the CPU build stays our correctness reference.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Computation Is Easy, Data Placement Is Not</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Every solver array holds O(N³) values, so each needless transfer moves a whole field.</a:t>
            </a:r>
          </a:p>
        </p:txBody>
      </p:sp>
      <p:sp>
        <p:nvSpPr>
          <p:cNvPr id="150" name="TextBox 149"/>
          <p:cNvSpPr txBox="1"/>
          <p:nvPr/>
        </p:nvSpPr>
        <p:spPr>
          <a:xfrm>
            <a:off x="1097280" y="4114800"/>
            <a:ext cx="22128480" cy="731520"/>
          </a:xfrm>
          <a:prstGeom prst="rect">
            <a:avLst/>
          </a:prstGeom>
          <a:noFill/>
        </p:spPr>
        <p:txBody>
          <a:bodyPr wrap="square" lIns="0" rIns="0" tIns="0" bIns="0" anchor="t">
            <a:noAutofit/>
          </a:bodyPr>
          <a:lstStyle/>
          <a:p>
            <a:pPr algn="l"/>
            <a:r>
              <a:rPr sz="3400" b="0" i="0">
                <a:solidFill>
                  <a:srgbClr val="2A2F30"/>
                </a:solidFill>
                <a:latin typeface="Gill Sans"/>
              </a:rPr>
              <a:t>Directive-based ports commonly pick one of three data strategies:</a:t>
            </a:r>
          </a:p>
        </p:txBody>
      </p:sp>
      <p:sp>
        <p:nvSpPr>
          <p:cNvPr id="151" name="TextBox 150"/>
          <p:cNvSpPr txBox="1"/>
          <p:nvPr/>
        </p:nvSpPr>
        <p:spPr>
          <a:xfrm>
            <a:off x="1097280" y="5321808"/>
            <a:ext cx="914400" cy="914400"/>
          </a:xfrm>
          <a:prstGeom prst="rect">
            <a:avLst/>
          </a:prstGeom>
          <a:noFill/>
        </p:spPr>
        <p:txBody>
          <a:bodyPr wrap="square" lIns="0" rIns="0" tIns="0" bIns="0" anchor="t">
            <a:noAutofit/>
          </a:bodyPr>
          <a:lstStyle/>
          <a:p>
            <a:pPr algn="l"/>
            <a:r>
              <a:rPr sz="6000" b="1" i="0">
                <a:solidFill>
                  <a:srgbClr val="35798B"/>
                </a:solidFill>
                <a:latin typeface="Arial"/>
              </a:rPr>
              <a:t>1</a:t>
            </a:r>
          </a:p>
        </p:txBody>
      </p:sp>
      <p:sp>
        <p:nvSpPr>
          <p:cNvPr id="152" name="TextBox 151"/>
          <p:cNvSpPr txBox="1"/>
          <p:nvPr/>
        </p:nvSpPr>
        <p:spPr>
          <a:xfrm>
            <a:off x="2194560" y="5394960"/>
            <a:ext cx="21031200" cy="768096"/>
          </a:xfrm>
          <a:prstGeom prst="rect">
            <a:avLst/>
          </a:prstGeom>
          <a:noFill/>
        </p:spPr>
        <p:txBody>
          <a:bodyPr wrap="square" lIns="0" rIns="0" tIns="0" bIns="0" anchor="t">
            <a:noAutofit/>
          </a:bodyPr>
          <a:lstStyle/>
          <a:p>
            <a:pPr algn="l"/>
            <a:r>
              <a:rPr sz="3800" b="1" i="0">
                <a:solidFill>
                  <a:srgbClr val="2A2F30"/>
                </a:solidFill>
                <a:latin typeface="Gill Sans"/>
              </a:rPr>
              <a:t>Array mirroring</a:t>
            </a:r>
          </a:p>
        </p:txBody>
      </p:sp>
      <p:sp>
        <p:nvSpPr>
          <p:cNvPr id="153" name="TextBox 152"/>
          <p:cNvSpPr txBox="1"/>
          <p:nvPr/>
        </p:nvSpPr>
        <p:spPr>
          <a:xfrm>
            <a:off x="2194560" y="6163056"/>
            <a:ext cx="21031200" cy="914400"/>
          </a:xfrm>
          <a:prstGeom prst="rect">
            <a:avLst/>
          </a:prstGeom>
          <a:noFill/>
        </p:spPr>
        <p:txBody>
          <a:bodyPr wrap="square" lIns="0" rIns="0" tIns="0" bIns="0" anchor="t">
            <a:noAutofit/>
          </a:bodyPr>
          <a:lstStyle/>
          <a:p>
            <a:pPr algn="l"/>
            <a:r>
              <a:rPr sz="3200" b="0" i="0">
                <a:solidFill>
                  <a:srgbClr val="5F6B76"/>
                </a:solidFill>
                <a:latin typeface="Gill Sans"/>
              </a:rPr>
              <a:t>Keep a device copy of every host array, and copy data back wherever host code reads it.</a:t>
            </a:r>
          </a:p>
        </p:txBody>
      </p:sp>
      <p:sp>
        <p:nvSpPr>
          <p:cNvPr id="154" name="TextBox 153"/>
          <p:cNvSpPr txBox="1"/>
          <p:nvPr/>
        </p:nvSpPr>
        <p:spPr>
          <a:xfrm>
            <a:off x="1097280" y="7150608"/>
            <a:ext cx="914400" cy="914400"/>
          </a:xfrm>
          <a:prstGeom prst="rect">
            <a:avLst/>
          </a:prstGeom>
          <a:noFill/>
        </p:spPr>
        <p:txBody>
          <a:bodyPr wrap="square" lIns="0" rIns="0" tIns="0" bIns="0" anchor="t">
            <a:noAutofit/>
          </a:bodyPr>
          <a:lstStyle/>
          <a:p>
            <a:pPr algn="l"/>
            <a:r>
              <a:rPr sz="6000" b="1" i="0">
                <a:solidFill>
                  <a:srgbClr val="35798B"/>
                </a:solidFill>
                <a:latin typeface="Arial"/>
              </a:rPr>
              <a:t>2</a:t>
            </a:r>
          </a:p>
        </p:txBody>
      </p:sp>
      <p:sp>
        <p:nvSpPr>
          <p:cNvPr id="155" name="TextBox 154"/>
          <p:cNvSpPr txBox="1"/>
          <p:nvPr/>
        </p:nvSpPr>
        <p:spPr>
          <a:xfrm>
            <a:off x="2194560" y="7223760"/>
            <a:ext cx="21031200" cy="768096"/>
          </a:xfrm>
          <a:prstGeom prst="rect">
            <a:avLst/>
          </a:prstGeom>
          <a:noFill/>
        </p:spPr>
        <p:txBody>
          <a:bodyPr wrap="square" lIns="0" rIns="0" tIns="0" bIns="0" anchor="t">
            <a:noAutofit/>
          </a:bodyPr>
          <a:lstStyle/>
          <a:p>
            <a:pPr algn="l"/>
            <a:r>
              <a:rPr sz="3800" b="1" i="0">
                <a:solidFill>
                  <a:srgbClr val="2A2F30"/>
                </a:solidFill>
                <a:latin typeface="Gill Sans"/>
              </a:rPr>
              <a:t>CUDA managed memory</a:t>
            </a:r>
          </a:p>
        </p:txBody>
      </p:sp>
      <p:sp>
        <p:nvSpPr>
          <p:cNvPr id="156" name="TextBox 155"/>
          <p:cNvSpPr txBox="1"/>
          <p:nvPr/>
        </p:nvSpPr>
        <p:spPr>
          <a:xfrm>
            <a:off x="2194560" y="7991856"/>
            <a:ext cx="21031200" cy="914400"/>
          </a:xfrm>
          <a:prstGeom prst="rect">
            <a:avLst/>
          </a:prstGeom>
          <a:noFill/>
        </p:spPr>
        <p:txBody>
          <a:bodyPr wrap="square" lIns="0" rIns="0" tIns="0" bIns="0" anchor="t">
            <a:noAutofit/>
          </a:bodyPr>
          <a:lstStyle/>
          <a:p>
            <a:pPr algn="l"/>
            <a:r>
              <a:rPr sz="3200" b="0" i="0">
                <a:solidFill>
                  <a:srgbClr val="5F6B76"/>
                </a:solidFill>
                <a:latin typeface="Gill Sans"/>
              </a:rPr>
              <a:t>Let the driver migrate pages between host and device on demand.</a:t>
            </a:r>
          </a:p>
        </p:txBody>
      </p:sp>
      <p:sp>
        <p:nvSpPr>
          <p:cNvPr id="157" name="TextBox 156"/>
          <p:cNvSpPr txBox="1"/>
          <p:nvPr/>
        </p:nvSpPr>
        <p:spPr>
          <a:xfrm>
            <a:off x="1097280" y="8979408"/>
            <a:ext cx="914400" cy="914400"/>
          </a:xfrm>
          <a:prstGeom prst="rect">
            <a:avLst/>
          </a:prstGeom>
          <a:noFill/>
        </p:spPr>
        <p:txBody>
          <a:bodyPr wrap="square" lIns="0" rIns="0" tIns="0" bIns="0" anchor="t">
            <a:noAutofit/>
          </a:bodyPr>
          <a:lstStyle/>
          <a:p>
            <a:pPr algn="l"/>
            <a:r>
              <a:rPr sz="6000" b="1" i="0">
                <a:solidFill>
                  <a:srgbClr val="35798B"/>
                </a:solidFill>
                <a:latin typeface="Arial"/>
              </a:rPr>
              <a:t>3</a:t>
            </a:r>
          </a:p>
        </p:txBody>
      </p:sp>
      <p:sp>
        <p:nvSpPr>
          <p:cNvPr id="158" name="TextBox 157"/>
          <p:cNvSpPr txBox="1"/>
          <p:nvPr/>
        </p:nvSpPr>
        <p:spPr>
          <a:xfrm>
            <a:off x="2194560" y="9052560"/>
            <a:ext cx="21031200" cy="768096"/>
          </a:xfrm>
          <a:prstGeom prst="rect">
            <a:avLst/>
          </a:prstGeom>
          <a:noFill/>
        </p:spPr>
        <p:txBody>
          <a:bodyPr wrap="square" lIns="0" rIns="0" tIns="0" bIns="0" anchor="t">
            <a:noAutofit/>
          </a:bodyPr>
          <a:lstStyle/>
          <a:p>
            <a:pPr algn="l"/>
            <a:r>
              <a:rPr sz="3800" b="1" i="0">
                <a:solidFill>
                  <a:srgbClr val="2A2F30"/>
                </a:solidFill>
                <a:latin typeface="Gill Sans"/>
              </a:rPr>
              <a:t>Fine-grained explicit residency</a:t>
            </a:r>
          </a:p>
        </p:txBody>
      </p:sp>
      <p:sp>
        <p:nvSpPr>
          <p:cNvPr id="159" name="TextBox 158"/>
          <p:cNvSpPr txBox="1"/>
          <p:nvPr/>
        </p:nvSpPr>
        <p:spPr>
          <a:xfrm>
            <a:off x="2194560" y="9820656"/>
            <a:ext cx="21031200" cy="914400"/>
          </a:xfrm>
          <a:prstGeom prst="rect">
            <a:avLst/>
          </a:prstGeom>
          <a:noFill/>
        </p:spPr>
        <p:txBody>
          <a:bodyPr wrap="square" lIns="0" rIns="0" tIns="0" bIns="0" anchor="t">
            <a:noAutofit/>
          </a:bodyPr>
          <a:lstStyle/>
          <a:p>
            <a:pPr algn="l"/>
            <a:r>
              <a:rPr sz="3200" b="0" i="0">
                <a:solidFill>
                  <a:srgbClr val="5F6B76"/>
                </a:solidFill>
                <a:latin typeface="Gill Sans"/>
              </a:rPr>
              <a:t>Decide, array by array and access by access, where each field lives and which part of it crosses PCIe.</a:t>
            </a:r>
          </a:p>
        </p:txBody>
      </p:sp>
      <p:sp>
        <p:nvSpPr>
          <p:cNvPr id="160" name="TextBox 159"/>
          <p:cNvSpPr txBox="1"/>
          <p:nvPr/>
        </p:nvSpPr>
        <p:spPr>
          <a:xfrm>
            <a:off x="1097280" y="11064240"/>
            <a:ext cx="22128480" cy="822960"/>
          </a:xfrm>
          <a:prstGeom prst="rect">
            <a:avLst/>
          </a:prstGeom>
          <a:noFill/>
        </p:spPr>
        <p:txBody>
          <a:bodyPr wrap="square" lIns="0" rIns="0" tIns="0" bIns="0" anchor="t">
            <a:noAutofit/>
          </a:bodyPr>
          <a:lstStyle/>
          <a:p>
            <a:pPr algn="l"/>
            <a:r>
              <a:rPr sz="3400" b="1" i="0">
                <a:solidFill>
                  <a:srgbClr val="3F5A7E"/>
                </a:solidFill>
                <a:latin typeface="Gill Sans"/>
              </a:rPr>
              <a:t>Strategies 1 and 2 need few code changes, so we try them first.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Strategy 1: Array Mirroring</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Only 13 ms of a 220 ms step runs on the GPU: it sits idle 94% of the time.</a:t>
            </a:r>
          </a:p>
        </p:txBody>
      </p:sp>
      <p:pic>
        <p:nvPicPr>
          <p:cNvPr id="150" name="Picture 149" descr="fig_mirroring.png"/>
          <p:cNvPicPr>
            <a:picLocks noChangeAspect="1"/>
          </p:cNvPicPr>
          <p:nvPr/>
        </p:nvPicPr>
        <p:blipFill>
          <a:blip r:embed="rId2"/>
          <a:stretch>
            <a:fillRect/>
          </a:stretch>
        </p:blipFill>
        <p:spPr>
          <a:xfrm>
            <a:off x="3962095" y="3931920"/>
            <a:ext cx="16459200" cy="4485750"/>
          </a:xfrm>
          <a:prstGeom prst="rect">
            <a:avLst/>
          </a:prstGeom>
        </p:spPr>
      </p:pic>
      <p:sp>
        <p:nvSpPr>
          <p:cNvPr id="151" name="TextBox 150"/>
          <p:cNvSpPr txBox="1"/>
          <p:nvPr/>
        </p:nvSpPr>
        <p:spPr>
          <a:xfrm>
            <a:off x="1097280" y="8509110"/>
            <a:ext cx="22128480" cy="548640"/>
          </a:xfrm>
          <a:prstGeom prst="rect">
            <a:avLst/>
          </a:prstGeom>
          <a:noFill/>
        </p:spPr>
        <p:txBody>
          <a:bodyPr wrap="square" lIns="0" rIns="0" tIns="0" bIns="0" anchor="t">
            <a:noAutofit/>
          </a:bodyPr>
          <a:lstStyle/>
          <a:p>
            <a:pPr algn="ctr"/>
            <a:r>
              <a:rPr sz="2400" b="0" i="1">
                <a:solidFill>
                  <a:srgbClr val="5F6B76"/>
                </a:solidFill>
                <a:latin typeface="Gill Sans"/>
              </a:rPr>
              <a:t>Time-step breakdown on a 256³ grid with two turbines, 4 A100 GPUs (Nsight Systems)</a:t>
            </a:r>
          </a:p>
        </p:txBody>
      </p:sp>
      <p:sp>
        <p:nvSpPr>
          <p:cNvPr id="152" name="TextBox 151"/>
          <p:cNvSpPr txBox="1"/>
          <p:nvPr/>
        </p:nvSpPr>
        <p:spPr>
          <a:xfrm>
            <a:off x="1097280" y="9423510"/>
            <a:ext cx="10698480" cy="2738010"/>
          </a:xfrm>
          <a:prstGeom prst="rect">
            <a:avLst/>
          </a:prstGeom>
          <a:noFill/>
        </p:spPr>
        <p:txBody>
          <a:bodyPr wrap="square" lIns="0" rIns="0" tIns="0" bIns="0" anchor="t">
            <a:noAutofit/>
          </a:bodyPr>
          <a:lstStyle/>
          <a:p>
            <a:pPr algn="l"/>
            <a:r>
              <a:rPr sz="2900" b="1" i="0">
                <a:solidFill>
                  <a:srgbClr val="2A2F30"/>
                </a:solidFill>
                <a:latin typeface="Gill Sans"/>
              </a:rPr>
              <a:t>Host routines still need full fields. </a:t>
            </a:r>
            <a:r>
              <a:rPr sz="2900" b="0" i="0">
                <a:solidFill>
                  <a:srgbClr val="2A2F30"/>
                </a:solidFill>
                <a:latin typeface="Gill Sans"/>
              </a:rPr>
              <a:t>Several routines run slower on the GPU and stay on the host, so full fields cross PCIe wherever they read solver state. The largest source is twelve full-field syncs, 420 MB per step, while the host reads about 5 MB.</a:t>
            </a:r>
          </a:p>
        </p:txBody>
      </p:sp>
      <p:sp>
        <p:nvSpPr>
          <p:cNvPr id="153" name="TextBox 152"/>
          <p:cNvSpPr txBox="1"/>
          <p:nvPr/>
        </p:nvSpPr>
        <p:spPr>
          <a:xfrm>
            <a:off x="12527280" y="9423510"/>
            <a:ext cx="10698480" cy="2738010"/>
          </a:xfrm>
          <a:prstGeom prst="rect">
            <a:avLst/>
          </a:prstGeom>
          <a:noFill/>
        </p:spPr>
        <p:txBody>
          <a:bodyPr wrap="square" lIns="0" rIns="0" tIns="0" bIns="0" anchor="t">
            <a:noAutofit/>
          </a:bodyPr>
          <a:lstStyle/>
          <a:p>
            <a:pPr algn="l"/>
            <a:r>
              <a:rPr sz="2900" b="1" i="0">
                <a:solidFill>
                  <a:srgbClr val="2A2F30"/>
                </a:solidFill>
                <a:latin typeface="Gill Sans"/>
              </a:rPr>
              <a:t>Memory is wasted. </a:t>
            </a:r>
            <a:r>
              <a:rPr sz="2900" b="0" i="0">
                <a:solidFill>
                  <a:srgbClr val="2A2F30"/>
                </a:solidFill>
                <a:latin typeface="Gill Sans"/>
              </a:rPr>
              <a:t>LESGO keeps dozens of O(N³) fields plus 3/2-padded spectral scratch. Mirroring arrays that no kernel reads takes device memory, so a given grid needs more GPUs.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Strategy 2: CUDA Managed Memory</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The least porting effort, but page faults stall execution.</a:t>
            </a:r>
          </a:p>
        </p:txBody>
      </p:sp>
      <p:sp>
        <p:nvSpPr>
          <p:cNvPr id="150" name="Rounded Rectangle 149"/>
          <p:cNvSpPr/>
          <p:nvPr/>
        </p:nvSpPr>
        <p:spPr>
          <a:xfrm>
            <a:off x="1097280" y="4114800"/>
            <a:ext cx="10789920" cy="1097280"/>
          </a:xfrm>
          <a:prstGeom prst="roundRect">
            <a:avLst>
              <a:gd name="adj" fmla="val 16666"/>
            </a:avLst>
          </a:prstGeom>
          <a:solidFill>
            <a:srgbClr val="1E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554480" y="4114800"/>
            <a:ext cx="10058400" cy="1097280"/>
          </a:xfrm>
          <a:prstGeom prst="rect">
            <a:avLst/>
          </a:prstGeom>
          <a:noFill/>
        </p:spPr>
        <p:txBody>
          <a:bodyPr wrap="square" lIns="0" rIns="0" tIns="0" bIns="0" anchor="ctr">
            <a:noAutofit/>
          </a:bodyPr>
          <a:lstStyle/>
          <a:p>
            <a:pPr algn="l"/>
            <a:r>
              <a:rPr sz="3000" b="0" i="0">
                <a:solidFill>
                  <a:srgbClr val="E6EDF3"/>
                </a:solidFill>
                <a:latin typeface="Courier New"/>
              </a:rPr>
              <a:t>nvfortran -acc </a:t>
            </a:r>
            <a:r>
              <a:rPr sz="3000" b="0" i="0">
                <a:solidFill>
                  <a:srgbClr val="F5B26B"/>
                </a:solidFill>
                <a:latin typeface="Courier New"/>
              </a:rPr>
              <a:t>-gpu=mem:managed</a:t>
            </a:r>
            <a:r>
              <a:rPr sz="3000" b="0" i="0">
                <a:solidFill>
                  <a:srgbClr val="E6EDF3"/>
                </a:solidFill>
                <a:latin typeface="Courier New"/>
              </a:rPr>
              <a:t> ...</a:t>
            </a:r>
          </a:p>
        </p:txBody>
      </p:sp>
      <p:sp>
        <p:nvSpPr>
          <p:cNvPr id="152" name="TextBox 151"/>
          <p:cNvSpPr txBox="1"/>
          <p:nvPr/>
        </p:nvSpPr>
        <p:spPr>
          <a:xfrm>
            <a:off x="1097280" y="5669280"/>
            <a:ext cx="10789920" cy="4389120"/>
          </a:xfrm>
          <a:prstGeom prst="rect">
            <a:avLst/>
          </a:prstGeom>
          <a:noFill/>
        </p:spPr>
        <p:txBody>
          <a:bodyPr wrap="square" lIns="0" rIns="0" tIns="0" bIns="0" anchor="t">
            <a:noAutofit/>
          </a:bodyPr>
          <a:lstStyle/>
          <a:p>
            <a:pPr algn="l">
              <a:spcAft>
                <a:spcPts val="2000"/>
              </a:spcAft>
            </a:pPr>
            <a:r>
              <a:rPr sz="3000" b="0" i="0">
                <a:solidFill>
                  <a:srgbClr val="2A2F30"/>
                </a:solidFill>
                <a:latin typeface="Gill Sans"/>
              </a:rPr>
              <a:t>One compiler flag, no data directives to write. We run the production benchmark (604M cells) on 16 A100 GPUs.</a:t>
            </a:r>
          </a:p>
          <a:p>
            <a:pPr algn="l">
              <a:spcAft>
                <a:spcPts val="2000"/>
              </a:spcAft>
            </a:pPr>
            <a:r>
              <a:rPr sz="3000" b="1" i="0">
                <a:solidFill>
                  <a:srgbClr val="2A2F30"/>
                </a:solidFill>
                <a:latin typeface="Gill Sans"/>
              </a:rPr>
              <a:t>nsys</a:t>
            </a:r>
            <a:r>
              <a:rPr sz="3000" b="0" i="0">
                <a:solidFill>
                  <a:srgbClr val="2A2F30"/>
                </a:solidFill>
                <a:latin typeface="Gill Sans"/>
              </a:rPr>
              <a:t> shows page faults and on-demand migration, inherent to demand-paged unified memory, stalling execution, most of all in the pressure solve.</a:t>
            </a:r>
          </a:p>
          <a:p>
            <a:pPr algn="l">
              <a:spcAft>
                <a:spcPts val="2000"/>
              </a:spcAft>
            </a:pPr>
            <a:r>
              <a:rPr sz="3000" b="0" i="0">
                <a:solidFill>
                  <a:srgbClr val="2A2F30"/>
                </a:solidFill>
                <a:latin typeface="Gill Sans"/>
              </a:rPr>
              <a:t>The traffic is also invisible in the source code, so there is nothing to tune.</a:t>
            </a:r>
          </a:p>
        </p:txBody>
      </p:sp>
      <p:pic>
        <p:nvPicPr>
          <p:cNvPr id="153" name="Picture 152" descr="fig_managed.png"/>
          <p:cNvPicPr>
            <a:picLocks noChangeAspect="1"/>
          </p:cNvPicPr>
          <p:nvPr/>
        </p:nvPicPr>
        <p:blipFill>
          <a:blip r:embed="rId2"/>
          <a:stretch>
            <a:fillRect/>
          </a:stretch>
        </p:blipFill>
        <p:spPr>
          <a:xfrm>
            <a:off x="12527280" y="4206240"/>
            <a:ext cx="10698480" cy="4651513"/>
          </a:xfrm>
          <a:prstGeom prst="rect">
            <a:avLst/>
          </a:prstGeom>
        </p:spPr>
      </p:pic>
      <p:sp>
        <p:nvSpPr>
          <p:cNvPr id="154" name="Rounded Rectangle 153"/>
          <p:cNvSpPr/>
          <p:nvPr/>
        </p:nvSpPr>
        <p:spPr>
          <a:xfrm>
            <a:off x="1097280" y="10332720"/>
            <a:ext cx="22128480" cy="1737360"/>
          </a:xfrm>
          <a:prstGeom prst="roundRect">
            <a:avLst>
              <a:gd name="adj" fmla="val 12631"/>
            </a:avLst>
          </a:prstGeom>
          <a:solidFill>
            <a:srgbClr val="E3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554480" y="10332720"/>
            <a:ext cx="21214080" cy="1737360"/>
          </a:xfrm>
          <a:prstGeom prst="rect">
            <a:avLst/>
          </a:prstGeom>
          <a:noFill/>
        </p:spPr>
        <p:txBody>
          <a:bodyPr wrap="square" lIns="0" rIns="0" tIns="0" bIns="0" anchor="ctr">
            <a:noAutofit/>
          </a:bodyPr>
          <a:lstStyle/>
          <a:p>
            <a:pPr algn="l"/>
            <a:r>
              <a:rPr sz="3000" b="1" i="0">
                <a:solidFill>
                  <a:srgbClr val="C4512F"/>
                </a:solidFill>
                <a:latin typeface="Gill Sans"/>
              </a:rPr>
              <a:t>Same root cause for strategies 1 and 2: </a:t>
            </a:r>
            <a:r>
              <a:rPr sz="3000" b="0" i="0">
                <a:solidFill>
                  <a:srgbClr val="2A2F30"/>
                </a:solidFill>
                <a:latin typeface="Gill Sans"/>
              </a:rPr>
              <a:t>after the kernels move to the GPU, routines left on the host still demand full-field transfers. Fixing that needs fine-grained control over residency and transfer footprints, which is strategy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Consumer-Driven Explicit Residency</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Strategy 3: keep every field on the device, and size each host transfer by what the host touches.</a:t>
            </a:r>
          </a:p>
        </p:txBody>
      </p:sp>
      <p:sp>
        <p:nvSpPr>
          <p:cNvPr id="150" name="TextBox 149"/>
          <p:cNvSpPr txBox="1"/>
          <p:nvPr/>
        </p:nvSpPr>
        <p:spPr>
          <a:xfrm>
            <a:off x="1097280" y="4114800"/>
            <a:ext cx="22128480" cy="8046720"/>
          </a:xfrm>
          <a:prstGeom prst="rect">
            <a:avLst/>
          </a:prstGeom>
          <a:noFill/>
        </p:spPr>
        <p:txBody>
          <a:bodyPr wrap="square" lIns="0" rIns="0" tIns="0" bIns="0" anchor="t">
            <a:noAutofit/>
          </a:bodyPr>
          <a:lstStyle/>
          <a:p>
            <a:pPr algn="l">
              <a:spcAft>
                <a:spcPts val="2000"/>
              </a:spcAft>
            </a:pPr>
            <a:r>
              <a:rPr sz="3000" b="1" i="0">
                <a:solidFill>
                  <a:srgbClr val="2A2F30"/>
                </a:solidFill>
                <a:latin typeface="Gill Sans"/>
              </a:rPr>
              <a:t>Residency by construction. </a:t>
            </a:r>
            <a:r>
              <a:rPr sz="3000" b="0" i="0">
                <a:solidFill>
                  <a:srgbClr val="2A2F30"/>
                </a:solidFill>
                <a:latin typeface="Gill Sans"/>
              </a:rPr>
              <a:t>Device memory holds the primary copy of every field. All persistent arrays get the </a:t>
            </a:r>
            <a:r>
              <a:rPr sz="3000" b="0" i="0">
                <a:solidFill>
                  <a:srgbClr val="2A2F30"/>
                </a:solidFill>
                <a:latin typeface="Courier New"/>
              </a:rPr>
              <a:t>declare create</a:t>
            </a:r>
            <a:r>
              <a:rPr sz="3000" b="0" i="0">
                <a:solidFill>
                  <a:srgbClr val="2A2F30"/>
                </a:solidFill>
                <a:latin typeface="Gill Sans"/>
              </a:rPr>
              <a:t> directive at module scope, and every kernel asserts </a:t>
            </a:r>
            <a:r>
              <a:rPr sz="3000" b="0" i="0">
                <a:solidFill>
                  <a:srgbClr val="2A2F30"/>
                </a:solidFill>
                <a:latin typeface="Courier New"/>
              </a:rPr>
              <a:t>default(present)</a:t>
            </a:r>
            <a:r>
              <a:rPr sz="3000" b="0" i="0">
                <a:solidFill>
                  <a:srgbClr val="2A2F30"/>
                </a:solidFill>
                <a:latin typeface="Gill Sans"/>
              </a:rPr>
              <a:t>. Host code touches solver state only at coupling points.</a:t>
            </a:r>
          </a:p>
          <a:p>
            <a:pPr algn="l">
              <a:spcAft>
                <a:spcPts val="2000"/>
              </a:spcAft>
            </a:pPr>
            <a:r>
              <a:rPr sz="3000" b="1" i="0">
                <a:solidFill>
                  <a:srgbClr val="2A2F30"/>
                </a:solidFill>
                <a:latin typeface="Gill Sans"/>
              </a:rPr>
              <a:t>Classify each coupling point </a:t>
            </a:r>
            <a:r>
              <a:rPr sz="3000" b="0" i="0">
                <a:solidFill>
                  <a:srgbClr val="2A2F30"/>
                </a:solidFill>
                <a:latin typeface="Gill Sans"/>
              </a:rPr>
              <a:t>by the footprint the host routine actually accesses (scalar, column, plane, or subvolume), how often it runs, and whether it reads, writes, or both. LESGO has nine classes (next slide).</a:t>
            </a:r>
          </a:p>
          <a:p>
            <a:pPr algn="l">
              <a:spcAft>
                <a:spcPts val="2000"/>
              </a:spcAft>
            </a:pPr>
            <a:r>
              <a:rPr sz="3000" b="1" i="0">
                <a:solidFill>
                  <a:srgbClr val="2A2F30"/>
                </a:solidFill>
                <a:latin typeface="Gill Sans"/>
              </a:rPr>
              <a:t>Four treatments, tried in order:</a:t>
            </a:r>
          </a:p>
          <a:p>
            <a:pPr algn="l" marL="438912" indent="-438912">
              <a:spcAft>
                <a:spcPts val="2000"/>
              </a:spcAft>
              <a:buClr>
                <a:srgbClr val="35798B"/>
              </a:buClr>
              <a:buSzPct val="100000"/>
              <a:buFont typeface="Arial"/>
              <a:buChar char="•"/>
            </a:pPr>
            <a:r>
              <a:rPr sz="3000" b="1" i="0">
                <a:solidFill>
                  <a:srgbClr val="7A4FA0"/>
                </a:solidFill>
                <a:latin typeface="Gill Sans"/>
              </a:rPr>
              <a:t>Gate</a:t>
            </a:r>
            <a:r>
              <a:rPr sz="3000" b="0" i="0">
                <a:solidFill>
                  <a:srgbClr val="2A2F30"/>
                </a:solidFill>
                <a:latin typeface="Gill Sans"/>
              </a:rPr>
              <a:t> skips the transfer on steps where its consumer does not run, such as the SGS fallback gradients and output steps.</a:t>
            </a:r>
          </a:p>
          <a:p>
            <a:pPr algn="l" marL="438912" indent="-438912">
              <a:spcAft>
                <a:spcPts val="2000"/>
              </a:spcAft>
              <a:buClr>
                <a:srgbClr val="35798B"/>
              </a:buClr>
              <a:buSzPct val="100000"/>
              <a:buFont typeface="Arial"/>
              <a:buChar char="•"/>
            </a:pPr>
            <a:r>
              <a:rPr sz="3000" b="1" i="0">
                <a:solidFill>
                  <a:srgbClr val="3F5A7E"/>
                </a:solidFill>
                <a:latin typeface="Gill Sans"/>
              </a:rPr>
              <a:t>Relocate</a:t>
            </a:r>
            <a:r>
              <a:rPr sz="3000" b="0" i="0">
                <a:solidFill>
                  <a:srgbClr val="2A2F30"/>
                </a:solidFill>
                <a:latin typeface="Gill Sans"/>
              </a:rPr>
              <a:t> ports the consumer to the GPU so the transfer disappears: time integration and projection, diagnostics, the actuator line, and the Thomas chains.</a:t>
            </a:r>
          </a:p>
          <a:p>
            <a:pPr algn="l" marL="438912" indent="-438912">
              <a:spcAft>
                <a:spcPts val="2000"/>
              </a:spcAft>
              <a:buClr>
                <a:srgbClr val="35798B"/>
              </a:buClr>
              <a:buSzPct val="100000"/>
              <a:buFont typeface="Arial"/>
              <a:buChar char="•"/>
            </a:pPr>
            <a:r>
              <a:rPr sz="3000" b="1" i="0">
                <a:solidFill>
                  <a:srgbClr val="2F8F5B"/>
                </a:solidFill>
                <a:latin typeface="Gill Sans"/>
              </a:rPr>
              <a:t>Slice</a:t>
            </a:r>
            <a:r>
              <a:rPr sz="3000" b="0" i="0">
                <a:solidFill>
                  <a:srgbClr val="2A2F30"/>
                </a:solidFill>
                <a:latin typeface="Gill Sans"/>
              </a:rPr>
              <a:t> keeps serial or I/O routines on the host but moves only the section they touch, such as wall planes and the pressure DC column.</a:t>
            </a:r>
          </a:p>
          <a:p>
            <a:pPr algn="l" marL="438912" indent="-438912">
              <a:spcAft>
                <a:spcPts val="2000"/>
              </a:spcAft>
              <a:buClr>
                <a:srgbClr val="35798B"/>
              </a:buClr>
              <a:buSzPct val="100000"/>
              <a:buFont typeface="Arial"/>
              <a:buChar char="•"/>
            </a:pPr>
            <a:r>
              <a:rPr sz="3000" b="1" i="0">
                <a:solidFill>
                  <a:srgbClr val="C4512F"/>
                </a:solidFill>
                <a:latin typeface="Gill Sans"/>
              </a:rPr>
              <a:t>Overlap</a:t>
            </a:r>
            <a:r>
              <a:rPr sz="3000" b="0" i="0">
                <a:solidFill>
                  <a:srgbClr val="2A2F30"/>
                </a:solidFill>
                <a:latin typeface="Gill Sans"/>
              </a:rPr>
              <a:t> hides irreducible host work, such as the airfoil polar lookups, behind GPU execution.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Nine Coupling-Point Classes, Four Treatments</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The classes recur across pseudo-spectral multiphysics codes: a reusable porting checklist.</a:t>
            </a:r>
          </a:p>
        </p:txBody>
      </p:sp>
      <p:graphicFrame>
        <p:nvGraphicFramePr>
          <p:cNvPr id="150" name="Table 149"/>
          <p:cNvGraphicFramePr>
            <a:graphicFrameLocks noGrp="1"/>
          </p:cNvGraphicFramePr>
          <p:nvPr/>
        </p:nvGraphicFramePr>
        <p:xfrm>
          <a:off x="1097280" y="4023360"/>
          <a:ext cx="22128480" cy="8046720"/>
        </p:xfrm>
        <a:graphic>
          <a:graphicData uri="http://schemas.openxmlformats.org/drawingml/2006/table">
            <a:tbl>
              <a:tblPr firstRow="0" bandRow="0">
                <a:tableStyleId>{2D5ABB26-0587-4C30-8999-92F81FD0307C}</a:tableStyleId>
              </a:tblPr>
              <a:tblGrid>
                <a:gridCol w="3383280"/>
                <a:gridCol w="8321040"/>
                <a:gridCol w="4297680"/>
                <a:gridCol w="6126480"/>
              </a:tblGrid>
              <a:tr h="804672">
                <a:tc>
                  <a:txBody>
                    <a:bodyPr/>
                    <a:lstStyle/>
                    <a:p>
                      <a:pPr algn="l"/>
                      <a:r>
                        <a:rPr sz="2600" b="1">
                          <a:solidFill>
                            <a:srgbClr val="FFFFFF"/>
                          </a:solidFill>
                          <a:latin typeface="Gill Sans"/>
                        </a:rPr>
                        <a:t>Class</a:t>
                      </a:r>
                    </a:p>
                  </a:txBody>
                  <a:tcPr marL="219456" marR="219456" marT="54864" marB="54864" anchor="ctr">
                    <a:lnL w="0">
                      <a:noFill/>
                    </a:lnL>
                    <a:lnR w="0">
                      <a:noFill/>
                    </a:lnR>
                    <a:lnT w="0">
                      <a:noFill/>
                    </a:lnT>
                    <a:lnB w="0">
                      <a:noFill/>
                    </a:lnB>
                    <a:solidFill>
                      <a:srgbClr val="3F5A7E"/>
                    </a:solidFill>
                  </a:tcPr>
                </a:tc>
                <a:tc>
                  <a:txBody>
                    <a:bodyPr/>
                    <a:lstStyle/>
                    <a:p>
                      <a:pPr algn="l"/>
                      <a:r>
                        <a:rPr sz="2600" b="1">
                          <a:solidFill>
                            <a:srgbClr val="FFFFFF"/>
                          </a:solidFill>
                          <a:latin typeface="Gill Sans"/>
                        </a:rPr>
                        <a:t>Instance in LESGO</a:t>
                      </a:r>
                    </a:p>
                  </a:txBody>
                  <a:tcPr marL="219456" marR="219456" marT="54864" marB="54864" anchor="ctr">
                    <a:lnL w="0">
                      <a:noFill/>
                    </a:lnL>
                    <a:lnR w="0">
                      <a:noFill/>
                    </a:lnR>
                    <a:lnT w="0">
                      <a:noFill/>
                    </a:lnT>
                    <a:lnB w="0">
                      <a:noFill/>
                    </a:lnB>
                    <a:solidFill>
                      <a:srgbClr val="3F5A7E"/>
                    </a:solidFill>
                  </a:tcPr>
                </a:tc>
                <a:tc>
                  <a:txBody>
                    <a:bodyPr/>
                    <a:lstStyle/>
                    <a:p>
                      <a:pPr algn="l"/>
                      <a:r>
                        <a:rPr sz="2600" b="1">
                          <a:solidFill>
                            <a:srgbClr val="FFFFFF"/>
                          </a:solidFill>
                          <a:latin typeface="Gill Sans"/>
                        </a:rPr>
                        <a:t>Naive cost per step</a:t>
                      </a:r>
                    </a:p>
                  </a:txBody>
                  <a:tcPr marL="219456" marR="219456" marT="54864" marB="54864" anchor="ctr">
                    <a:lnL w="0">
                      <a:noFill/>
                    </a:lnL>
                    <a:lnR w="0">
                      <a:noFill/>
                    </a:lnR>
                    <a:lnT w="0">
                      <a:noFill/>
                    </a:lnT>
                    <a:lnB w="0">
                      <a:noFill/>
                    </a:lnB>
                    <a:solidFill>
                      <a:srgbClr val="3F5A7E"/>
                    </a:solidFill>
                  </a:tcPr>
                </a:tc>
                <a:tc>
                  <a:txBody>
                    <a:bodyPr/>
                    <a:lstStyle/>
                    <a:p>
                      <a:pPr algn="l"/>
                      <a:r>
                        <a:rPr sz="2600" b="1">
                          <a:solidFill>
                            <a:srgbClr val="FFFFFF"/>
                          </a:solidFill>
                          <a:latin typeface="Gill Sans"/>
                        </a:rPr>
                        <a:t>Treatment</a:t>
                      </a:r>
                    </a:p>
                  </a:txBody>
                  <a:tcPr marL="219456" marR="219456" marT="54864" marB="54864" anchor="ctr">
                    <a:lnL w="0">
                      <a:noFill/>
                    </a:lnL>
                    <a:lnR w="0">
                      <a:noFill/>
                    </a:lnR>
                    <a:lnT w="0">
                      <a:noFill/>
                    </a:lnT>
                    <a:lnB w="0">
                      <a:noFill/>
                    </a:lnB>
                    <a:solidFill>
                      <a:srgbClr val="3F5A7E"/>
                    </a:solidFill>
                  </a:tcPr>
                </a:tc>
              </a:tr>
              <a:tr h="804672">
                <a:tc>
                  <a:txBody>
                    <a:bodyPr/>
                    <a:lstStyle/>
                    <a:p>
                      <a:pPr algn="l"/>
                      <a:r>
                        <a:rPr sz="2600" b="1">
                          <a:solidFill>
                            <a:srgbClr val="2A2F30"/>
                          </a:solidFill>
                          <a:latin typeface="Gill Sans"/>
                        </a:rPr>
                        <a:t>Boundary plane</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2A2F30"/>
                          </a:solidFill>
                          <a:latin typeface="Gill Sans"/>
                        </a:rPr>
                        <a:t>Wall-stress model reads u, v, w at the walls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5F6B76"/>
                          </a:solidFill>
                          <a:latin typeface="Gill Sans"/>
                        </a:rPr>
                        <a:t>Full fields, 420 MB</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1">
                          <a:solidFill>
                            <a:srgbClr val="2F8F5B"/>
                          </a:solidFill>
                          <a:latin typeface="Gill Sans"/>
                        </a:rPr>
                        <a:t>slice</a:t>
                      </a:r>
                      <a:r>
                        <a:rPr sz="2600" b="0">
                          <a:solidFill>
                            <a:srgbClr val="2A2F30"/>
                          </a:solidFill>
                          <a:latin typeface="Gill Sans"/>
                        </a:rPr>
                        <a:t> to wall planes, later </a:t>
                      </a:r>
                      <a:r>
                        <a:rPr sz="2600" b="1">
                          <a:solidFill>
                            <a:srgbClr val="3F5A7E"/>
                          </a:solidFill>
                          <a:latin typeface="Gill Sans"/>
                        </a:rPr>
                        <a:t>relocate</a:t>
                      </a:r>
                      <a:r>
                        <a:rPr sz="2600" b="0">
                          <a:solidFill>
                            <a:srgbClr val="2A2F30"/>
                          </a:solidFill>
                          <a:latin typeface="Gill Sans"/>
                        </a:rPr>
                        <a:t/>
                      </a:r>
                    </a:p>
                  </a:txBody>
                  <a:tcPr marL="219456" marR="219456" marT="54864" marB="54864" anchor="ctr">
                    <a:lnL w="0">
                      <a:noFill/>
                    </a:lnL>
                    <a:lnR w="0">
                      <a:noFill/>
                    </a:lnR>
                    <a:lnT w="0">
                      <a:noFill/>
                    </a:lnT>
                    <a:lnB w="19050">
                      <a:solidFill>
                        <a:srgbClr val="D5DEE6"/>
                      </a:solidFill>
                    </a:lnB>
                    <a:solidFill>
                      <a:srgbClr val="FFFFFF"/>
                    </a:solidFill>
                  </a:tcPr>
                </a:tc>
              </a:tr>
              <a:tr h="804672">
                <a:tc>
                  <a:txBody>
                    <a:bodyPr/>
                    <a:lstStyle/>
                    <a:p>
                      <a:pPr algn="l"/>
                      <a:r>
                        <a:rPr sz="2600" b="1">
                          <a:solidFill>
                            <a:srgbClr val="2A2F30"/>
                          </a:solidFill>
                          <a:latin typeface="Gill Sans"/>
                        </a:rPr>
                        <a:t>Conditional</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2A2F30"/>
                          </a:solidFill>
                          <a:latin typeface="Gill Sans"/>
                        </a:rPr>
                        <a:t>Velocity gradients read only by CPU SGS fallback</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5F6B76"/>
                          </a:solidFill>
                          <a:latin typeface="Gill Sans"/>
                        </a:rPr>
                        <a:t>9 fields, 315 MB</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1">
                          <a:solidFill>
                            <a:srgbClr val="7A4FA0"/>
                          </a:solidFill>
                          <a:latin typeface="Gill Sans"/>
                        </a:rPr>
                        <a:t>gate</a:t>
                      </a:r>
                      <a:r>
                        <a:rPr sz="2600" b="0">
                          <a:solidFill>
                            <a:srgbClr val="2A2F30"/>
                          </a:solidFill>
                          <a:latin typeface="Gill Sans"/>
                        </a:rPr>
                        <a:t> on the SGS model choice</a:t>
                      </a:r>
                    </a:p>
                  </a:txBody>
                  <a:tcPr marL="219456" marR="219456" marT="54864" marB="54864" anchor="ctr">
                    <a:lnL w="0">
                      <a:noFill/>
                    </a:lnL>
                    <a:lnR w="0">
                      <a:noFill/>
                    </a:lnR>
                    <a:lnT w="0">
                      <a:noFill/>
                    </a:lnT>
                    <a:lnB w="19050">
                      <a:solidFill>
                        <a:srgbClr val="D5DEE6"/>
                      </a:solidFill>
                    </a:lnB>
                    <a:solidFill>
                      <a:srgbClr val="EEF2F6"/>
                    </a:solidFill>
                  </a:tcPr>
                </a:tc>
              </a:tr>
              <a:tr h="804672">
                <a:tc>
                  <a:txBody>
                    <a:bodyPr/>
                    <a:lstStyle/>
                    <a:p>
                      <a:pPr algn="l"/>
                      <a:r>
                        <a:rPr sz="2600" b="1">
                          <a:solidFill>
                            <a:srgbClr val="2A2F30"/>
                          </a:solidFill>
                          <a:latin typeface="Gill Sans"/>
                        </a:rPr>
                        <a:t>Spectral mode</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2A2F30"/>
                          </a:solidFill>
                          <a:latin typeface="Gill Sans"/>
                        </a:rPr>
                        <a:t>Pressure zero-wavenumber recurrence (serial in z)</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5F6B76"/>
                          </a:solidFill>
                          <a:latin typeface="Gill Sans"/>
                        </a:rPr>
                        <a:t>3 full-field round trips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1">
                          <a:solidFill>
                            <a:srgbClr val="2F8F5B"/>
                          </a:solidFill>
                          <a:latin typeface="Gill Sans"/>
                        </a:rPr>
                        <a:t>slice</a:t>
                      </a:r>
                      <a:r>
                        <a:rPr sz="2600" b="0">
                          <a:solidFill>
                            <a:srgbClr val="2A2F30"/>
                          </a:solidFill>
                          <a:latin typeface="Gill Sans"/>
                        </a:rPr>
                        <a:t> to the DC column (~1 KB)</a:t>
                      </a:r>
                    </a:p>
                  </a:txBody>
                  <a:tcPr marL="219456" marR="219456" marT="54864" marB="54864" anchor="ctr">
                    <a:lnL w="0">
                      <a:noFill/>
                    </a:lnL>
                    <a:lnR w="0">
                      <a:noFill/>
                    </a:lnR>
                    <a:lnT w="0">
                      <a:noFill/>
                    </a:lnT>
                    <a:lnB w="19050">
                      <a:solidFill>
                        <a:srgbClr val="D5DEE6"/>
                      </a:solidFill>
                    </a:lnB>
                    <a:solidFill>
                      <a:srgbClr val="FFFFFF"/>
                    </a:solidFill>
                  </a:tcPr>
                </a:tc>
              </a:tr>
              <a:tr h="804672">
                <a:tc>
                  <a:txBody>
                    <a:bodyPr/>
                    <a:lstStyle/>
                    <a:p>
                      <a:pPr algn="l"/>
                      <a:r>
                        <a:rPr sz="2600" b="1">
                          <a:solidFill>
                            <a:srgbClr val="2A2F30"/>
                          </a:solidFill>
                          <a:latin typeface="Gill Sans"/>
                        </a:rPr>
                        <a:t>Stale entry</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2A2F30"/>
                          </a:solidFill>
                          <a:latin typeface="Gill Sans"/>
                        </a:rPr>
                        <a:t>copyin of pressure at solver entry</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5F6B76"/>
                          </a:solidFill>
                          <a:latin typeface="Gill Sans"/>
                        </a:rPr>
                        <a:t>34 MB</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1">
                          <a:solidFill>
                            <a:srgbClr val="2F8F5B"/>
                          </a:solidFill>
                          <a:latin typeface="Gill Sans"/>
                        </a:rPr>
                        <a:t>slice</a:t>
                      </a:r>
                      <a:r>
                        <a:rPr sz="2600" b="0">
                          <a:solidFill>
                            <a:srgbClr val="2A2F30"/>
                          </a:solidFill>
                          <a:latin typeface="Gill Sans"/>
                        </a:rPr>
                        <a:t> to a seeded ghost plane</a:t>
                      </a:r>
                    </a:p>
                  </a:txBody>
                  <a:tcPr marL="219456" marR="219456" marT="54864" marB="54864" anchor="ctr">
                    <a:lnL w="0">
                      <a:noFill/>
                    </a:lnL>
                    <a:lnR w="0">
                      <a:noFill/>
                    </a:lnR>
                    <a:lnT w="0">
                      <a:noFill/>
                    </a:lnT>
                    <a:lnB w="19050">
                      <a:solidFill>
                        <a:srgbClr val="D5DEE6"/>
                      </a:solidFill>
                    </a:lnB>
                    <a:solidFill>
                      <a:srgbClr val="EEF2F6"/>
                    </a:solidFill>
                  </a:tcPr>
                </a:tc>
              </a:tr>
              <a:tr h="804672">
                <a:tc>
                  <a:txBody>
                    <a:bodyPr/>
                    <a:lstStyle/>
                    <a:p>
                      <a:pPr algn="l"/>
                      <a:r>
                        <a:rPr sz="2600" b="1">
                          <a:solidFill>
                            <a:srgbClr val="2A2F30"/>
                          </a:solidFill>
                          <a:latin typeface="Gill Sans"/>
                        </a:rPr>
                        <a:t>Pipeline state</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2A2F30"/>
                          </a:solidFill>
                          <a:latin typeface="Gill Sans"/>
                        </a:rPr>
                        <a:t>Time integration and projection read u, v, w, RHS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5F6B76"/>
                          </a:solidFill>
                          <a:latin typeface="Gill Sans"/>
                        </a:rPr>
                        <a:t>210 MB</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1">
                          <a:solidFill>
                            <a:srgbClr val="3F5A7E"/>
                          </a:solidFill>
                          <a:latin typeface="Gill Sans"/>
                        </a:rPr>
                        <a:t>relocate</a:t>
                      </a:r>
                      <a:r>
                        <a:rPr sz="2600" b="0">
                          <a:solidFill>
                            <a:srgbClr val="2A2F30"/>
                          </a:solidFill>
                          <a:latin typeface="Gill Sans"/>
                        </a:rPr>
                        <a:t>; keep pipeline on device</a:t>
                      </a:r>
                    </a:p>
                  </a:txBody>
                  <a:tcPr marL="219456" marR="219456" marT="54864" marB="54864" anchor="ctr">
                    <a:lnL w="0">
                      <a:noFill/>
                    </a:lnL>
                    <a:lnR w="0">
                      <a:noFill/>
                    </a:lnR>
                    <a:lnT w="0">
                      <a:noFill/>
                    </a:lnT>
                    <a:lnB w="19050">
                      <a:solidFill>
                        <a:srgbClr val="D5DEE6"/>
                      </a:solidFill>
                    </a:lnB>
                    <a:solidFill>
                      <a:srgbClr val="FFFFFF"/>
                    </a:solidFill>
                  </a:tcPr>
                </a:tc>
              </a:tr>
              <a:tr h="804672">
                <a:tc>
                  <a:txBody>
                    <a:bodyPr/>
                    <a:lstStyle/>
                    <a:p>
                      <a:pPr algn="l"/>
                      <a:r>
                        <a:rPr sz="2600" b="1">
                          <a:solidFill>
                            <a:srgbClr val="2A2F30"/>
                          </a:solidFill>
                          <a:latin typeface="Gill Sans"/>
                        </a:rPr>
                        <a:t>Actuator</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2A2F30"/>
                          </a:solidFill>
                          <a:latin typeface="Gill Sans"/>
                        </a:rPr>
                        <a:t>Blade sampling and force projection</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5F6B76"/>
                          </a:solidFill>
                          <a:latin typeface="Gill Sans"/>
                        </a:rPr>
                        <a:t>2 full-field crossings</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1">
                          <a:solidFill>
                            <a:srgbClr val="3F5A7E"/>
                          </a:solidFill>
                          <a:latin typeface="Gill Sans"/>
                        </a:rPr>
                        <a:t>relocate</a:t>
                      </a:r>
                      <a:r>
                        <a:rPr sz="2600" b="0">
                          <a:solidFill>
                            <a:srgbClr val="2A2F30"/>
                          </a:solidFill>
                          <a:latin typeface="Gill Sans"/>
                        </a:rPr>
                        <a:t>; exchange O(blade points)</a:t>
                      </a:r>
                    </a:p>
                  </a:txBody>
                  <a:tcPr marL="219456" marR="219456" marT="54864" marB="54864" anchor="ctr">
                    <a:lnL w="0">
                      <a:noFill/>
                    </a:lnL>
                    <a:lnR w="0">
                      <a:noFill/>
                    </a:lnR>
                    <a:lnT w="0">
                      <a:noFill/>
                    </a:lnT>
                    <a:lnB w="19050">
                      <a:solidFill>
                        <a:srgbClr val="D5DEE6"/>
                      </a:solidFill>
                    </a:lnB>
                    <a:solidFill>
                      <a:srgbClr val="EEF2F6"/>
                    </a:solidFill>
                  </a:tcPr>
                </a:tc>
              </a:tr>
              <a:tr h="804672">
                <a:tc>
                  <a:txBody>
                    <a:bodyPr/>
                    <a:lstStyle/>
                    <a:p>
                      <a:pPr algn="l"/>
                      <a:r>
                        <a:rPr sz="2600" b="1">
                          <a:solidFill>
                            <a:srgbClr val="2A2F30"/>
                          </a:solidFill>
                          <a:latin typeface="Gill Sans"/>
                        </a:rPr>
                        <a:t>Diagnostics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2A2F30"/>
                          </a:solidFill>
                          <a:latin typeface="Gill Sans"/>
                        </a:rPr>
                        <a:t>Energy, divergence, checkpoint writes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5F6B76"/>
                          </a:solidFill>
                          <a:latin typeface="Gill Sans"/>
                        </a:rPr>
                        <a:t>963 MB</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1">
                          <a:solidFill>
                            <a:srgbClr val="3F5A7E"/>
                          </a:solidFill>
                          <a:latin typeface="Gill Sans"/>
                        </a:rPr>
                        <a:t>relocate</a:t>
                      </a:r>
                      <a:r>
                        <a:rPr sz="2600" b="0">
                          <a:solidFill>
                            <a:srgbClr val="2A2F30"/>
                          </a:solidFill>
                          <a:latin typeface="Gill Sans"/>
                        </a:rPr>
                        <a:t> reductions, </a:t>
                      </a:r>
                      <a:r>
                        <a:rPr sz="2600" b="1">
                          <a:solidFill>
                            <a:srgbClr val="7A4FA0"/>
                          </a:solidFill>
                          <a:latin typeface="Gill Sans"/>
                        </a:rPr>
                        <a:t>gate</a:t>
                      </a:r>
                      <a:r>
                        <a:rPr sz="2600" b="0">
                          <a:solidFill>
                            <a:srgbClr val="2A2F30"/>
                          </a:solidFill>
                          <a:latin typeface="Gill Sans"/>
                        </a:rPr>
                        <a:t> output</a:t>
                      </a:r>
                    </a:p>
                  </a:txBody>
                  <a:tcPr marL="219456" marR="219456" marT="54864" marB="54864" anchor="ctr">
                    <a:lnL w="0">
                      <a:noFill/>
                    </a:lnL>
                    <a:lnR w="0">
                      <a:noFill/>
                    </a:lnR>
                    <a:lnT w="0">
                      <a:noFill/>
                    </a:lnT>
                    <a:lnB w="19050">
                      <a:solidFill>
                        <a:srgbClr val="D5DEE6"/>
                      </a:solidFill>
                    </a:lnB>
                    <a:solidFill>
                      <a:srgbClr val="FFFFFF"/>
                    </a:solidFill>
                  </a:tcPr>
                </a:tc>
              </a:tr>
              <a:tr h="804672">
                <a:tc>
                  <a:txBody>
                    <a:bodyPr/>
                    <a:lstStyle/>
                    <a:p>
                      <a:pPr algn="l"/>
                      <a:r>
                        <a:rPr sz="2600" b="1">
                          <a:solidFill>
                            <a:srgbClr val="2A2F30"/>
                          </a:solidFill>
                          <a:latin typeface="Gill Sans"/>
                        </a:rPr>
                        <a:t>Serial chain</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2A2F30"/>
                          </a:solidFill>
                          <a:latin typeface="Gill Sans"/>
                        </a:rPr>
                        <a:t>Thomas chains spanning processes</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0">
                          <a:solidFill>
                            <a:srgbClr val="5F6B76"/>
                          </a:solidFill>
                          <a:latin typeface="Gill Sans"/>
                        </a:rPr>
                        <a:t>Host-staged relays</a:t>
                      </a:r>
                    </a:p>
                  </a:txBody>
                  <a:tcPr marL="219456" marR="219456" marT="54864" marB="54864" anchor="ctr">
                    <a:lnL w="0">
                      <a:noFill/>
                    </a:lnL>
                    <a:lnR w="0">
                      <a:noFill/>
                    </a:lnR>
                    <a:lnT w="0">
                      <a:noFill/>
                    </a:lnT>
                    <a:lnB w="19050">
                      <a:solidFill>
                        <a:srgbClr val="D5DEE6"/>
                      </a:solidFill>
                    </a:lnB>
                    <a:solidFill>
                      <a:srgbClr val="EEF2F6"/>
                    </a:solidFill>
                  </a:tcPr>
                </a:tc>
                <a:tc>
                  <a:txBody>
                    <a:bodyPr/>
                    <a:lstStyle/>
                    <a:p>
                      <a:pPr algn="l"/>
                      <a:r>
                        <a:rPr sz="2600" b="1">
                          <a:solidFill>
                            <a:srgbClr val="3F5A7E"/>
                          </a:solidFill>
                          <a:latin typeface="Gill Sans"/>
                        </a:rPr>
                        <a:t>relocate</a:t>
                      </a:r>
                      <a:r>
                        <a:rPr sz="2600" b="0">
                          <a:solidFill>
                            <a:srgbClr val="2A2F30"/>
                          </a:solidFill>
                          <a:latin typeface="Gill Sans"/>
                        </a:rPr>
                        <a:t>; pipelined GPU exchange</a:t>
                      </a:r>
                    </a:p>
                  </a:txBody>
                  <a:tcPr marL="219456" marR="219456" marT="54864" marB="54864" anchor="ctr">
                    <a:lnL w="0">
                      <a:noFill/>
                    </a:lnL>
                    <a:lnR w="0">
                      <a:noFill/>
                    </a:lnR>
                    <a:lnT w="0">
                      <a:noFill/>
                    </a:lnT>
                    <a:lnB w="19050">
                      <a:solidFill>
                        <a:srgbClr val="D5DEE6"/>
                      </a:solidFill>
                    </a:lnB>
                    <a:solidFill>
                      <a:srgbClr val="EEF2F6"/>
                    </a:solidFill>
                  </a:tcPr>
                </a:tc>
              </a:tr>
              <a:tr h="804672">
                <a:tc>
                  <a:txBody>
                    <a:bodyPr/>
                    <a:lstStyle/>
                    <a:p>
                      <a:pPr algn="l"/>
                      <a:r>
                        <a:rPr sz="2600" b="1">
                          <a:solidFill>
                            <a:srgbClr val="2A2F30"/>
                          </a:solidFill>
                          <a:latin typeface="Gill Sans"/>
                        </a:rPr>
                        <a:t>Host physics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2A2F30"/>
                          </a:solidFill>
                          <a:latin typeface="Gill Sans"/>
                        </a:rPr>
                        <a:t>Tabulated airfoil polar lookups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0">
                          <a:solidFill>
                            <a:srgbClr val="5F6B76"/>
                          </a:solidFill>
                          <a:latin typeface="Gill Sans"/>
                        </a:rPr>
                        <a:t>Serialized 28 ms</a:t>
                      </a:r>
                    </a:p>
                  </a:txBody>
                  <a:tcPr marL="219456" marR="219456" marT="54864" marB="54864" anchor="ctr">
                    <a:lnL w="0">
                      <a:noFill/>
                    </a:lnL>
                    <a:lnR w="0">
                      <a:noFill/>
                    </a:lnR>
                    <a:lnT w="0">
                      <a:noFill/>
                    </a:lnT>
                    <a:lnB w="19050">
                      <a:solidFill>
                        <a:srgbClr val="D5DEE6"/>
                      </a:solidFill>
                    </a:lnB>
                    <a:solidFill>
                      <a:srgbClr val="FFFFFF"/>
                    </a:solidFill>
                  </a:tcPr>
                </a:tc>
                <a:tc>
                  <a:txBody>
                    <a:bodyPr/>
                    <a:lstStyle/>
                    <a:p>
                      <a:pPr algn="l"/>
                      <a:r>
                        <a:rPr sz="2600" b="1">
                          <a:solidFill>
                            <a:srgbClr val="C4512F"/>
                          </a:solidFill>
                          <a:latin typeface="Gill Sans"/>
                        </a:rPr>
                        <a:t>overlap</a:t>
                      </a:r>
                      <a:r>
                        <a:rPr sz="2600" b="0">
                          <a:solidFill>
                            <a:srgbClr val="2A2F30"/>
                          </a:solidFill>
                          <a:latin typeface="Gill Sans"/>
                        </a:rPr>
                        <a:t> with the GPU backlog</a:t>
                      </a:r>
                    </a:p>
                  </a:txBody>
                  <a:tcPr marL="219456" marR="219456" marT="54864" marB="54864" anchor="ctr">
                    <a:lnL w="0">
                      <a:noFill/>
                    </a:lnL>
                    <a:lnR w="0">
                      <a:noFill/>
                    </a:lnR>
                    <a:lnT w="0">
                      <a:noFill/>
                    </a:lnT>
                    <a:lnB w="19050">
                      <a:solidFill>
                        <a:srgbClr val="D5DEE6"/>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Example: Slicing the Pressure DC Mode</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Leave the serial recurrence on the CPU, but ship only the column it touches.</a:t>
            </a:r>
          </a:p>
        </p:txBody>
      </p:sp>
      <p:sp>
        <p:nvSpPr>
          <p:cNvPr id="150" name="TextBox 149"/>
          <p:cNvSpPr txBox="1"/>
          <p:nvPr/>
        </p:nvSpPr>
        <p:spPr>
          <a:xfrm>
            <a:off x="1097280" y="4023360"/>
            <a:ext cx="8595360" cy="5486400"/>
          </a:xfrm>
          <a:prstGeom prst="rect">
            <a:avLst/>
          </a:prstGeom>
          <a:noFill/>
        </p:spPr>
        <p:txBody>
          <a:bodyPr wrap="square" lIns="0" rIns="0" tIns="0" bIns="0" anchor="t">
            <a:noAutofit/>
          </a:bodyPr>
          <a:lstStyle/>
          <a:p>
            <a:pPr algn="l" marL="438912" indent="-438912">
              <a:spcAft>
                <a:spcPts val="2000"/>
              </a:spcAft>
              <a:buClr>
                <a:srgbClr val="35798B"/>
              </a:buClr>
              <a:buSzPct val="100000"/>
              <a:buFont typeface="Arial"/>
              <a:buChar char="•"/>
            </a:pPr>
            <a:r>
              <a:rPr sz="3000" b="0" i="0">
                <a:solidFill>
                  <a:srgbClr val="2A2F30"/>
                </a:solidFill>
                <a:latin typeface="Gill Sans"/>
              </a:rPr>
              <a:t>Horizontal FFTs split the Poisson equation into N²−1 independent tridiagonal systems, solved as one batched GPU call</a:t>
            </a:r>
          </a:p>
          <a:p>
            <a:pPr algn="l" marL="438912" indent="-438912">
              <a:spcAft>
                <a:spcPts val="2000"/>
              </a:spcAft>
              <a:buClr>
                <a:srgbClr val="35798B"/>
              </a:buClr>
              <a:buSzPct val="100000"/>
              <a:buFont typeface="Arial"/>
              <a:buChar char="•"/>
            </a:pPr>
            <a:r>
              <a:rPr sz="3000" b="0" i="0">
                <a:solidFill>
                  <a:srgbClr val="2A2F30"/>
                </a:solidFill>
                <a:latin typeface="Gill Sans"/>
              </a:rPr>
              <a:t>The zero-wavenumber (DC) mode is singular and needs a serial first-order recurrence in z</a:t>
            </a:r>
          </a:p>
          <a:p>
            <a:pPr algn="l" marL="438912" indent="-438912">
              <a:spcAft>
                <a:spcPts val="2000"/>
              </a:spcAft>
              <a:buClr>
                <a:srgbClr val="35798B"/>
              </a:buClr>
              <a:buSzPct val="100000"/>
              <a:buFont typeface="Arial"/>
              <a:buChar char="•"/>
            </a:pPr>
            <a:r>
              <a:rPr sz="3000" b="0" i="0">
                <a:solidFill>
                  <a:srgbClr val="2A2F30"/>
                </a:solidFill>
                <a:latin typeface="Gill Sans"/>
              </a:rPr>
              <a:t>O(N) serial work runs faster on one CPU core than on the GPU, so it stays on the host</a:t>
            </a:r>
          </a:p>
        </p:txBody>
      </p:sp>
      <p:sp>
        <p:nvSpPr>
          <p:cNvPr id="151" name="Rounded Rectangle 150"/>
          <p:cNvSpPr/>
          <p:nvPr/>
        </p:nvSpPr>
        <p:spPr>
          <a:xfrm>
            <a:off x="1097280" y="9692640"/>
            <a:ext cx="8595360" cy="2377440"/>
          </a:xfrm>
          <a:prstGeom prst="roundRect">
            <a:avLst>
              <a:gd name="adj" fmla="val 923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26464" y="9802368"/>
            <a:ext cx="7936992" cy="1307592"/>
          </a:xfrm>
          <a:prstGeom prst="rect">
            <a:avLst/>
          </a:prstGeom>
          <a:noFill/>
        </p:spPr>
        <p:txBody>
          <a:bodyPr wrap="square" lIns="0" rIns="0" tIns="0" bIns="0" anchor="ctr">
            <a:noAutofit/>
          </a:bodyPr>
          <a:lstStyle/>
          <a:p>
            <a:pPr algn="l"/>
            <a:r>
              <a:rPr sz="5600" b="1" i="0">
                <a:solidFill>
                  <a:srgbClr val="35798B"/>
                </a:solidFill>
                <a:latin typeface="Arial"/>
              </a:rPr>
              <a:t>34 MB → 1 KB</a:t>
            </a:r>
          </a:p>
        </p:txBody>
      </p:sp>
      <p:sp>
        <p:nvSpPr>
          <p:cNvPr id="153" name="TextBox 152"/>
          <p:cNvSpPr txBox="1"/>
          <p:nvPr/>
        </p:nvSpPr>
        <p:spPr>
          <a:xfrm>
            <a:off x="1426464" y="11109960"/>
            <a:ext cx="7936992" cy="850392"/>
          </a:xfrm>
          <a:prstGeom prst="rect">
            <a:avLst/>
          </a:prstGeom>
          <a:noFill/>
        </p:spPr>
        <p:txBody>
          <a:bodyPr wrap="square" lIns="0" rIns="0" tIns="0" bIns="0" anchor="t">
            <a:noAutofit/>
          </a:bodyPr>
          <a:lstStyle/>
          <a:p>
            <a:pPr algn="l"/>
            <a:r>
              <a:rPr sz="2500" b="0" i="0">
                <a:solidFill>
                  <a:srgbClr val="5F6B76"/>
                </a:solidFill>
                <a:latin typeface="Gill Sans"/>
              </a:rPr>
              <a:t>per transfer, three round trips per step</a:t>
            </a:r>
          </a:p>
        </p:txBody>
      </p:sp>
      <p:sp>
        <p:nvSpPr>
          <p:cNvPr id="154" name="TextBox 153"/>
          <p:cNvSpPr txBox="1"/>
          <p:nvPr/>
        </p:nvSpPr>
        <p:spPr>
          <a:xfrm>
            <a:off x="10241280" y="4023360"/>
            <a:ext cx="12984480" cy="640080"/>
          </a:xfrm>
          <a:prstGeom prst="rect">
            <a:avLst/>
          </a:prstGeom>
          <a:noFill/>
        </p:spPr>
        <p:txBody>
          <a:bodyPr wrap="square" lIns="0" rIns="0" tIns="0" bIns="0" anchor="ctr">
            <a:noAutofit/>
          </a:bodyPr>
          <a:lstStyle/>
          <a:p>
            <a:pPr algn="l"/>
            <a:r>
              <a:rPr sz="3000" b="1" i="0">
                <a:solidFill>
                  <a:srgbClr val="C4512F"/>
                </a:solidFill>
                <a:latin typeface="Gill Sans"/>
              </a:rPr>
              <a:t>Naive: three full-field round trips per step</a:t>
            </a:r>
          </a:p>
        </p:txBody>
      </p:sp>
      <p:sp>
        <p:nvSpPr>
          <p:cNvPr id="155" name="Rounded Rectangle 154"/>
          <p:cNvSpPr/>
          <p:nvPr/>
        </p:nvSpPr>
        <p:spPr>
          <a:xfrm>
            <a:off x="10241280" y="4754880"/>
            <a:ext cx="12984480" cy="2377440"/>
          </a:xfrm>
          <a:prstGeom prst="roundRect">
            <a:avLst>
              <a:gd name="adj" fmla="val 7692"/>
            </a:avLst>
          </a:prstGeom>
          <a:solidFill>
            <a:srgbClr val="1E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0698480" y="4974336"/>
            <a:ext cx="12252960" cy="1938528"/>
          </a:xfrm>
          <a:prstGeom prst="rect">
            <a:avLst/>
          </a:prstGeom>
          <a:noFill/>
        </p:spPr>
        <p:txBody>
          <a:bodyPr wrap="square" lIns="0" rIns="0" tIns="0" bIns="0" anchor="ctr">
            <a:noAutofit/>
          </a:bodyPr>
          <a:lstStyle/>
          <a:p>
            <a:pPr algn="l"/>
            <a:r>
              <a:rPr sz="2600" b="0" i="0">
                <a:solidFill>
                  <a:srgbClr val="E6EDF3"/>
                </a:solidFill>
                <a:latin typeface="Courier New"/>
              </a:rPr>
              <a:t>!$acc update self(p)        </a:t>
            </a:r>
            <a:r>
              <a:rPr sz="2600" b="0" i="0">
                <a:solidFill>
                  <a:srgbClr val="8DB6D9"/>
                </a:solidFill>
                <a:latin typeface="Courier New"/>
              </a:rPr>
              <a:t>! 34 MB</a:t>
            </a:r>
          </a:p>
          <a:p>
            <a:pPr algn="l"/>
            <a:r>
              <a:rPr sz="2600" b="0" i="0">
                <a:solidFill>
                  <a:srgbClr val="E6EDF3"/>
                </a:solidFill>
                <a:latin typeface="Courier New"/>
              </a:rPr>
              <a:t>call dc_recurrence(p)       </a:t>
            </a:r>
            <a:r>
              <a:rPr sz="2600" b="0" i="0">
                <a:solidFill>
                  <a:srgbClr val="8DB6D9"/>
                </a:solidFill>
                <a:latin typeface="Courier New"/>
              </a:rPr>
              <a:t>! DC column only</a:t>
            </a:r>
          </a:p>
          <a:p>
            <a:pPr algn="l"/>
            <a:r>
              <a:rPr sz="2600" b="0" i="0">
                <a:solidFill>
                  <a:srgbClr val="E6EDF3"/>
                </a:solidFill>
                <a:latin typeface="Courier New"/>
              </a:rPr>
              <a:t>!$acc update device(p)      </a:t>
            </a:r>
            <a:r>
              <a:rPr sz="2600" b="0" i="0">
                <a:solidFill>
                  <a:srgbClr val="8DB6D9"/>
                </a:solidFill>
                <a:latin typeface="Courier New"/>
              </a:rPr>
              <a:t>! 34 MB</a:t>
            </a:r>
          </a:p>
        </p:txBody>
      </p:sp>
      <p:sp>
        <p:nvSpPr>
          <p:cNvPr id="157" name="Down Arrow 156"/>
          <p:cNvSpPr/>
          <p:nvPr/>
        </p:nvSpPr>
        <p:spPr>
          <a:xfrm>
            <a:off x="16459200" y="7278624"/>
            <a:ext cx="731520" cy="585216"/>
          </a:xfrm>
          <a:prstGeom prst="downArrow">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0241280" y="8010144"/>
            <a:ext cx="12984480" cy="640080"/>
          </a:xfrm>
          <a:prstGeom prst="rect">
            <a:avLst/>
          </a:prstGeom>
          <a:noFill/>
        </p:spPr>
        <p:txBody>
          <a:bodyPr wrap="square" lIns="0" rIns="0" tIns="0" bIns="0" anchor="ctr">
            <a:noAutofit/>
          </a:bodyPr>
          <a:lstStyle/>
          <a:p>
            <a:pPr algn="l"/>
            <a:r>
              <a:rPr sz="3000" b="1" i="0">
                <a:solidFill>
                  <a:srgbClr val="2F8F5B"/>
                </a:solidFill>
                <a:latin typeface="Gill Sans"/>
              </a:rPr>
              <a:t>Sliced: O(1) traffic</a:t>
            </a:r>
          </a:p>
        </p:txBody>
      </p:sp>
      <p:sp>
        <p:nvSpPr>
          <p:cNvPr id="159" name="Rounded Rectangle 158"/>
          <p:cNvSpPr/>
          <p:nvPr/>
        </p:nvSpPr>
        <p:spPr>
          <a:xfrm>
            <a:off x="10241280" y="8741664"/>
            <a:ext cx="12984480" cy="2377440"/>
          </a:xfrm>
          <a:prstGeom prst="roundRect">
            <a:avLst>
              <a:gd name="adj" fmla="val 7692"/>
            </a:avLst>
          </a:prstGeom>
          <a:solidFill>
            <a:srgbClr val="1E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698480" y="8961120"/>
            <a:ext cx="12252960" cy="1938528"/>
          </a:xfrm>
          <a:prstGeom prst="rect">
            <a:avLst/>
          </a:prstGeom>
          <a:noFill/>
        </p:spPr>
        <p:txBody>
          <a:bodyPr wrap="square" lIns="0" rIns="0" tIns="0" bIns="0" anchor="ctr">
            <a:noAutofit/>
          </a:bodyPr>
          <a:lstStyle/>
          <a:p>
            <a:pPr algn="l"/>
            <a:r>
              <a:rPr sz="2600" b="0" i="0">
                <a:solidFill>
                  <a:srgbClr val="E6EDF3"/>
                </a:solidFill>
                <a:latin typeface="Courier New"/>
              </a:rPr>
              <a:t>!$acc update self(rH_z(1:2,1,:)) </a:t>
            </a:r>
            <a:r>
              <a:rPr sz="2600" b="0" i="0">
                <a:solidFill>
                  <a:srgbClr val="8DB6D9"/>
                </a:solidFill>
                <a:latin typeface="Courier New"/>
              </a:rPr>
              <a:t>! 1 KB in</a:t>
            </a:r>
          </a:p>
          <a:p>
            <a:pPr algn="l"/>
            <a:r>
              <a:rPr sz="2600" b="0" i="0">
                <a:solidFill>
                  <a:srgbClr val="E6EDF3"/>
                </a:solidFill>
                <a:latin typeface="Courier New"/>
              </a:rPr>
              <a:t>call dc_recurrence_column(p_col)</a:t>
            </a:r>
            <a:r>
              <a:rPr sz="2600" b="0" i="0">
                <a:solidFill>
                  <a:srgbClr val="8DB6D9"/>
                </a:solidFill>
                <a:latin typeface="Courier New"/>
              </a:rPr>
              <a:t/>
            </a:r>
          </a:p>
          <a:p>
            <a:pPr algn="l"/>
            <a:r>
              <a:rPr sz="2600" b="0" i="0">
                <a:solidFill>
                  <a:srgbClr val="E6EDF3"/>
                </a:solidFill>
                <a:latin typeface="Courier New"/>
              </a:rPr>
              <a:t>!$acc update device(p(1:2,1,:))  </a:t>
            </a:r>
            <a:r>
              <a:rPr sz="2600" b="0" i="0">
                <a:solidFill>
                  <a:srgbClr val="8DB6D9"/>
                </a:solidFill>
                <a:latin typeface="Courier New"/>
              </a:rPr>
              <a:t>! 1 KB 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Opt. 1: Chunk Pipelining the Thomas Solve</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Independent systems let each process start the next chunk instead of waiting.</a:t>
            </a:r>
          </a:p>
        </p:txBody>
      </p:sp>
      <p:pic>
        <p:nvPicPr>
          <p:cNvPr id="150" name="Picture 149" descr="fig4_lesgo_pipeline.png"/>
          <p:cNvPicPr>
            <a:picLocks noChangeAspect="1"/>
          </p:cNvPicPr>
          <p:nvPr/>
        </p:nvPicPr>
        <p:blipFill>
          <a:blip r:embed="rId2"/>
          <a:stretch>
            <a:fillRect/>
          </a:stretch>
        </p:blipFill>
        <p:spPr>
          <a:xfrm>
            <a:off x="1097280" y="4023360"/>
            <a:ext cx="11386324" cy="8138160"/>
          </a:xfrm>
          <a:prstGeom prst="rect">
            <a:avLst/>
          </a:prstGeom>
        </p:spPr>
      </p:pic>
      <p:sp>
        <p:nvSpPr>
          <p:cNvPr id="151" name="TextBox 150"/>
          <p:cNvSpPr txBox="1"/>
          <p:nvPr/>
        </p:nvSpPr>
        <p:spPr>
          <a:xfrm>
            <a:off x="12801600" y="4023360"/>
            <a:ext cx="10424160" cy="694944"/>
          </a:xfrm>
          <a:prstGeom prst="rect">
            <a:avLst/>
          </a:prstGeom>
          <a:noFill/>
        </p:spPr>
        <p:txBody>
          <a:bodyPr wrap="square" lIns="0" rIns="0" tIns="0" bIns="0" anchor="t">
            <a:noAutofit/>
          </a:bodyPr>
          <a:lstStyle/>
          <a:p>
            <a:pPr algn="l"/>
            <a:r>
              <a:rPr sz="3600" b="1" i="0">
                <a:solidFill>
                  <a:srgbClr val="C4512F"/>
                </a:solidFill>
                <a:latin typeface="Gill Sans"/>
              </a:rPr>
              <a:t>Problem</a:t>
            </a:r>
          </a:p>
        </p:txBody>
      </p:sp>
      <p:sp>
        <p:nvSpPr>
          <p:cNvPr id="152" name="TextBox 151"/>
          <p:cNvSpPr txBox="1"/>
          <p:nvPr/>
        </p:nvSpPr>
        <p:spPr>
          <a:xfrm>
            <a:off x="12801600" y="4754880"/>
            <a:ext cx="10424160" cy="1828800"/>
          </a:xfrm>
          <a:prstGeom prst="rect">
            <a:avLst/>
          </a:prstGeom>
          <a:noFill/>
        </p:spPr>
        <p:txBody>
          <a:bodyPr wrap="square" lIns="0" rIns="0" tIns="0" bIns="0" anchor="t">
            <a:noAutofit/>
          </a:bodyPr>
          <a:lstStyle/>
          <a:p>
            <a:pPr algn="l"/>
            <a:r>
              <a:rPr sz="3000" b="0" i="0">
                <a:solidFill>
                  <a:srgbClr val="2A2F30"/>
                </a:solidFill>
                <a:latin typeface="Gill Sans"/>
              </a:rPr>
              <a:t>~590K systems of 512 unknowns span all 16 processes. Thomas sweeps are serial in z, so process k idles until k−1 finishes.</a:t>
            </a:r>
          </a:p>
        </p:txBody>
      </p:sp>
      <p:sp>
        <p:nvSpPr>
          <p:cNvPr id="153" name="TextBox 152"/>
          <p:cNvSpPr txBox="1"/>
          <p:nvPr/>
        </p:nvSpPr>
        <p:spPr>
          <a:xfrm>
            <a:off x="12801600" y="6766560"/>
            <a:ext cx="10424160" cy="694944"/>
          </a:xfrm>
          <a:prstGeom prst="rect">
            <a:avLst/>
          </a:prstGeom>
          <a:noFill/>
        </p:spPr>
        <p:txBody>
          <a:bodyPr wrap="square" lIns="0" rIns="0" tIns="0" bIns="0" anchor="t">
            <a:noAutofit/>
          </a:bodyPr>
          <a:lstStyle/>
          <a:p>
            <a:pPr algn="l"/>
            <a:r>
              <a:rPr sz="3600" b="1" i="0">
                <a:solidFill>
                  <a:srgbClr val="35798B"/>
                </a:solidFill>
                <a:latin typeface="Gill Sans"/>
              </a:rPr>
              <a:t>Idea</a:t>
            </a:r>
          </a:p>
        </p:txBody>
      </p:sp>
      <p:sp>
        <p:nvSpPr>
          <p:cNvPr id="154" name="TextBox 153"/>
          <p:cNvSpPr txBox="1"/>
          <p:nvPr/>
        </p:nvSpPr>
        <p:spPr>
          <a:xfrm>
            <a:off x="12801600" y="7498080"/>
            <a:ext cx="10424160" cy="2103120"/>
          </a:xfrm>
          <a:prstGeom prst="rect">
            <a:avLst/>
          </a:prstGeom>
          <a:noFill/>
        </p:spPr>
        <p:txBody>
          <a:bodyPr wrap="square" lIns="0" rIns="0" tIns="0" bIns="0" anchor="t">
            <a:noAutofit/>
          </a:bodyPr>
          <a:lstStyle/>
          <a:p>
            <a:pPr algn="l"/>
            <a:r>
              <a:rPr sz="3000" b="0" i="0">
                <a:solidFill>
                  <a:srgbClr val="2A2F30"/>
                </a:solidFill>
                <a:latin typeface="Gill Sans"/>
              </a:rPr>
              <a:t>Split the systems into chunks. Pass chunk m's boundary coefficients downstream and move straight to m+1. The last process starts back substitution right away.</a:t>
            </a:r>
          </a:p>
        </p:txBody>
      </p:sp>
      <p:sp>
        <p:nvSpPr>
          <p:cNvPr id="155" name="Rounded Rectangle 154"/>
          <p:cNvSpPr/>
          <p:nvPr/>
        </p:nvSpPr>
        <p:spPr>
          <a:xfrm>
            <a:off x="12801600" y="9875520"/>
            <a:ext cx="5029200" cy="2194560"/>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3130784" y="9985248"/>
            <a:ext cx="4370832" cy="1207008"/>
          </a:xfrm>
          <a:prstGeom prst="rect">
            <a:avLst/>
          </a:prstGeom>
          <a:noFill/>
        </p:spPr>
        <p:txBody>
          <a:bodyPr wrap="square" lIns="0" rIns="0" tIns="0" bIns="0" anchor="ctr">
            <a:noAutofit/>
          </a:bodyPr>
          <a:lstStyle/>
          <a:p>
            <a:pPr algn="l"/>
            <a:r>
              <a:rPr sz="6000" b="1" i="0">
                <a:solidFill>
                  <a:srgbClr val="35798B"/>
                </a:solidFill>
                <a:latin typeface="Arial"/>
              </a:rPr>
              <a:t>1.9×</a:t>
            </a:r>
          </a:p>
        </p:txBody>
      </p:sp>
      <p:sp>
        <p:nvSpPr>
          <p:cNvPr id="157" name="TextBox 156"/>
          <p:cNvSpPr txBox="1"/>
          <p:nvPr/>
        </p:nvSpPr>
        <p:spPr>
          <a:xfrm>
            <a:off x="13130784" y="11192256"/>
            <a:ext cx="4370832" cy="768096"/>
          </a:xfrm>
          <a:prstGeom prst="rect">
            <a:avLst/>
          </a:prstGeom>
          <a:noFill/>
        </p:spPr>
        <p:txBody>
          <a:bodyPr wrap="square" lIns="0" rIns="0" tIns="0" bIns="0" anchor="t">
            <a:noAutofit/>
          </a:bodyPr>
          <a:lstStyle/>
          <a:p>
            <a:pPr algn="l"/>
            <a:r>
              <a:rPr sz="2500" b="0" i="0">
                <a:solidFill>
                  <a:srgbClr val="5F6B76"/>
                </a:solidFill>
                <a:latin typeface="Gill Sans"/>
              </a:rPr>
              <a:t>faster time step</a:t>
            </a:r>
          </a:p>
        </p:txBody>
      </p:sp>
      <p:sp>
        <p:nvSpPr>
          <p:cNvPr id="158" name="Rounded Rectangle 157"/>
          <p:cNvSpPr/>
          <p:nvPr/>
        </p:nvSpPr>
        <p:spPr>
          <a:xfrm>
            <a:off x="18196560" y="9875520"/>
            <a:ext cx="5029200" cy="2194560"/>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8525744" y="9985248"/>
            <a:ext cx="4370832" cy="1207008"/>
          </a:xfrm>
          <a:prstGeom prst="rect">
            <a:avLst/>
          </a:prstGeom>
          <a:noFill/>
        </p:spPr>
        <p:txBody>
          <a:bodyPr wrap="square" lIns="0" rIns="0" tIns="0" bIns="0" anchor="ctr">
            <a:noAutofit/>
          </a:bodyPr>
          <a:lstStyle/>
          <a:p>
            <a:pPr algn="l"/>
            <a:r>
              <a:rPr sz="6000" b="1" i="0">
                <a:solidFill>
                  <a:srgbClr val="35798B"/>
                </a:solidFill>
                <a:latin typeface="Arial"/>
              </a:rPr>
              <a:t>Exact</a:t>
            </a:r>
          </a:p>
        </p:txBody>
      </p:sp>
      <p:sp>
        <p:nvSpPr>
          <p:cNvPr id="160" name="TextBox 159"/>
          <p:cNvSpPr txBox="1"/>
          <p:nvPr/>
        </p:nvSpPr>
        <p:spPr>
          <a:xfrm>
            <a:off x="18525744" y="11192256"/>
            <a:ext cx="4370832" cy="768096"/>
          </a:xfrm>
          <a:prstGeom prst="rect">
            <a:avLst/>
          </a:prstGeom>
          <a:noFill/>
        </p:spPr>
        <p:txBody>
          <a:bodyPr wrap="square" lIns="0" rIns="0" tIns="0" bIns="0" anchor="t">
            <a:noAutofit/>
          </a:bodyPr>
          <a:lstStyle/>
          <a:p>
            <a:pPr algn="l"/>
            <a:r>
              <a:rPr sz="2500" b="0" i="0">
                <a:solidFill>
                  <a:srgbClr val="5F6B76"/>
                </a:solidFill>
                <a:latin typeface="Gill Sans"/>
              </a:rPr>
              <a:t>Thomas loops untouched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Opt. 2: Batching Many Small Work Items</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Per-turbine and per-plane work units are too small to fill a GPU, so we fuse them.</a:t>
            </a:r>
          </a:p>
        </p:txBody>
      </p:sp>
      <p:sp>
        <p:nvSpPr>
          <p:cNvPr id="150" name="Rounded Rectangle 149"/>
          <p:cNvSpPr/>
          <p:nvPr/>
        </p:nvSpPr>
        <p:spPr>
          <a:xfrm>
            <a:off x="1097280" y="4023360"/>
            <a:ext cx="10789920" cy="5943600"/>
          </a:xfrm>
          <a:prstGeom prst="roundRect">
            <a:avLst>
              <a:gd name="adj" fmla="val 3692"/>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645920" y="4297680"/>
            <a:ext cx="9692640" cy="1005840"/>
          </a:xfrm>
          <a:prstGeom prst="rect">
            <a:avLst/>
          </a:prstGeom>
          <a:noFill/>
        </p:spPr>
        <p:txBody>
          <a:bodyPr wrap="square" lIns="0" rIns="0" tIns="0" bIns="0" anchor="ctr">
            <a:noAutofit/>
          </a:bodyPr>
          <a:lstStyle/>
          <a:p>
            <a:pPr algn="l"/>
            <a:r>
              <a:rPr sz="3800" b="1" i="0">
                <a:solidFill>
                  <a:srgbClr val="2A2F30"/>
                </a:solidFill>
                <a:latin typeface="Gill Sans"/>
              </a:rPr>
              <a:t>Actuator-line turbines</a:t>
            </a:r>
          </a:p>
        </p:txBody>
      </p:sp>
      <p:sp>
        <p:nvSpPr>
          <p:cNvPr id="152" name="TextBox 151"/>
          <p:cNvSpPr txBox="1"/>
          <p:nvPr/>
        </p:nvSpPr>
        <p:spPr>
          <a:xfrm>
            <a:off x="1645920" y="5541264"/>
            <a:ext cx="2743200" cy="457200"/>
          </a:xfrm>
          <a:prstGeom prst="rect">
            <a:avLst/>
          </a:prstGeom>
          <a:noFill/>
        </p:spPr>
        <p:txBody>
          <a:bodyPr wrap="square" lIns="0" rIns="0" tIns="0" bIns="0" anchor="t">
            <a:noAutofit/>
          </a:bodyPr>
          <a:lstStyle/>
          <a:p>
            <a:pPr algn="l"/>
            <a:r>
              <a:rPr sz="2200" b="1" i="0">
                <a:solidFill>
                  <a:srgbClr val="C4512F"/>
                </a:solidFill>
                <a:latin typeface="Gill Sans"/>
              </a:rPr>
              <a:t>BEFORE</a:t>
            </a:r>
          </a:p>
        </p:txBody>
      </p:sp>
      <p:sp>
        <p:nvSpPr>
          <p:cNvPr id="153" name="TextBox 152"/>
          <p:cNvSpPr txBox="1"/>
          <p:nvPr/>
        </p:nvSpPr>
        <p:spPr>
          <a:xfrm>
            <a:off x="1645920" y="6035040"/>
            <a:ext cx="9692640" cy="1463040"/>
          </a:xfrm>
          <a:prstGeom prst="rect">
            <a:avLst/>
          </a:prstGeom>
          <a:noFill/>
        </p:spPr>
        <p:txBody>
          <a:bodyPr wrap="square" lIns="0" rIns="0" tIns="0" bIns="0" anchor="t">
            <a:noAutofit/>
          </a:bodyPr>
          <a:lstStyle/>
          <a:p>
            <a:pPr algn="l"/>
            <a:r>
              <a:rPr sz="3000" b="0" i="0">
                <a:solidFill>
                  <a:srgbClr val="5F6B76"/>
                </a:solidFill>
                <a:latin typeface="Gill Sans"/>
              </a:rPr>
              <a:t>Per-turbine uploads, launches and syncs; over 1,000 MPI_Allreduce calls per process per step.</a:t>
            </a:r>
          </a:p>
        </p:txBody>
      </p:sp>
      <p:sp>
        <p:nvSpPr>
          <p:cNvPr id="154" name="TextBox 153"/>
          <p:cNvSpPr txBox="1"/>
          <p:nvPr/>
        </p:nvSpPr>
        <p:spPr>
          <a:xfrm>
            <a:off x="1645920" y="7589520"/>
            <a:ext cx="2743200" cy="457200"/>
          </a:xfrm>
          <a:prstGeom prst="rect">
            <a:avLst/>
          </a:prstGeom>
          <a:noFill/>
        </p:spPr>
        <p:txBody>
          <a:bodyPr wrap="square" lIns="0" rIns="0" tIns="0" bIns="0" anchor="t">
            <a:noAutofit/>
          </a:bodyPr>
          <a:lstStyle/>
          <a:p>
            <a:pPr algn="l"/>
            <a:r>
              <a:rPr sz="2200" b="1" i="0">
                <a:solidFill>
                  <a:srgbClr val="2F8F5B"/>
                </a:solidFill>
                <a:latin typeface="Gill Sans"/>
              </a:rPr>
              <a:t>AFTER</a:t>
            </a:r>
          </a:p>
        </p:txBody>
      </p:sp>
      <p:sp>
        <p:nvSpPr>
          <p:cNvPr id="155" name="TextBox 154"/>
          <p:cNvSpPr txBox="1"/>
          <p:nvPr/>
        </p:nvSpPr>
        <p:spPr>
          <a:xfrm>
            <a:off x="1645920" y="8083296"/>
            <a:ext cx="9692640" cy="1737360"/>
          </a:xfrm>
          <a:prstGeom prst="rect">
            <a:avLst/>
          </a:prstGeom>
          <a:noFill/>
        </p:spPr>
        <p:txBody>
          <a:bodyPr wrap="square" lIns="0" rIns="0" tIns="0" bIns="0" anchor="t">
            <a:noAutofit/>
          </a:bodyPr>
          <a:lstStyle/>
          <a:p>
            <a:pPr algn="l"/>
            <a:r>
              <a:rPr sz="3000" b="0" i="0">
                <a:solidFill>
                  <a:srgbClr val="2A2F30"/>
                </a:solidFill>
                <a:latin typeface="Gill Sans"/>
              </a:rPr>
              <a:t>Blade tables stay on the device. One sampling kernel and one projection kernel cover all points; one packed MPI_Allreduce.</a:t>
            </a:r>
          </a:p>
        </p:txBody>
      </p:sp>
      <p:sp>
        <p:nvSpPr>
          <p:cNvPr id="156" name="Rounded Rectangle 155"/>
          <p:cNvSpPr/>
          <p:nvPr/>
        </p:nvSpPr>
        <p:spPr>
          <a:xfrm>
            <a:off x="12435840" y="4023360"/>
            <a:ext cx="10789920" cy="5943600"/>
          </a:xfrm>
          <a:prstGeom prst="roundRect">
            <a:avLst>
              <a:gd name="adj" fmla="val 3692"/>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2984480" y="4297680"/>
            <a:ext cx="9692640" cy="1005840"/>
          </a:xfrm>
          <a:prstGeom prst="rect">
            <a:avLst/>
          </a:prstGeom>
          <a:noFill/>
        </p:spPr>
        <p:txBody>
          <a:bodyPr wrap="square" lIns="0" rIns="0" tIns="0" bIns="0" anchor="ctr">
            <a:noAutofit/>
          </a:bodyPr>
          <a:lstStyle/>
          <a:p>
            <a:pPr algn="l"/>
            <a:r>
              <a:rPr sz="3800" b="1" i="0">
                <a:solidFill>
                  <a:srgbClr val="2A2F30"/>
                </a:solidFill>
                <a:latin typeface="Gill Sans"/>
              </a:rPr>
              <a:t>LASD subgrid model</a:t>
            </a:r>
          </a:p>
        </p:txBody>
      </p:sp>
      <p:sp>
        <p:nvSpPr>
          <p:cNvPr id="158" name="TextBox 157"/>
          <p:cNvSpPr txBox="1"/>
          <p:nvPr/>
        </p:nvSpPr>
        <p:spPr>
          <a:xfrm>
            <a:off x="12984480" y="5541264"/>
            <a:ext cx="2743200" cy="457200"/>
          </a:xfrm>
          <a:prstGeom prst="rect">
            <a:avLst/>
          </a:prstGeom>
          <a:noFill/>
        </p:spPr>
        <p:txBody>
          <a:bodyPr wrap="square" lIns="0" rIns="0" tIns="0" bIns="0" anchor="t">
            <a:noAutofit/>
          </a:bodyPr>
          <a:lstStyle/>
          <a:p>
            <a:pPr algn="l"/>
            <a:r>
              <a:rPr sz="2200" b="1" i="0">
                <a:solidFill>
                  <a:srgbClr val="C4512F"/>
                </a:solidFill>
                <a:latin typeface="Gill Sans"/>
              </a:rPr>
              <a:t>BEFORE</a:t>
            </a:r>
          </a:p>
        </p:txBody>
      </p:sp>
      <p:sp>
        <p:nvSpPr>
          <p:cNvPr id="159" name="TextBox 158"/>
          <p:cNvSpPr txBox="1"/>
          <p:nvPr/>
        </p:nvSpPr>
        <p:spPr>
          <a:xfrm>
            <a:off x="12984480" y="6035040"/>
            <a:ext cx="9692640" cy="1463040"/>
          </a:xfrm>
          <a:prstGeom prst="rect">
            <a:avLst/>
          </a:prstGeom>
          <a:noFill/>
        </p:spPr>
        <p:txBody>
          <a:bodyPr wrap="square" lIns="0" rIns="0" tIns="0" bIns="0" anchor="t">
            <a:noAutofit/>
          </a:bodyPr>
          <a:lstStyle/>
          <a:p>
            <a:pPr algn="l"/>
            <a:r>
              <a:rPr sz="3000" b="0" i="0">
                <a:solidFill>
                  <a:srgbClr val="5F6B76"/>
                </a:solidFill>
                <a:latin typeface="Gill Sans"/>
              </a:rPr>
              <a:t>Thousands of single-plane 2D FFTs per update: 21 fields × 2 filter widths × every z level.</a:t>
            </a:r>
          </a:p>
        </p:txBody>
      </p:sp>
      <p:sp>
        <p:nvSpPr>
          <p:cNvPr id="160" name="TextBox 159"/>
          <p:cNvSpPr txBox="1"/>
          <p:nvPr/>
        </p:nvSpPr>
        <p:spPr>
          <a:xfrm>
            <a:off x="12984480" y="7589520"/>
            <a:ext cx="2743200" cy="457200"/>
          </a:xfrm>
          <a:prstGeom prst="rect">
            <a:avLst/>
          </a:prstGeom>
          <a:noFill/>
        </p:spPr>
        <p:txBody>
          <a:bodyPr wrap="square" lIns="0" rIns="0" tIns="0" bIns="0" anchor="t">
            <a:noAutofit/>
          </a:bodyPr>
          <a:lstStyle/>
          <a:p>
            <a:pPr algn="l"/>
            <a:r>
              <a:rPr sz="2200" b="1" i="0">
                <a:solidFill>
                  <a:srgbClr val="2F8F5B"/>
                </a:solidFill>
                <a:latin typeface="Gill Sans"/>
              </a:rPr>
              <a:t>AFTER</a:t>
            </a:r>
          </a:p>
        </p:txBody>
      </p:sp>
      <p:sp>
        <p:nvSpPr>
          <p:cNvPr id="161" name="TextBox 160"/>
          <p:cNvSpPr txBox="1"/>
          <p:nvPr/>
        </p:nvSpPr>
        <p:spPr>
          <a:xfrm>
            <a:off x="12984480" y="8083296"/>
            <a:ext cx="9692640" cy="1737360"/>
          </a:xfrm>
          <a:prstGeom prst="rect">
            <a:avLst/>
          </a:prstGeom>
          <a:noFill/>
        </p:spPr>
        <p:txBody>
          <a:bodyPr wrap="square" lIns="0" rIns="0" tIns="0" bIns="0" anchor="t">
            <a:noAutofit/>
          </a:bodyPr>
          <a:lstStyle/>
          <a:p>
            <a:pPr algn="l"/>
            <a:r>
              <a:rPr sz="3000" b="0" i="0">
                <a:solidFill>
                  <a:srgbClr val="2A2F30"/>
                </a:solidFill>
                <a:latin typeface="Gill Sans"/>
              </a:rPr>
              <a:t>2D scratch planes promoted to 3D. One batched cuFFT call filters all z levels of a field: a few dozen launches.</a:t>
            </a:r>
          </a:p>
        </p:txBody>
      </p:sp>
      <p:sp>
        <p:nvSpPr>
          <p:cNvPr id="162" name="Rounded Rectangle 161"/>
          <p:cNvSpPr/>
          <p:nvPr/>
        </p:nvSpPr>
        <p:spPr>
          <a:xfrm>
            <a:off x="1097280" y="10332720"/>
            <a:ext cx="7132320" cy="1737360"/>
          </a:xfrm>
          <a:prstGeom prst="roundRect">
            <a:avLst>
              <a:gd name="adj" fmla="val 12631"/>
            </a:avLst>
          </a:prstGeom>
          <a:solidFill>
            <a:srgbClr val="E3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426464" y="10442448"/>
            <a:ext cx="6473952" cy="955548"/>
          </a:xfrm>
          <a:prstGeom prst="rect">
            <a:avLst/>
          </a:prstGeom>
          <a:noFill/>
        </p:spPr>
        <p:txBody>
          <a:bodyPr wrap="square" lIns="0" rIns="0" tIns="0" bIns="0" anchor="ctr">
            <a:noAutofit/>
          </a:bodyPr>
          <a:lstStyle/>
          <a:p>
            <a:pPr algn="l"/>
            <a:r>
              <a:rPr sz="4800" b="1" i="0">
                <a:solidFill>
                  <a:srgbClr val="35798B"/>
                </a:solidFill>
                <a:latin typeface="Arial"/>
              </a:rPr>
              <a:t>1.6×</a:t>
            </a:r>
          </a:p>
        </p:txBody>
      </p:sp>
      <p:sp>
        <p:nvSpPr>
          <p:cNvPr id="164" name="TextBox 163"/>
          <p:cNvSpPr txBox="1"/>
          <p:nvPr/>
        </p:nvSpPr>
        <p:spPr>
          <a:xfrm>
            <a:off x="1426464" y="11397996"/>
            <a:ext cx="6473952" cy="562356"/>
          </a:xfrm>
          <a:prstGeom prst="rect">
            <a:avLst/>
          </a:prstGeom>
          <a:noFill/>
        </p:spPr>
        <p:txBody>
          <a:bodyPr wrap="square" lIns="0" rIns="0" tIns="0" bIns="0" anchor="t">
            <a:noAutofit/>
          </a:bodyPr>
          <a:lstStyle/>
          <a:p>
            <a:pPr algn="l"/>
            <a:r>
              <a:rPr sz="2500" b="0" i="0">
                <a:solidFill>
                  <a:srgbClr val="5F6B76"/>
                </a:solidFill>
                <a:latin typeface="Gill Sans"/>
              </a:rPr>
              <a:t>step speedup from batching turbines</a:t>
            </a:r>
          </a:p>
        </p:txBody>
      </p:sp>
      <p:sp>
        <p:nvSpPr>
          <p:cNvPr id="165" name="Rounded Rectangle 164"/>
          <p:cNvSpPr/>
          <p:nvPr/>
        </p:nvSpPr>
        <p:spPr>
          <a:xfrm>
            <a:off x="8595360" y="10332720"/>
            <a:ext cx="7132320" cy="1737360"/>
          </a:xfrm>
          <a:prstGeom prst="roundRect">
            <a:avLst>
              <a:gd name="adj" fmla="val 12631"/>
            </a:avLst>
          </a:prstGeom>
          <a:solidFill>
            <a:srgbClr val="E3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924544" y="10442448"/>
            <a:ext cx="6473952" cy="955548"/>
          </a:xfrm>
          <a:prstGeom prst="rect">
            <a:avLst/>
          </a:prstGeom>
          <a:noFill/>
        </p:spPr>
        <p:txBody>
          <a:bodyPr wrap="square" lIns="0" rIns="0" tIns="0" bIns="0" anchor="ctr">
            <a:noAutofit/>
          </a:bodyPr>
          <a:lstStyle/>
          <a:p>
            <a:pPr algn="l"/>
            <a:r>
              <a:rPr sz="4800" b="1" i="0">
                <a:solidFill>
                  <a:srgbClr val="35798B"/>
                </a:solidFill>
                <a:latin typeface="Arial"/>
              </a:rPr>
              <a:t>~10×</a:t>
            </a:r>
          </a:p>
        </p:txBody>
      </p:sp>
      <p:sp>
        <p:nvSpPr>
          <p:cNvPr id="167" name="TextBox 166"/>
          <p:cNvSpPr txBox="1"/>
          <p:nvPr/>
        </p:nvSpPr>
        <p:spPr>
          <a:xfrm>
            <a:off x="8924544" y="11397996"/>
            <a:ext cx="6473952" cy="562356"/>
          </a:xfrm>
          <a:prstGeom prst="rect">
            <a:avLst/>
          </a:prstGeom>
          <a:noFill/>
        </p:spPr>
        <p:txBody>
          <a:bodyPr wrap="square" lIns="0" rIns="0" tIns="0" bIns="0" anchor="t">
            <a:noAutofit/>
          </a:bodyPr>
          <a:lstStyle/>
          <a:p>
            <a:pPr algn="l"/>
            <a:r>
              <a:rPr sz="2500" b="0" i="0">
                <a:solidFill>
                  <a:srgbClr val="5F6B76"/>
                </a:solidFill>
                <a:latin typeface="Gill Sans"/>
              </a:rPr>
              <a:t>fewer kernel launches and collectives</a:t>
            </a:r>
          </a:p>
        </p:txBody>
      </p:sp>
      <p:sp>
        <p:nvSpPr>
          <p:cNvPr id="168" name="Rounded Rectangle 167"/>
          <p:cNvSpPr/>
          <p:nvPr/>
        </p:nvSpPr>
        <p:spPr>
          <a:xfrm>
            <a:off x="16093440" y="10332720"/>
            <a:ext cx="7132320" cy="1737360"/>
          </a:xfrm>
          <a:prstGeom prst="roundRect">
            <a:avLst>
              <a:gd name="adj" fmla="val 12631"/>
            </a:avLst>
          </a:prstGeom>
          <a:solidFill>
            <a:srgbClr val="E3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6422624" y="10442448"/>
            <a:ext cx="6473952" cy="955548"/>
          </a:xfrm>
          <a:prstGeom prst="rect">
            <a:avLst/>
          </a:prstGeom>
          <a:noFill/>
        </p:spPr>
        <p:txBody>
          <a:bodyPr wrap="square" lIns="0" rIns="0" tIns="0" bIns="0" anchor="ctr">
            <a:noAutofit/>
          </a:bodyPr>
          <a:lstStyle/>
          <a:p>
            <a:pPr algn="l"/>
            <a:r>
              <a:rPr sz="4800" b="1" i="0">
                <a:solidFill>
                  <a:srgbClr val="35798B"/>
                </a:solidFill>
                <a:latin typeface="Arial"/>
              </a:rPr>
              <a:t>15–18%</a:t>
            </a:r>
          </a:p>
        </p:txBody>
      </p:sp>
      <p:sp>
        <p:nvSpPr>
          <p:cNvPr id="170" name="TextBox 169"/>
          <p:cNvSpPr txBox="1"/>
          <p:nvPr/>
        </p:nvSpPr>
        <p:spPr>
          <a:xfrm>
            <a:off x="16422624" y="11397996"/>
            <a:ext cx="6473952" cy="562356"/>
          </a:xfrm>
          <a:prstGeom prst="rect">
            <a:avLst/>
          </a:prstGeom>
          <a:noFill/>
        </p:spPr>
        <p:txBody>
          <a:bodyPr wrap="square" lIns="0" rIns="0" tIns="0" bIns="0" anchor="t">
            <a:noAutofit/>
          </a:bodyPr>
          <a:lstStyle/>
          <a:p>
            <a:pPr algn="l"/>
            <a:r>
              <a:rPr sz="2500" b="0" i="0">
                <a:solidFill>
                  <a:srgbClr val="5F6B76"/>
                </a:solidFill>
                <a:latin typeface="Gill Sans"/>
              </a:rPr>
              <a:t>faster other stages (no in-loop allocations)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Opt. 3: Heterogeneous CPU–GPU Execution</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Some physics runs better on the CPU. Hide it behind the GPU backlog.</a:t>
            </a:r>
          </a:p>
        </p:txBody>
      </p:sp>
      <p:pic>
        <p:nvPicPr>
          <p:cNvPr id="150" name="Picture 149" descr="fig_overlap.png"/>
          <p:cNvPicPr>
            <a:picLocks noChangeAspect="1"/>
          </p:cNvPicPr>
          <p:nvPr/>
        </p:nvPicPr>
        <p:blipFill>
          <a:blip r:embed="rId2"/>
          <a:stretch>
            <a:fillRect/>
          </a:stretch>
        </p:blipFill>
        <p:spPr>
          <a:xfrm>
            <a:off x="1097280" y="4023360"/>
            <a:ext cx="10607040" cy="5987045"/>
          </a:xfrm>
          <a:prstGeom prst="rect">
            <a:avLst/>
          </a:prstGeom>
        </p:spPr>
      </p:pic>
      <p:sp>
        <p:nvSpPr>
          <p:cNvPr id="151" name="Rounded Rectangle 150"/>
          <p:cNvSpPr/>
          <p:nvPr/>
        </p:nvSpPr>
        <p:spPr>
          <a:xfrm>
            <a:off x="1097280" y="10332720"/>
            <a:ext cx="512064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26464" y="10442448"/>
            <a:ext cx="4462272" cy="1005840"/>
          </a:xfrm>
          <a:prstGeom prst="rect">
            <a:avLst/>
          </a:prstGeom>
          <a:noFill/>
        </p:spPr>
        <p:txBody>
          <a:bodyPr wrap="square" lIns="0" rIns="0" tIns="0" bIns="0" anchor="ctr">
            <a:noAutofit/>
          </a:bodyPr>
          <a:lstStyle/>
          <a:p>
            <a:pPr algn="l"/>
            <a:r>
              <a:rPr sz="5200" b="1" i="0">
                <a:solidFill>
                  <a:srgbClr val="35798B"/>
                </a:solidFill>
                <a:latin typeface="Arial"/>
              </a:rPr>
              <a:t>30 ms</a:t>
            </a:r>
          </a:p>
        </p:txBody>
      </p:sp>
      <p:sp>
        <p:nvSpPr>
          <p:cNvPr id="153" name="TextBox 152"/>
          <p:cNvSpPr txBox="1"/>
          <p:nvPr/>
        </p:nvSpPr>
        <p:spPr>
          <a:xfrm>
            <a:off x="1426464" y="11448288"/>
            <a:ext cx="4462272" cy="603504"/>
          </a:xfrm>
          <a:prstGeom prst="rect">
            <a:avLst/>
          </a:prstGeom>
          <a:noFill/>
        </p:spPr>
        <p:txBody>
          <a:bodyPr wrap="square" lIns="0" rIns="0" tIns="0" bIns="0" anchor="t">
            <a:noAutofit/>
          </a:bodyPr>
          <a:lstStyle/>
          <a:p>
            <a:pPr algn="l"/>
            <a:r>
              <a:rPr sz="2500" b="0" i="0">
                <a:solidFill>
                  <a:srgbClr val="5F6B76"/>
                </a:solidFill>
                <a:latin typeface="Gill Sans"/>
              </a:rPr>
              <a:t>saved per step</a:t>
            </a:r>
          </a:p>
        </p:txBody>
      </p:sp>
      <p:sp>
        <p:nvSpPr>
          <p:cNvPr id="154" name="Rounded Rectangle 153"/>
          <p:cNvSpPr/>
          <p:nvPr/>
        </p:nvSpPr>
        <p:spPr>
          <a:xfrm>
            <a:off x="6583680" y="10332720"/>
            <a:ext cx="512064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912864" y="10442448"/>
            <a:ext cx="4462272" cy="1005840"/>
          </a:xfrm>
          <a:prstGeom prst="rect">
            <a:avLst/>
          </a:prstGeom>
          <a:noFill/>
        </p:spPr>
        <p:txBody>
          <a:bodyPr wrap="square" lIns="0" rIns="0" tIns="0" bIns="0" anchor="ctr">
            <a:noAutofit/>
          </a:bodyPr>
          <a:lstStyle/>
          <a:p>
            <a:pPr algn="l"/>
            <a:r>
              <a:rPr sz="5200" b="1" i="0">
                <a:solidFill>
                  <a:srgbClr val="35798B"/>
                </a:solidFill>
                <a:latin typeface="Arial"/>
              </a:rPr>
              <a:t>93%</a:t>
            </a:r>
          </a:p>
        </p:txBody>
      </p:sp>
      <p:sp>
        <p:nvSpPr>
          <p:cNvPr id="156" name="TextBox 155"/>
          <p:cNvSpPr txBox="1"/>
          <p:nvPr/>
        </p:nvSpPr>
        <p:spPr>
          <a:xfrm>
            <a:off x="6912864" y="11448288"/>
            <a:ext cx="4462272" cy="603504"/>
          </a:xfrm>
          <a:prstGeom prst="rect">
            <a:avLst/>
          </a:prstGeom>
          <a:noFill/>
        </p:spPr>
        <p:txBody>
          <a:bodyPr wrap="square" lIns="0" rIns="0" tIns="0" bIns="0" anchor="t">
            <a:noAutofit/>
          </a:bodyPr>
          <a:lstStyle/>
          <a:p>
            <a:pPr algn="l"/>
            <a:r>
              <a:rPr sz="2500" b="0" i="0">
                <a:solidFill>
                  <a:srgbClr val="5F6B76"/>
                </a:solidFill>
                <a:latin typeface="Gill Sans"/>
              </a:rPr>
              <a:t>GPU busy fraction</a:t>
            </a:r>
          </a:p>
        </p:txBody>
      </p:sp>
      <p:sp>
        <p:nvSpPr>
          <p:cNvPr id="157" name="TextBox 156"/>
          <p:cNvSpPr txBox="1"/>
          <p:nvPr/>
        </p:nvSpPr>
        <p:spPr>
          <a:xfrm>
            <a:off x="12710160" y="4023360"/>
            <a:ext cx="10515600" cy="658368"/>
          </a:xfrm>
          <a:prstGeom prst="rect">
            <a:avLst/>
          </a:prstGeom>
          <a:noFill/>
        </p:spPr>
        <p:txBody>
          <a:bodyPr wrap="square" lIns="0" rIns="0" tIns="0" bIns="0" anchor="t">
            <a:noAutofit/>
          </a:bodyPr>
          <a:lstStyle/>
          <a:p>
            <a:pPr algn="l"/>
            <a:r>
              <a:rPr sz="3400" b="1" i="0">
                <a:solidFill>
                  <a:srgbClr val="C4512F"/>
                </a:solidFill>
                <a:latin typeface="Gill Sans"/>
              </a:rPr>
              <a:t>Why keep blade forces on the CPU?</a:t>
            </a:r>
          </a:p>
        </p:txBody>
      </p:sp>
      <p:sp>
        <p:nvSpPr>
          <p:cNvPr id="158" name="TextBox 157"/>
          <p:cNvSpPr txBox="1"/>
          <p:nvPr/>
        </p:nvSpPr>
        <p:spPr>
          <a:xfrm>
            <a:off x="12710160" y="4754880"/>
            <a:ext cx="10515600" cy="1463040"/>
          </a:xfrm>
          <a:prstGeom prst="rect">
            <a:avLst/>
          </a:prstGeom>
          <a:noFill/>
        </p:spPr>
        <p:txBody>
          <a:bodyPr wrap="square" lIns="0" rIns="0" tIns="0" bIns="0" anchor="t">
            <a:noAutofit/>
          </a:bodyPr>
          <a:lstStyle/>
          <a:p>
            <a:pPr algn="l"/>
            <a:r>
              <a:rPr sz="2900" b="0" i="0">
                <a:solidFill>
                  <a:srgbClr val="2A2F30"/>
                </a:solidFill>
                <a:latin typeface="Gill Sans"/>
              </a:rPr>
              <a:t>Only 10,800 actuator points, too few to fill a GPU, and data-dependent airfoil lookups diverge warps.</a:t>
            </a:r>
          </a:p>
        </p:txBody>
      </p:sp>
      <p:sp>
        <p:nvSpPr>
          <p:cNvPr id="159" name="TextBox 158"/>
          <p:cNvSpPr txBox="1"/>
          <p:nvPr/>
        </p:nvSpPr>
        <p:spPr>
          <a:xfrm>
            <a:off x="12710160" y="6217920"/>
            <a:ext cx="10515600" cy="658368"/>
          </a:xfrm>
          <a:prstGeom prst="rect">
            <a:avLst/>
          </a:prstGeom>
          <a:noFill/>
        </p:spPr>
        <p:txBody>
          <a:bodyPr wrap="square" lIns="0" rIns="0" tIns="0" bIns="0" anchor="t">
            <a:noAutofit/>
          </a:bodyPr>
          <a:lstStyle/>
          <a:p>
            <a:pPr algn="l"/>
            <a:r>
              <a:rPr sz="3400" b="1" i="0">
                <a:solidFill>
                  <a:srgbClr val="C4512F"/>
                </a:solidFill>
                <a:latin typeface="Gill Sans"/>
              </a:rPr>
              <a:t>The catch</a:t>
            </a:r>
          </a:p>
        </p:txBody>
      </p:sp>
      <p:sp>
        <p:nvSpPr>
          <p:cNvPr id="160" name="TextBox 159"/>
          <p:cNvSpPr txBox="1"/>
          <p:nvPr/>
        </p:nvSpPr>
        <p:spPr>
          <a:xfrm>
            <a:off x="12710160" y="6949440"/>
            <a:ext cx="10515600" cy="1463040"/>
          </a:xfrm>
          <a:prstGeom prst="rect">
            <a:avLst/>
          </a:prstGeom>
          <a:noFill/>
        </p:spPr>
        <p:txBody>
          <a:bodyPr wrap="square" lIns="0" rIns="0" tIns="0" bIns="0" anchor="t">
            <a:noAutofit/>
          </a:bodyPr>
          <a:lstStyle/>
          <a:p>
            <a:pPr algn="l"/>
            <a:r>
              <a:rPr sz="2900" b="0" i="0">
                <a:solidFill>
                  <a:srgbClr val="2A2F30"/>
                </a:solidFill>
                <a:latin typeface="Gill Sans"/>
              </a:rPr>
              <a:t>Host work costs ~28 ms per step. Run synchronously, the GPU sits idle.</a:t>
            </a:r>
          </a:p>
        </p:txBody>
      </p:sp>
      <p:sp>
        <p:nvSpPr>
          <p:cNvPr id="161" name="TextBox 160"/>
          <p:cNvSpPr txBox="1"/>
          <p:nvPr/>
        </p:nvSpPr>
        <p:spPr>
          <a:xfrm>
            <a:off x="12710160" y="8412480"/>
            <a:ext cx="10515600" cy="658368"/>
          </a:xfrm>
          <a:prstGeom prst="rect">
            <a:avLst/>
          </a:prstGeom>
          <a:noFill/>
        </p:spPr>
        <p:txBody>
          <a:bodyPr wrap="square" lIns="0" rIns="0" tIns="0" bIns="0" anchor="t">
            <a:noAutofit/>
          </a:bodyPr>
          <a:lstStyle/>
          <a:p>
            <a:pPr algn="l"/>
            <a:r>
              <a:rPr sz="3400" b="1" i="0">
                <a:solidFill>
                  <a:srgbClr val="35798B"/>
                </a:solidFill>
                <a:latin typeface="Gill Sans"/>
              </a:rPr>
              <a:t>Two-phase split</a:t>
            </a:r>
          </a:p>
        </p:txBody>
      </p:sp>
      <p:sp>
        <p:nvSpPr>
          <p:cNvPr id="162" name="TextBox 161"/>
          <p:cNvSpPr txBox="1"/>
          <p:nvPr/>
        </p:nvSpPr>
        <p:spPr>
          <a:xfrm>
            <a:off x="12710160" y="9144000"/>
            <a:ext cx="10515600" cy="2103120"/>
          </a:xfrm>
          <a:prstGeom prst="rect">
            <a:avLst/>
          </a:prstGeom>
          <a:noFill/>
        </p:spPr>
        <p:txBody>
          <a:bodyPr wrap="square" lIns="0" rIns="0" tIns="0" bIns="0" anchor="t">
            <a:noAutofit/>
          </a:bodyPr>
          <a:lstStyle/>
          <a:p>
            <a:pPr algn="l"/>
            <a:r>
              <a:rPr sz="2900" b="0" i="0">
                <a:solidFill>
                  <a:srgbClr val="2A2F30"/>
                </a:solidFill>
                <a:latin typeface="Gill Sans"/>
              </a:rPr>
              <a:t>Sample on the GPU and copy a small packet out without flushing the queue. The CPU computes forces during convection, then forces go back for projection.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Setup and Correctness</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GPU and CPU backends agree to floating-point roundoff.</a:t>
            </a:r>
          </a:p>
        </p:txBody>
      </p:sp>
      <p:sp>
        <p:nvSpPr>
          <p:cNvPr id="150" name="Rounded Rectangle 149"/>
          <p:cNvSpPr/>
          <p:nvPr/>
        </p:nvSpPr>
        <p:spPr>
          <a:xfrm>
            <a:off x="1097280" y="4023360"/>
            <a:ext cx="5257800" cy="2231136"/>
          </a:xfrm>
          <a:prstGeom prst="roundRect">
            <a:avLst>
              <a:gd name="adj" fmla="val 9836"/>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426464" y="4261104"/>
            <a:ext cx="4599432" cy="731520"/>
          </a:xfrm>
          <a:prstGeom prst="rect">
            <a:avLst/>
          </a:prstGeom>
          <a:noFill/>
        </p:spPr>
        <p:txBody>
          <a:bodyPr wrap="square" lIns="0" rIns="0" tIns="0" bIns="0" anchor="ctr">
            <a:noAutofit/>
          </a:bodyPr>
          <a:lstStyle/>
          <a:p>
            <a:pPr algn="l"/>
            <a:r>
              <a:rPr sz="3000" b="1" i="0">
                <a:solidFill>
                  <a:srgbClr val="35798B"/>
                </a:solidFill>
                <a:latin typeface="Gill Sans"/>
              </a:rPr>
              <a:t>Platform</a:t>
            </a:r>
          </a:p>
        </p:txBody>
      </p:sp>
      <p:sp>
        <p:nvSpPr>
          <p:cNvPr id="152" name="TextBox 151"/>
          <p:cNvSpPr txBox="1"/>
          <p:nvPr/>
        </p:nvSpPr>
        <p:spPr>
          <a:xfrm>
            <a:off x="1426464" y="5120640"/>
            <a:ext cx="4599432" cy="1060704"/>
          </a:xfrm>
          <a:prstGeom prst="rect">
            <a:avLst/>
          </a:prstGeom>
          <a:noFill/>
        </p:spPr>
        <p:txBody>
          <a:bodyPr wrap="square" lIns="0" rIns="0" tIns="0" bIns="0" anchor="t">
            <a:noAutofit/>
          </a:bodyPr>
          <a:lstStyle/>
          <a:p>
            <a:pPr algn="l"/>
            <a:r>
              <a:rPr sz="2500" b="0" i="0">
                <a:solidFill>
                  <a:srgbClr val="2A2F30"/>
                </a:solidFill>
                <a:latin typeface="Gill Sans"/>
              </a:rPr>
              <a:t>NERSC Perlmutter: 4× A100 per node, Slingshot-11</a:t>
            </a:r>
          </a:p>
        </p:txBody>
      </p:sp>
      <p:sp>
        <p:nvSpPr>
          <p:cNvPr id="153" name="Rounded Rectangle 152"/>
          <p:cNvSpPr/>
          <p:nvPr/>
        </p:nvSpPr>
        <p:spPr>
          <a:xfrm>
            <a:off x="6720840" y="4023360"/>
            <a:ext cx="5257800" cy="2231136"/>
          </a:xfrm>
          <a:prstGeom prst="roundRect">
            <a:avLst>
              <a:gd name="adj" fmla="val 9836"/>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050024" y="4261104"/>
            <a:ext cx="4599432" cy="731520"/>
          </a:xfrm>
          <a:prstGeom prst="rect">
            <a:avLst/>
          </a:prstGeom>
          <a:noFill/>
        </p:spPr>
        <p:txBody>
          <a:bodyPr wrap="square" lIns="0" rIns="0" tIns="0" bIns="0" anchor="ctr">
            <a:noAutofit/>
          </a:bodyPr>
          <a:lstStyle/>
          <a:p>
            <a:pPr algn="l"/>
            <a:r>
              <a:rPr sz="3000" b="1" i="0">
                <a:solidFill>
                  <a:srgbClr val="35798B"/>
                </a:solidFill>
                <a:latin typeface="Gill Sans"/>
              </a:rPr>
              <a:t>Software</a:t>
            </a:r>
          </a:p>
        </p:txBody>
      </p:sp>
      <p:sp>
        <p:nvSpPr>
          <p:cNvPr id="155" name="TextBox 154"/>
          <p:cNvSpPr txBox="1"/>
          <p:nvPr/>
        </p:nvSpPr>
        <p:spPr>
          <a:xfrm>
            <a:off x="7050024" y="5120640"/>
            <a:ext cx="4599432" cy="1060704"/>
          </a:xfrm>
          <a:prstGeom prst="rect">
            <a:avLst/>
          </a:prstGeom>
          <a:noFill/>
        </p:spPr>
        <p:txBody>
          <a:bodyPr wrap="square" lIns="0" rIns="0" tIns="0" bIns="0" anchor="t">
            <a:noAutofit/>
          </a:bodyPr>
          <a:lstStyle/>
          <a:p>
            <a:pPr algn="l"/>
            <a:r>
              <a:rPr sz="2500" b="0" i="0">
                <a:solidFill>
                  <a:srgbClr val="2A2F30"/>
                </a:solidFill>
                <a:latin typeface="Gill Sans"/>
              </a:rPr>
              <a:t>NVHPC 25.5 OpenACC, CUDA 12.9, cuFFT, Cray MPICH</a:t>
            </a:r>
          </a:p>
        </p:txBody>
      </p:sp>
      <p:sp>
        <p:nvSpPr>
          <p:cNvPr id="156" name="Rounded Rectangle 155"/>
          <p:cNvSpPr/>
          <p:nvPr/>
        </p:nvSpPr>
        <p:spPr>
          <a:xfrm>
            <a:off x="12344400" y="4023360"/>
            <a:ext cx="5257800" cy="2231136"/>
          </a:xfrm>
          <a:prstGeom prst="roundRect">
            <a:avLst>
              <a:gd name="adj" fmla="val 9836"/>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2673584" y="4261104"/>
            <a:ext cx="4599432" cy="731520"/>
          </a:xfrm>
          <a:prstGeom prst="rect">
            <a:avLst/>
          </a:prstGeom>
          <a:noFill/>
        </p:spPr>
        <p:txBody>
          <a:bodyPr wrap="square" lIns="0" rIns="0" tIns="0" bIns="0" anchor="ctr">
            <a:noAutofit/>
          </a:bodyPr>
          <a:lstStyle/>
          <a:p>
            <a:pPr algn="l"/>
            <a:r>
              <a:rPr sz="3000" b="1" i="0">
                <a:solidFill>
                  <a:srgbClr val="35798B"/>
                </a:solidFill>
                <a:latin typeface="Gill Sans"/>
              </a:rPr>
              <a:t>CPU baseline</a:t>
            </a:r>
          </a:p>
        </p:txBody>
      </p:sp>
      <p:sp>
        <p:nvSpPr>
          <p:cNvPr id="158" name="TextBox 157"/>
          <p:cNvSpPr txBox="1"/>
          <p:nvPr/>
        </p:nvSpPr>
        <p:spPr>
          <a:xfrm>
            <a:off x="12673584" y="5120640"/>
            <a:ext cx="4599432" cy="1060704"/>
          </a:xfrm>
          <a:prstGeom prst="rect">
            <a:avLst/>
          </a:prstGeom>
          <a:noFill/>
        </p:spPr>
        <p:txBody>
          <a:bodyPr wrap="square" lIns="0" rIns="0" tIns="0" bIns="0" anchor="t">
            <a:noAutofit/>
          </a:bodyPr>
          <a:lstStyle/>
          <a:p>
            <a:pPr algn="l"/>
            <a:r>
              <a:rPr sz="2500" b="0" i="0">
                <a:solidFill>
                  <a:srgbClr val="2A2F30"/>
                </a:solidFill>
                <a:latin typeface="Gill Sans"/>
              </a:rPr>
              <a:t>2× 64-core AMD EPYC 7763 per node, fastest configuration</a:t>
            </a:r>
          </a:p>
        </p:txBody>
      </p:sp>
      <p:sp>
        <p:nvSpPr>
          <p:cNvPr id="159" name="Rounded Rectangle 158"/>
          <p:cNvSpPr/>
          <p:nvPr/>
        </p:nvSpPr>
        <p:spPr>
          <a:xfrm>
            <a:off x="17967960" y="4023360"/>
            <a:ext cx="5257800" cy="2231136"/>
          </a:xfrm>
          <a:prstGeom prst="roundRect">
            <a:avLst>
              <a:gd name="adj" fmla="val 9836"/>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8297144" y="4261104"/>
            <a:ext cx="4599432" cy="731520"/>
          </a:xfrm>
          <a:prstGeom prst="rect">
            <a:avLst/>
          </a:prstGeom>
          <a:noFill/>
        </p:spPr>
        <p:txBody>
          <a:bodyPr wrap="square" lIns="0" rIns="0" tIns="0" bIns="0" anchor="ctr">
            <a:noAutofit/>
          </a:bodyPr>
          <a:lstStyle/>
          <a:p>
            <a:pPr algn="l"/>
            <a:r>
              <a:rPr sz="3000" b="1" i="0">
                <a:solidFill>
                  <a:srgbClr val="35798B"/>
                </a:solidFill>
                <a:latin typeface="Gill Sans"/>
              </a:rPr>
              <a:t>wf60 case</a:t>
            </a:r>
          </a:p>
        </p:txBody>
      </p:sp>
      <p:sp>
        <p:nvSpPr>
          <p:cNvPr id="161" name="TextBox 160"/>
          <p:cNvSpPr txBox="1"/>
          <p:nvPr/>
        </p:nvSpPr>
        <p:spPr>
          <a:xfrm>
            <a:off x="18297144" y="5120640"/>
            <a:ext cx="4599432" cy="1060704"/>
          </a:xfrm>
          <a:prstGeom prst="rect">
            <a:avLst/>
          </a:prstGeom>
          <a:noFill/>
        </p:spPr>
        <p:txBody>
          <a:bodyPr wrap="square" lIns="0" rIns="0" tIns="0" bIns="0" anchor="t">
            <a:noAutofit/>
          </a:bodyPr>
          <a:lstStyle/>
          <a:p>
            <a:pPr algn="l"/>
            <a:r>
              <a:rPr sz="2500" b="0" i="0">
                <a:solidFill>
                  <a:srgbClr val="2A2F30"/>
                </a:solidFill>
                <a:latin typeface="Gill Sans"/>
              </a:rPr>
              <a:t>60 turbines, 604M cells; scaling series up to 1.36B cells</a:t>
            </a:r>
          </a:p>
        </p:txBody>
      </p:sp>
      <p:pic>
        <p:nvPicPr>
          <p:cNvPr id="162" name="Picture 161" descr="fig_cpu_gpu_lesgo_fields.png"/>
          <p:cNvPicPr>
            <a:picLocks noChangeAspect="1"/>
          </p:cNvPicPr>
          <p:nvPr/>
        </p:nvPicPr>
        <p:blipFill>
          <a:blip r:embed="rId2"/>
          <a:stretch>
            <a:fillRect/>
          </a:stretch>
        </p:blipFill>
        <p:spPr>
          <a:xfrm>
            <a:off x="1097280" y="6620256"/>
            <a:ext cx="14538960" cy="4250093"/>
          </a:xfrm>
          <a:prstGeom prst="rect">
            <a:avLst/>
          </a:prstGeom>
        </p:spPr>
      </p:pic>
      <p:sp>
        <p:nvSpPr>
          <p:cNvPr id="163" name="TextBox 162"/>
          <p:cNvSpPr txBox="1"/>
          <p:nvPr/>
        </p:nvSpPr>
        <p:spPr>
          <a:xfrm>
            <a:off x="1097280" y="11016653"/>
            <a:ext cx="14538960" cy="914400"/>
          </a:xfrm>
          <a:prstGeom prst="rect">
            <a:avLst/>
          </a:prstGeom>
          <a:noFill/>
        </p:spPr>
        <p:txBody>
          <a:bodyPr wrap="square" lIns="0" rIns="0" tIns="0" bIns="0" anchor="t">
            <a:noAutofit/>
          </a:bodyPr>
          <a:lstStyle/>
          <a:p>
            <a:pPr algn="l"/>
            <a:r>
              <a:rPr sz="2400" b="0" i="1">
                <a:solidFill>
                  <a:srgbClr val="5F6B76"/>
                </a:solidFill>
                <a:latin typeface="Gill Sans"/>
              </a:rPr>
              <a:t>Single NREL 5-MW turbine, 480×384×240 grid, 1,000 steps from the same cold start. CPU: 48 MPI processes. GPU: 2 A100s.</a:t>
            </a:r>
          </a:p>
        </p:txBody>
      </p:sp>
      <p:sp>
        <p:nvSpPr>
          <p:cNvPr id="164" name="Rounded Rectangle 163"/>
          <p:cNvSpPr/>
          <p:nvPr/>
        </p:nvSpPr>
        <p:spPr>
          <a:xfrm>
            <a:off x="16184880" y="6620256"/>
            <a:ext cx="7040880" cy="1682496"/>
          </a:xfrm>
          <a:prstGeom prst="roundRect">
            <a:avLst>
              <a:gd name="adj" fmla="val 13043"/>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6514064" y="6729984"/>
            <a:ext cx="6382512" cy="925373"/>
          </a:xfrm>
          <a:prstGeom prst="rect">
            <a:avLst/>
          </a:prstGeom>
          <a:noFill/>
        </p:spPr>
        <p:txBody>
          <a:bodyPr wrap="square" lIns="0" rIns="0" tIns="0" bIns="0" anchor="ctr">
            <a:noAutofit/>
          </a:bodyPr>
          <a:lstStyle/>
          <a:p>
            <a:pPr algn="l"/>
            <a:r>
              <a:rPr sz="4400" b="1" i="0">
                <a:solidFill>
                  <a:srgbClr val="35798B"/>
                </a:solidFill>
                <a:latin typeface="Arial"/>
              </a:rPr>
              <a:t>1.5×10</a:t>
            </a:r>
            <a:r>
              <a:rPr sz="4400" b="1" i="0" baseline="30000">
                <a:solidFill>
                  <a:srgbClr val="35798B"/>
                </a:solidFill>
                <a:latin typeface="Arial"/>
              </a:rPr>
              <a:t>−13</a:t>
            </a:r>
          </a:p>
        </p:txBody>
      </p:sp>
      <p:sp>
        <p:nvSpPr>
          <p:cNvPr id="166" name="TextBox 165"/>
          <p:cNvSpPr txBox="1"/>
          <p:nvPr/>
        </p:nvSpPr>
        <p:spPr>
          <a:xfrm>
            <a:off x="16514064" y="7655357"/>
            <a:ext cx="6382512" cy="537667"/>
          </a:xfrm>
          <a:prstGeom prst="rect">
            <a:avLst/>
          </a:prstGeom>
          <a:noFill/>
        </p:spPr>
        <p:txBody>
          <a:bodyPr wrap="square" lIns="0" rIns="0" tIns="0" bIns="0" anchor="t">
            <a:noAutofit/>
          </a:bodyPr>
          <a:lstStyle/>
          <a:p>
            <a:pPr algn="l"/>
            <a:r>
              <a:rPr sz="2500" b="0" i="0">
                <a:solidFill>
                  <a:srgbClr val="5F6B76"/>
                </a:solidFill>
                <a:latin typeface="Gill Sans"/>
              </a:rPr>
              <a:t>relative L2 difference</a:t>
            </a:r>
          </a:p>
        </p:txBody>
      </p:sp>
      <p:sp>
        <p:nvSpPr>
          <p:cNvPr id="167" name="Rounded Rectangle 166"/>
          <p:cNvSpPr/>
          <p:nvPr/>
        </p:nvSpPr>
        <p:spPr>
          <a:xfrm>
            <a:off x="16184880" y="8449056"/>
            <a:ext cx="7040880" cy="1682496"/>
          </a:xfrm>
          <a:prstGeom prst="roundRect">
            <a:avLst>
              <a:gd name="adj" fmla="val 13043"/>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6514064" y="8558784"/>
            <a:ext cx="6382512" cy="925373"/>
          </a:xfrm>
          <a:prstGeom prst="rect">
            <a:avLst/>
          </a:prstGeom>
          <a:noFill/>
        </p:spPr>
        <p:txBody>
          <a:bodyPr wrap="square" lIns="0" rIns="0" tIns="0" bIns="0" anchor="ctr">
            <a:noAutofit/>
          </a:bodyPr>
          <a:lstStyle/>
          <a:p>
            <a:pPr algn="l"/>
            <a:r>
              <a:rPr sz="4400" b="1" i="0">
                <a:solidFill>
                  <a:srgbClr val="35798B"/>
                </a:solidFill>
                <a:latin typeface="Arial"/>
              </a:rPr>
              <a:t>9.0×10</a:t>
            </a:r>
            <a:r>
              <a:rPr sz="4400" b="1" i="0" baseline="30000">
                <a:solidFill>
                  <a:srgbClr val="35798B"/>
                </a:solidFill>
                <a:latin typeface="Arial"/>
              </a:rPr>
              <a:t>−14</a:t>
            </a:r>
          </a:p>
        </p:txBody>
      </p:sp>
      <p:sp>
        <p:nvSpPr>
          <p:cNvPr id="169" name="TextBox 168"/>
          <p:cNvSpPr txBox="1"/>
          <p:nvPr/>
        </p:nvSpPr>
        <p:spPr>
          <a:xfrm>
            <a:off x="16514064" y="9484157"/>
            <a:ext cx="6382512" cy="537667"/>
          </a:xfrm>
          <a:prstGeom prst="rect">
            <a:avLst/>
          </a:prstGeom>
          <a:noFill/>
        </p:spPr>
        <p:txBody>
          <a:bodyPr wrap="square" lIns="0" rIns="0" tIns="0" bIns="0" anchor="t">
            <a:noAutofit/>
          </a:bodyPr>
          <a:lstStyle/>
          <a:p>
            <a:pPr algn="l"/>
            <a:r>
              <a:rPr sz="2500" b="0" i="0">
                <a:solidFill>
                  <a:srgbClr val="5F6B76"/>
                </a:solidFill>
                <a:latin typeface="Gill Sans"/>
              </a:rPr>
              <a:t>max normalized difference</a:t>
            </a:r>
          </a:p>
        </p:txBody>
      </p:sp>
      <p:sp>
        <p:nvSpPr>
          <p:cNvPr id="170" name="Rounded Rectangle 169"/>
          <p:cNvSpPr/>
          <p:nvPr/>
        </p:nvSpPr>
        <p:spPr>
          <a:xfrm>
            <a:off x="16184880" y="10277856"/>
            <a:ext cx="7040880" cy="1682496"/>
          </a:xfrm>
          <a:prstGeom prst="roundRect">
            <a:avLst>
              <a:gd name="adj" fmla="val 13043"/>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6514064" y="10387584"/>
            <a:ext cx="6382512" cy="925373"/>
          </a:xfrm>
          <a:prstGeom prst="rect">
            <a:avLst/>
          </a:prstGeom>
          <a:noFill/>
        </p:spPr>
        <p:txBody>
          <a:bodyPr wrap="square" lIns="0" rIns="0" tIns="0" bIns="0" anchor="ctr">
            <a:noAutofit/>
          </a:bodyPr>
          <a:lstStyle/>
          <a:p>
            <a:pPr algn="l"/>
            <a:r>
              <a:rPr sz="4400" b="1" i="0">
                <a:solidFill>
                  <a:srgbClr val="35798B"/>
                </a:solidFill>
                <a:latin typeface="Arial"/>
              </a:rPr>
              <a:t>1.0</a:t>
            </a:r>
          </a:p>
        </p:txBody>
      </p:sp>
      <p:sp>
        <p:nvSpPr>
          <p:cNvPr id="172" name="TextBox 171"/>
          <p:cNvSpPr txBox="1"/>
          <p:nvPr/>
        </p:nvSpPr>
        <p:spPr>
          <a:xfrm>
            <a:off x="16514064" y="11312957"/>
            <a:ext cx="6382512" cy="537667"/>
          </a:xfrm>
          <a:prstGeom prst="rect">
            <a:avLst/>
          </a:prstGeom>
          <a:noFill/>
        </p:spPr>
        <p:txBody>
          <a:bodyPr wrap="square" lIns="0" rIns="0" tIns="0" bIns="0" anchor="t">
            <a:noAutofit/>
          </a:bodyPr>
          <a:lstStyle/>
          <a:p>
            <a:pPr algn="l"/>
            <a:r>
              <a:rPr sz="2500" b="0" i="0">
                <a:solidFill>
                  <a:srgbClr val="5F6B76"/>
                </a:solidFill>
                <a:latin typeface="Gill Sans"/>
              </a:rPr>
              <a:t>wake-pattern correlation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Each Optimization Stacks: 40× on 16 GPUs</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604M cells, 60 turbines. 4 CPU nodes (512 processes) vs. 4 GPU nodes (16 A100s).</a:t>
            </a:r>
          </a:p>
        </p:txBody>
      </p:sp>
      <p:graphicFrame>
        <p:nvGraphicFramePr>
          <p:cNvPr id="150" name="Chart 149"/>
          <p:cNvGraphicFramePr>
            <a:graphicFrameLocks noGrp="1"/>
          </p:cNvGraphicFramePr>
          <p:nvPr/>
        </p:nvGraphicFramePr>
        <p:xfrm>
          <a:off x="822960" y="3931920"/>
          <a:ext cx="14264640" cy="8229600"/>
        </p:xfrm>
        <a:graphic>
          <a:graphicData uri="http://schemas.openxmlformats.org/drawingml/2006/chart">
            <c:chart xmlns:c="http://schemas.openxmlformats.org/drawingml/2006/chart" r:id="rId2"/>
          </a:graphicData>
        </a:graphic>
      </p:graphicFrame>
      <p:sp>
        <p:nvSpPr>
          <p:cNvPr id="151" name="Rounded Rectangle 150"/>
          <p:cNvSpPr/>
          <p:nvPr/>
        </p:nvSpPr>
        <p:spPr>
          <a:xfrm>
            <a:off x="15819120" y="4023360"/>
            <a:ext cx="7406640" cy="2286000"/>
          </a:xfrm>
          <a:prstGeom prst="roundRect">
            <a:avLst>
              <a:gd name="adj" fmla="val 9600"/>
            </a:avLst>
          </a:prstGeom>
          <a:solidFill>
            <a:srgbClr val="3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6276320" y="4151376"/>
            <a:ext cx="6492240" cy="1188720"/>
          </a:xfrm>
          <a:prstGeom prst="rect">
            <a:avLst/>
          </a:prstGeom>
          <a:noFill/>
        </p:spPr>
        <p:txBody>
          <a:bodyPr wrap="square" lIns="0" rIns="0" tIns="0" bIns="0" anchor="ctr">
            <a:noAutofit/>
          </a:bodyPr>
          <a:lstStyle/>
          <a:p>
            <a:pPr algn="l"/>
            <a:r>
              <a:rPr sz="5400" b="1" i="0">
                <a:solidFill>
                  <a:srgbClr val="FFFFFF"/>
                </a:solidFill>
                <a:latin typeface="Arial"/>
              </a:rPr>
              <a:t>6.48 s → 0.162 s</a:t>
            </a:r>
          </a:p>
        </p:txBody>
      </p:sp>
      <p:sp>
        <p:nvSpPr>
          <p:cNvPr id="153" name="TextBox 152"/>
          <p:cNvSpPr txBox="1"/>
          <p:nvPr/>
        </p:nvSpPr>
        <p:spPr>
          <a:xfrm>
            <a:off x="16276320" y="5358384"/>
            <a:ext cx="6492240" cy="731520"/>
          </a:xfrm>
          <a:prstGeom prst="rect">
            <a:avLst/>
          </a:prstGeom>
          <a:noFill/>
        </p:spPr>
        <p:txBody>
          <a:bodyPr wrap="square" lIns="0" rIns="0" tIns="0" bIns="0" anchor="t">
            <a:noAutofit/>
          </a:bodyPr>
          <a:lstStyle/>
          <a:p>
            <a:pPr algn="l"/>
            <a:r>
              <a:rPr sz="2400" b="0" i="0">
                <a:solidFill>
                  <a:srgbClr val="D5DFEA"/>
                </a:solidFill>
                <a:latin typeface="Gill Sans"/>
              </a:rPr>
              <a:t>per time step (0.27 ms per million cells)</a:t>
            </a:r>
          </a:p>
        </p:txBody>
      </p:sp>
      <p:sp>
        <p:nvSpPr>
          <p:cNvPr id="154" name="Rounded Rectangle 153"/>
          <p:cNvSpPr/>
          <p:nvPr/>
        </p:nvSpPr>
        <p:spPr>
          <a:xfrm>
            <a:off x="15819120" y="6620256"/>
            <a:ext cx="352044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6111728" y="6729984"/>
            <a:ext cx="2935224" cy="1005840"/>
          </a:xfrm>
          <a:prstGeom prst="rect">
            <a:avLst/>
          </a:prstGeom>
          <a:noFill/>
        </p:spPr>
        <p:txBody>
          <a:bodyPr wrap="square" lIns="0" rIns="0" tIns="0" bIns="0" anchor="ctr">
            <a:noAutofit/>
          </a:bodyPr>
          <a:lstStyle/>
          <a:p>
            <a:pPr algn="l"/>
            <a:r>
              <a:rPr sz="4800" b="1" i="0">
                <a:solidFill>
                  <a:srgbClr val="35798B"/>
                </a:solidFill>
                <a:latin typeface="Arial"/>
              </a:rPr>
              <a:t>93%</a:t>
            </a:r>
          </a:p>
        </p:txBody>
      </p:sp>
      <p:sp>
        <p:nvSpPr>
          <p:cNvPr id="156" name="TextBox 155"/>
          <p:cNvSpPr txBox="1"/>
          <p:nvPr/>
        </p:nvSpPr>
        <p:spPr>
          <a:xfrm>
            <a:off x="16111728" y="7735824"/>
            <a:ext cx="2935224" cy="603504"/>
          </a:xfrm>
          <a:prstGeom prst="rect">
            <a:avLst/>
          </a:prstGeom>
          <a:noFill/>
        </p:spPr>
        <p:txBody>
          <a:bodyPr wrap="square" lIns="0" rIns="0" tIns="0" bIns="0" anchor="t">
            <a:noAutofit/>
          </a:bodyPr>
          <a:lstStyle/>
          <a:p>
            <a:pPr algn="l"/>
            <a:r>
              <a:rPr sz="2500" b="0" i="0">
                <a:solidFill>
                  <a:srgbClr val="5F6B76"/>
                </a:solidFill>
                <a:latin typeface="Gill Sans"/>
              </a:rPr>
              <a:t>GPU busy</a:t>
            </a:r>
          </a:p>
        </p:txBody>
      </p:sp>
      <p:sp>
        <p:nvSpPr>
          <p:cNvPr id="157" name="Rounded Rectangle 156"/>
          <p:cNvSpPr/>
          <p:nvPr/>
        </p:nvSpPr>
        <p:spPr>
          <a:xfrm>
            <a:off x="19705320" y="6620256"/>
            <a:ext cx="352044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9997928" y="6729984"/>
            <a:ext cx="2935224" cy="1005840"/>
          </a:xfrm>
          <a:prstGeom prst="rect">
            <a:avLst/>
          </a:prstGeom>
          <a:noFill/>
        </p:spPr>
        <p:txBody>
          <a:bodyPr wrap="square" lIns="0" rIns="0" tIns="0" bIns="0" anchor="ctr">
            <a:noAutofit/>
          </a:bodyPr>
          <a:lstStyle/>
          <a:p>
            <a:pPr algn="l"/>
            <a:r>
              <a:rPr sz="4800" b="1" i="0">
                <a:solidFill>
                  <a:srgbClr val="35798B"/>
                </a:solidFill>
                <a:latin typeface="Arial"/>
              </a:rPr>
              <a:t>73%</a:t>
            </a:r>
          </a:p>
        </p:txBody>
      </p:sp>
      <p:sp>
        <p:nvSpPr>
          <p:cNvPr id="159" name="TextBox 158"/>
          <p:cNvSpPr txBox="1"/>
          <p:nvPr/>
        </p:nvSpPr>
        <p:spPr>
          <a:xfrm>
            <a:off x="19997928" y="7735824"/>
            <a:ext cx="2935224" cy="603504"/>
          </a:xfrm>
          <a:prstGeom prst="rect">
            <a:avLst/>
          </a:prstGeom>
          <a:noFill/>
        </p:spPr>
        <p:txBody>
          <a:bodyPr wrap="square" lIns="0" rIns="0" tIns="0" bIns="0" anchor="t">
            <a:noAutofit/>
          </a:bodyPr>
          <a:lstStyle/>
          <a:p>
            <a:pPr algn="l"/>
            <a:r>
              <a:rPr sz="2500" b="0" i="0">
                <a:solidFill>
                  <a:srgbClr val="5F6B76"/>
                </a:solidFill>
                <a:latin typeface="Gill Sans"/>
              </a:rPr>
              <a:t>of peak DRAM BW</a:t>
            </a:r>
          </a:p>
        </p:txBody>
      </p:sp>
      <p:sp>
        <p:nvSpPr>
          <p:cNvPr id="160" name="Rounded Rectangle 159"/>
          <p:cNvSpPr/>
          <p:nvPr/>
        </p:nvSpPr>
        <p:spPr>
          <a:xfrm>
            <a:off x="15819120" y="8723376"/>
            <a:ext cx="352044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6111728" y="8833104"/>
            <a:ext cx="2935224" cy="1005840"/>
          </a:xfrm>
          <a:prstGeom prst="rect">
            <a:avLst/>
          </a:prstGeom>
          <a:noFill/>
        </p:spPr>
        <p:txBody>
          <a:bodyPr wrap="square" lIns="0" rIns="0" tIns="0" bIns="0" anchor="ctr">
            <a:noAutofit/>
          </a:bodyPr>
          <a:lstStyle/>
          <a:p>
            <a:pPr algn="l"/>
            <a:r>
              <a:rPr sz="4800" b="1" i="0">
                <a:solidFill>
                  <a:srgbClr val="35798B"/>
                </a:solidFill>
                <a:latin typeface="Arial"/>
              </a:rPr>
              <a:t>1.6 MB</a:t>
            </a:r>
          </a:p>
        </p:txBody>
      </p:sp>
      <p:sp>
        <p:nvSpPr>
          <p:cNvPr id="162" name="TextBox 161"/>
          <p:cNvSpPr txBox="1"/>
          <p:nvPr/>
        </p:nvSpPr>
        <p:spPr>
          <a:xfrm>
            <a:off x="16111728" y="9838944"/>
            <a:ext cx="2935224" cy="603504"/>
          </a:xfrm>
          <a:prstGeom prst="rect">
            <a:avLst/>
          </a:prstGeom>
          <a:noFill/>
        </p:spPr>
        <p:txBody>
          <a:bodyPr wrap="square" lIns="0" rIns="0" tIns="0" bIns="0" anchor="t">
            <a:noAutofit/>
          </a:bodyPr>
          <a:lstStyle/>
          <a:p>
            <a:pPr algn="l"/>
            <a:r>
              <a:rPr sz="2500" b="0" i="0">
                <a:solidFill>
                  <a:srgbClr val="5F6B76"/>
                </a:solidFill>
                <a:latin typeface="Gill Sans"/>
              </a:rPr>
              <a:t>host→device / step</a:t>
            </a:r>
          </a:p>
        </p:txBody>
      </p:sp>
      <p:sp>
        <p:nvSpPr>
          <p:cNvPr id="163" name="Rounded Rectangle 162"/>
          <p:cNvSpPr/>
          <p:nvPr/>
        </p:nvSpPr>
        <p:spPr>
          <a:xfrm>
            <a:off x="19705320" y="8723376"/>
            <a:ext cx="352044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9997928" y="8833104"/>
            <a:ext cx="2935224" cy="1005840"/>
          </a:xfrm>
          <a:prstGeom prst="rect">
            <a:avLst/>
          </a:prstGeom>
          <a:noFill/>
        </p:spPr>
        <p:txBody>
          <a:bodyPr wrap="square" lIns="0" rIns="0" tIns="0" bIns="0" anchor="ctr">
            <a:noAutofit/>
          </a:bodyPr>
          <a:lstStyle/>
          <a:p>
            <a:pPr algn="l"/>
            <a:r>
              <a:rPr sz="4800" b="1" i="0">
                <a:solidFill>
                  <a:srgbClr val="35798B"/>
                </a:solidFill>
                <a:latin typeface="Arial"/>
              </a:rPr>
              <a:t>2.0 MB</a:t>
            </a:r>
          </a:p>
        </p:txBody>
      </p:sp>
      <p:sp>
        <p:nvSpPr>
          <p:cNvPr id="165" name="TextBox 164"/>
          <p:cNvSpPr txBox="1"/>
          <p:nvPr/>
        </p:nvSpPr>
        <p:spPr>
          <a:xfrm>
            <a:off x="19997928" y="9838944"/>
            <a:ext cx="2935224" cy="603504"/>
          </a:xfrm>
          <a:prstGeom prst="rect">
            <a:avLst/>
          </a:prstGeom>
          <a:noFill/>
        </p:spPr>
        <p:txBody>
          <a:bodyPr wrap="square" lIns="0" rIns="0" tIns="0" bIns="0" anchor="t">
            <a:noAutofit/>
          </a:bodyPr>
          <a:lstStyle/>
          <a:p>
            <a:pPr algn="l"/>
            <a:r>
              <a:rPr sz="2500" b="0" i="0">
                <a:solidFill>
                  <a:srgbClr val="5F6B76"/>
                </a:solidFill>
                <a:latin typeface="Gill Sans"/>
              </a:rPr>
              <a:t>device→host / step</a:t>
            </a:r>
          </a:p>
        </p:txBody>
      </p:sp>
      <p:sp>
        <p:nvSpPr>
          <p:cNvPr id="166" name="TextBox 165"/>
          <p:cNvSpPr txBox="1"/>
          <p:nvPr/>
        </p:nvSpPr>
        <p:spPr>
          <a:xfrm>
            <a:off x="15819120" y="10936224"/>
            <a:ext cx="7406640" cy="1097280"/>
          </a:xfrm>
          <a:prstGeom prst="rect">
            <a:avLst/>
          </a:prstGeom>
          <a:noFill/>
        </p:spPr>
        <p:txBody>
          <a:bodyPr wrap="square" lIns="0" rIns="0" tIns="0" bIns="0" anchor="t">
            <a:noAutofit/>
          </a:bodyPr>
          <a:lstStyle/>
          <a:p>
            <a:pPr algn="l"/>
            <a:r>
              <a:rPr sz="2400" b="0" i="1">
                <a:solidFill>
                  <a:srgbClr val="5F6B76"/>
                </a:solidFill>
                <a:latin typeface="Gill Sans"/>
              </a:rPr>
              <a:t>LASD every 5th step: 8.18 s → 0.206 s (39.7×)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Strong Scaling to 128 GPUs</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90× over the best CPU run on 64 GPUs; 1.36B cells at 0.084 s per step on 128 GPUs.</a:t>
            </a:r>
          </a:p>
        </p:txBody>
      </p:sp>
      <p:pic>
        <p:nvPicPr>
          <p:cNvPr id="150" name="Picture 149" descr="fig_scaling.png"/>
          <p:cNvPicPr>
            <a:picLocks noChangeAspect="1"/>
          </p:cNvPicPr>
          <p:nvPr/>
        </p:nvPicPr>
        <p:blipFill>
          <a:blip r:embed="rId2"/>
          <a:stretch>
            <a:fillRect/>
          </a:stretch>
        </p:blipFill>
        <p:spPr>
          <a:xfrm>
            <a:off x="1097280" y="3931920"/>
            <a:ext cx="10058400" cy="6035040"/>
          </a:xfrm>
          <a:prstGeom prst="rect">
            <a:avLst/>
          </a:prstGeom>
        </p:spPr>
      </p:pic>
      <p:pic>
        <p:nvPicPr>
          <p:cNvPr id="151" name="Picture 150" descr="fig_stagescale.png"/>
          <p:cNvPicPr>
            <a:picLocks noChangeAspect="1"/>
          </p:cNvPicPr>
          <p:nvPr/>
        </p:nvPicPr>
        <p:blipFill>
          <a:blip r:embed="rId3"/>
          <a:stretch>
            <a:fillRect/>
          </a:stretch>
        </p:blipFill>
        <p:spPr>
          <a:xfrm>
            <a:off x="13167360" y="3931920"/>
            <a:ext cx="10058400" cy="6035040"/>
          </a:xfrm>
          <a:prstGeom prst="rect">
            <a:avLst/>
          </a:prstGeom>
        </p:spPr>
      </p:pic>
      <p:sp>
        <p:nvSpPr>
          <p:cNvPr id="152" name="Rounded Rectangle 151"/>
          <p:cNvSpPr/>
          <p:nvPr/>
        </p:nvSpPr>
        <p:spPr>
          <a:xfrm>
            <a:off x="1097280" y="10241280"/>
            <a:ext cx="713232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426464" y="10351008"/>
            <a:ext cx="6473952" cy="1005840"/>
          </a:xfrm>
          <a:prstGeom prst="rect">
            <a:avLst/>
          </a:prstGeom>
          <a:noFill/>
        </p:spPr>
        <p:txBody>
          <a:bodyPr wrap="square" lIns="0" rIns="0" tIns="0" bIns="0" anchor="ctr">
            <a:noAutofit/>
          </a:bodyPr>
          <a:lstStyle/>
          <a:p>
            <a:pPr algn="l"/>
            <a:r>
              <a:rPr sz="4800" b="1" i="0">
                <a:solidFill>
                  <a:srgbClr val="35798B"/>
                </a:solidFill>
                <a:latin typeface="Arial"/>
              </a:rPr>
              <a:t>87–90%</a:t>
            </a:r>
          </a:p>
        </p:txBody>
      </p:sp>
      <p:sp>
        <p:nvSpPr>
          <p:cNvPr id="154" name="TextBox 153"/>
          <p:cNvSpPr txBox="1"/>
          <p:nvPr/>
        </p:nvSpPr>
        <p:spPr>
          <a:xfrm>
            <a:off x="1426464" y="11356848"/>
            <a:ext cx="6473952" cy="603504"/>
          </a:xfrm>
          <a:prstGeom prst="rect">
            <a:avLst/>
          </a:prstGeom>
          <a:noFill/>
        </p:spPr>
        <p:txBody>
          <a:bodyPr wrap="square" lIns="0" rIns="0" tIns="0" bIns="0" anchor="t">
            <a:noAutofit/>
          </a:bodyPr>
          <a:lstStyle/>
          <a:p>
            <a:pPr algn="l"/>
            <a:r>
              <a:rPr sz="2500" b="0" i="0">
                <a:solidFill>
                  <a:srgbClr val="5F6B76"/>
                </a:solidFill>
                <a:latin typeface="Gill Sans"/>
              </a:rPr>
              <a:t>parallel efficiency when GPU count doubles</a:t>
            </a:r>
          </a:p>
        </p:txBody>
      </p:sp>
      <p:sp>
        <p:nvSpPr>
          <p:cNvPr id="155" name="Rounded Rectangle 154"/>
          <p:cNvSpPr/>
          <p:nvPr/>
        </p:nvSpPr>
        <p:spPr>
          <a:xfrm>
            <a:off x="8595360" y="10241280"/>
            <a:ext cx="713232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924544" y="10351008"/>
            <a:ext cx="6473952" cy="1005840"/>
          </a:xfrm>
          <a:prstGeom prst="rect">
            <a:avLst/>
          </a:prstGeom>
          <a:noFill/>
        </p:spPr>
        <p:txBody>
          <a:bodyPr wrap="square" lIns="0" rIns="0" tIns="0" bIns="0" anchor="ctr">
            <a:noAutofit/>
          </a:bodyPr>
          <a:lstStyle/>
          <a:p>
            <a:pPr algn="l"/>
            <a:r>
              <a:rPr sz="4800" b="1" i="0">
                <a:solidFill>
                  <a:srgbClr val="35798B"/>
                </a:solidFill>
                <a:latin typeface="Arial"/>
              </a:rPr>
              <a:t>16.2B</a:t>
            </a:r>
          </a:p>
        </p:txBody>
      </p:sp>
      <p:sp>
        <p:nvSpPr>
          <p:cNvPr id="157" name="TextBox 156"/>
          <p:cNvSpPr txBox="1"/>
          <p:nvPr/>
        </p:nvSpPr>
        <p:spPr>
          <a:xfrm>
            <a:off x="8924544" y="11356848"/>
            <a:ext cx="6473952" cy="603504"/>
          </a:xfrm>
          <a:prstGeom prst="rect">
            <a:avLst/>
          </a:prstGeom>
          <a:noFill/>
        </p:spPr>
        <p:txBody>
          <a:bodyPr wrap="square" lIns="0" rIns="0" tIns="0" bIns="0" anchor="t">
            <a:noAutofit/>
          </a:bodyPr>
          <a:lstStyle/>
          <a:p>
            <a:pPr algn="l"/>
            <a:r>
              <a:rPr sz="2500" b="0" i="0">
                <a:solidFill>
                  <a:srgbClr val="5F6B76"/>
                </a:solidFill>
                <a:latin typeface="Gill Sans"/>
              </a:rPr>
              <a:t>cell updates per second on 128 GPUs</a:t>
            </a:r>
          </a:p>
        </p:txBody>
      </p:sp>
      <p:sp>
        <p:nvSpPr>
          <p:cNvPr id="158" name="Rounded Rectangle 157"/>
          <p:cNvSpPr/>
          <p:nvPr/>
        </p:nvSpPr>
        <p:spPr>
          <a:xfrm>
            <a:off x="16093440" y="10241280"/>
            <a:ext cx="713232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6422624" y="10351008"/>
            <a:ext cx="6473952" cy="1005840"/>
          </a:xfrm>
          <a:prstGeom prst="rect">
            <a:avLst/>
          </a:prstGeom>
          <a:noFill/>
        </p:spPr>
        <p:txBody>
          <a:bodyPr wrap="square" lIns="0" rIns="0" tIns="0" bIns="0" anchor="ctr">
            <a:noAutofit/>
          </a:bodyPr>
          <a:lstStyle/>
          <a:p>
            <a:pPr algn="l"/>
            <a:r>
              <a:rPr sz="4800" b="1" i="0">
                <a:solidFill>
                  <a:srgbClr val="C4512F"/>
                </a:solidFill>
                <a:latin typeface="Arial"/>
              </a:rPr>
              <a:t>33–36 ms</a:t>
            </a:r>
          </a:p>
        </p:txBody>
      </p:sp>
      <p:sp>
        <p:nvSpPr>
          <p:cNvPr id="160" name="TextBox 159"/>
          <p:cNvSpPr txBox="1"/>
          <p:nvPr/>
        </p:nvSpPr>
        <p:spPr>
          <a:xfrm>
            <a:off x="16422624" y="11356848"/>
            <a:ext cx="6473952" cy="603504"/>
          </a:xfrm>
          <a:prstGeom prst="rect">
            <a:avLst/>
          </a:prstGeom>
          <a:noFill/>
        </p:spPr>
        <p:txBody>
          <a:bodyPr wrap="square" lIns="0" rIns="0" tIns="0" bIns="0" anchor="t">
            <a:noAutofit/>
          </a:bodyPr>
          <a:lstStyle/>
          <a:p>
            <a:pPr algn="l"/>
            <a:r>
              <a:rPr sz="2500" b="0" i="0">
                <a:solidFill>
                  <a:srgbClr val="5F6B76"/>
                </a:solidFill>
                <a:latin typeface="Gill Sans"/>
              </a:rPr>
              <a:t>flat Other stage: collectives + launches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Weak Scaling and Kernel Efficiency</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TextBox 148"/>
          <p:cNvSpPr txBox="1"/>
          <p:nvPr/>
        </p:nvSpPr>
        <p:spPr>
          <a:xfrm>
            <a:off x="1097280" y="3035808"/>
            <a:ext cx="22128480" cy="768096"/>
          </a:xfrm>
          <a:prstGeom prst="rect">
            <a:avLst/>
          </a:prstGeom>
          <a:noFill/>
        </p:spPr>
        <p:txBody>
          <a:bodyPr wrap="square" lIns="0" rIns="0" tIns="0" bIns="0" anchor="ctr">
            <a:noAutofit/>
          </a:bodyPr>
          <a:lstStyle/>
          <a:p>
            <a:pPr algn="l"/>
            <a:r>
              <a:rPr sz="3400" b="0" i="1">
                <a:solidFill>
                  <a:srgbClr val="35798B"/>
                </a:solidFill>
                <a:latin typeface="Gill Sans"/>
              </a:rPr>
              <a:t>Kernels run near the memory-bandwidth roof, and efficiency holds when each GPU stays busy.</a:t>
            </a:r>
          </a:p>
        </p:txBody>
      </p:sp>
      <p:pic>
        <p:nvPicPr>
          <p:cNvPr id="150" name="Picture 149" descr="fig_scaling_weak.png"/>
          <p:cNvPicPr>
            <a:picLocks noChangeAspect="1"/>
          </p:cNvPicPr>
          <p:nvPr/>
        </p:nvPicPr>
        <p:blipFill>
          <a:blip r:embed="rId2"/>
          <a:stretch>
            <a:fillRect/>
          </a:stretch>
        </p:blipFill>
        <p:spPr>
          <a:xfrm>
            <a:off x="1097280" y="3931920"/>
            <a:ext cx="10058400" cy="6035040"/>
          </a:xfrm>
          <a:prstGeom prst="rect">
            <a:avLst/>
          </a:prstGeom>
        </p:spPr>
      </p:pic>
      <p:pic>
        <p:nvPicPr>
          <p:cNvPr id="151" name="Picture 150" descr="fig_roofline.png"/>
          <p:cNvPicPr>
            <a:picLocks noChangeAspect="1"/>
          </p:cNvPicPr>
          <p:nvPr/>
        </p:nvPicPr>
        <p:blipFill>
          <a:blip r:embed="rId3"/>
          <a:stretch>
            <a:fillRect/>
          </a:stretch>
        </p:blipFill>
        <p:spPr>
          <a:xfrm>
            <a:off x="13167360" y="3931920"/>
            <a:ext cx="10058400" cy="6035040"/>
          </a:xfrm>
          <a:prstGeom prst="rect">
            <a:avLst/>
          </a:prstGeom>
        </p:spPr>
      </p:pic>
      <p:sp>
        <p:nvSpPr>
          <p:cNvPr id="152" name="Rounded Rectangle 151"/>
          <p:cNvSpPr/>
          <p:nvPr/>
        </p:nvSpPr>
        <p:spPr>
          <a:xfrm>
            <a:off x="1097280" y="10241280"/>
            <a:ext cx="713232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426464" y="10351008"/>
            <a:ext cx="6473952" cy="1005840"/>
          </a:xfrm>
          <a:prstGeom prst="rect">
            <a:avLst/>
          </a:prstGeom>
          <a:noFill/>
        </p:spPr>
        <p:txBody>
          <a:bodyPr wrap="square" lIns="0" rIns="0" tIns="0" bIns="0" anchor="ctr">
            <a:noAutofit/>
          </a:bodyPr>
          <a:lstStyle/>
          <a:p>
            <a:pPr algn="l"/>
            <a:r>
              <a:rPr sz="4800" b="1" i="0">
                <a:solidFill>
                  <a:srgbClr val="35798B"/>
                </a:solidFill>
                <a:latin typeface="Arial"/>
              </a:rPr>
              <a:t>90%</a:t>
            </a:r>
          </a:p>
        </p:txBody>
      </p:sp>
      <p:sp>
        <p:nvSpPr>
          <p:cNvPr id="154" name="TextBox 153"/>
          <p:cNvSpPr txBox="1"/>
          <p:nvPr/>
        </p:nvSpPr>
        <p:spPr>
          <a:xfrm>
            <a:off x="1426464" y="11356848"/>
            <a:ext cx="6473952" cy="603504"/>
          </a:xfrm>
          <a:prstGeom prst="rect">
            <a:avLst/>
          </a:prstGeom>
          <a:noFill/>
        </p:spPr>
        <p:txBody>
          <a:bodyPr wrap="square" lIns="0" rIns="0" tIns="0" bIns="0" anchor="t">
            <a:noAutofit/>
          </a:bodyPr>
          <a:lstStyle/>
          <a:p>
            <a:pPr algn="l"/>
            <a:r>
              <a:rPr sz="2500" b="0" i="0">
                <a:solidFill>
                  <a:srgbClr val="5F6B76"/>
                </a:solidFill>
                <a:latin typeface="Gill Sans"/>
              </a:rPr>
              <a:t>weak-scaling efficiency, 4 → 64 GPUs</a:t>
            </a:r>
          </a:p>
        </p:txBody>
      </p:sp>
      <p:sp>
        <p:nvSpPr>
          <p:cNvPr id="155" name="Rounded Rectangle 154"/>
          <p:cNvSpPr/>
          <p:nvPr/>
        </p:nvSpPr>
        <p:spPr>
          <a:xfrm>
            <a:off x="8595360" y="10241280"/>
            <a:ext cx="713232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924544" y="10351008"/>
            <a:ext cx="6473952" cy="1005840"/>
          </a:xfrm>
          <a:prstGeom prst="rect">
            <a:avLst/>
          </a:prstGeom>
          <a:noFill/>
        </p:spPr>
        <p:txBody>
          <a:bodyPr wrap="square" lIns="0" rIns="0" tIns="0" bIns="0" anchor="ctr">
            <a:noAutofit/>
          </a:bodyPr>
          <a:lstStyle/>
          <a:p>
            <a:pPr algn="l"/>
            <a:r>
              <a:rPr sz="4800" b="1" i="0">
                <a:solidFill>
                  <a:srgbClr val="35798B"/>
                </a:solidFill>
                <a:latin typeface="Arial"/>
              </a:rPr>
              <a:t>67–88%</a:t>
            </a:r>
          </a:p>
        </p:txBody>
      </p:sp>
      <p:sp>
        <p:nvSpPr>
          <p:cNvPr id="157" name="TextBox 156"/>
          <p:cNvSpPr txBox="1"/>
          <p:nvPr/>
        </p:nvSpPr>
        <p:spPr>
          <a:xfrm>
            <a:off x="8924544" y="11356848"/>
            <a:ext cx="6473952" cy="603504"/>
          </a:xfrm>
          <a:prstGeom prst="rect">
            <a:avLst/>
          </a:prstGeom>
          <a:noFill/>
        </p:spPr>
        <p:txBody>
          <a:bodyPr wrap="square" lIns="0" rIns="0" tIns="0" bIns="0" anchor="t">
            <a:noAutofit/>
          </a:bodyPr>
          <a:lstStyle/>
          <a:p>
            <a:pPr algn="l"/>
            <a:r>
              <a:rPr sz="2500" b="0" i="0">
                <a:solidFill>
                  <a:srgbClr val="5F6B76"/>
                </a:solidFill>
                <a:latin typeface="Gill Sans"/>
              </a:rPr>
              <a:t>of peak DRAM bandwidth, custom kernels</a:t>
            </a:r>
          </a:p>
        </p:txBody>
      </p:sp>
      <p:sp>
        <p:nvSpPr>
          <p:cNvPr id="158" name="Rounded Rectangle 157"/>
          <p:cNvSpPr/>
          <p:nvPr/>
        </p:nvSpPr>
        <p:spPr>
          <a:xfrm>
            <a:off x="16093440" y="10241280"/>
            <a:ext cx="7132320" cy="182880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6422624" y="10351008"/>
            <a:ext cx="6473952" cy="1005840"/>
          </a:xfrm>
          <a:prstGeom prst="rect">
            <a:avLst/>
          </a:prstGeom>
          <a:noFill/>
        </p:spPr>
        <p:txBody>
          <a:bodyPr wrap="square" lIns="0" rIns="0" tIns="0" bIns="0" anchor="ctr">
            <a:noAutofit/>
          </a:bodyPr>
          <a:lstStyle/>
          <a:p>
            <a:pPr algn="l"/>
            <a:r>
              <a:rPr sz="4800" b="1" i="0">
                <a:solidFill>
                  <a:srgbClr val="35798B"/>
                </a:solidFill>
                <a:latin typeface="Arial"/>
              </a:rPr>
              <a:t>48–82%</a:t>
            </a:r>
          </a:p>
        </p:txBody>
      </p:sp>
      <p:sp>
        <p:nvSpPr>
          <p:cNvPr id="160" name="TextBox 159"/>
          <p:cNvSpPr txBox="1"/>
          <p:nvPr/>
        </p:nvSpPr>
        <p:spPr>
          <a:xfrm>
            <a:off x="16422624" y="11356848"/>
            <a:ext cx="6473952" cy="603504"/>
          </a:xfrm>
          <a:prstGeom prst="rect">
            <a:avLst/>
          </a:prstGeom>
          <a:noFill/>
        </p:spPr>
        <p:txBody>
          <a:bodyPr wrap="square" lIns="0" rIns="0" tIns="0" bIns="0" anchor="t">
            <a:noAutofit/>
          </a:bodyPr>
          <a:lstStyle/>
          <a:p>
            <a:pPr algn="l"/>
            <a:r>
              <a:rPr sz="2500" b="0" i="0">
                <a:solidFill>
                  <a:srgbClr val="5F6B76"/>
                </a:solidFill>
                <a:latin typeface="Gill Sans"/>
              </a:rPr>
              <a:t>of peak DRAM bandwidth, batched cuFFT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Takeaways</a:t>
            </a:r>
          </a:p>
        </p:txBody>
      </p:sp>
      <p:sp>
        <p:nvSpPr>
          <p:cNvPr id="148" name="Slide Number"/>
          <p:cNvSpPr txBox="1">
            <a:spLocks noGrp="1"/>
          </p:cNvSpPr>
          <p:nvPr>
            <p:ph type="sldNum" sz="quarter" idx="2"/>
          </p:nvPr>
        </p:nvSpPr>
        <p:spPr>
          <a:xfrm>
            <a:off x="11734495" y="12867527"/>
            <a:ext cx="914400" cy="457201"/>
          </a:xfrm>
          <a:prstGeom prst="rect">
            <a:avLst/>
          </a:prstGeom>
        </p:spPr>
        <p:txBody>
          <a:bodyPr/>
          <a:lstStyle/>
          <a:p>
            <a:pPr algn="ctr"/>
            <a:fld id="{86CB4B4D-7CA3-9044-876B-883B54F8677D}" type="slidenum">
              <a:rPr/>
              <a:t>2</a:t>
            </a:fld>
            <a:endParaRPr/>
          </a:p>
        </p:txBody>
      </p:sp>
      <p:sp>
        <p:nvSpPr>
          <p:cNvPr id="149" name="Oval 148"/>
          <p:cNvSpPr/>
          <p:nvPr/>
        </p:nvSpPr>
        <p:spPr>
          <a:xfrm>
            <a:off x="1097280" y="3566160"/>
            <a:ext cx="914400" cy="914400"/>
          </a:xfrm>
          <a:prstGeom prst="ellipse">
            <a:avLst/>
          </a:prstGeom>
          <a:solidFill>
            <a:srgbClr val="3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097280" y="3566160"/>
            <a:ext cx="914400" cy="914400"/>
          </a:xfrm>
          <a:prstGeom prst="rect">
            <a:avLst/>
          </a:prstGeom>
          <a:noFill/>
        </p:spPr>
        <p:txBody>
          <a:bodyPr wrap="square" lIns="0" rIns="0" tIns="0" bIns="0" anchor="ctr">
            <a:noAutofit/>
          </a:bodyPr>
          <a:lstStyle/>
          <a:p>
            <a:pPr algn="ctr"/>
            <a:r>
              <a:rPr sz="3400" b="1" i="0">
                <a:solidFill>
                  <a:srgbClr val="FFFFFF"/>
                </a:solidFill>
                <a:latin typeface="Arial"/>
              </a:rPr>
              <a:t>1</a:t>
            </a:r>
          </a:p>
        </p:txBody>
      </p:sp>
      <p:sp>
        <p:nvSpPr>
          <p:cNvPr id="151" name="TextBox 150"/>
          <p:cNvSpPr txBox="1"/>
          <p:nvPr/>
        </p:nvSpPr>
        <p:spPr>
          <a:xfrm>
            <a:off x="2468880" y="3529584"/>
            <a:ext cx="12527280" cy="768096"/>
          </a:xfrm>
          <a:prstGeom prst="rect">
            <a:avLst/>
          </a:prstGeom>
          <a:noFill/>
        </p:spPr>
        <p:txBody>
          <a:bodyPr wrap="square" lIns="0" rIns="0" tIns="0" bIns="0" anchor="t">
            <a:noAutofit/>
          </a:bodyPr>
          <a:lstStyle/>
          <a:p>
            <a:pPr algn="l"/>
            <a:r>
              <a:rPr sz="3800" b="1" i="0">
                <a:solidFill>
                  <a:srgbClr val="2A2F30"/>
                </a:solidFill>
                <a:latin typeface="Gill Sans"/>
              </a:rPr>
              <a:t>First GPU port of LESGO</a:t>
            </a:r>
          </a:p>
        </p:txBody>
      </p:sp>
      <p:sp>
        <p:nvSpPr>
          <p:cNvPr id="152" name="TextBox 151"/>
          <p:cNvSpPr txBox="1"/>
          <p:nvPr/>
        </p:nvSpPr>
        <p:spPr>
          <a:xfrm>
            <a:off x="2468880" y="4334256"/>
            <a:ext cx="12527280" cy="1097280"/>
          </a:xfrm>
          <a:prstGeom prst="rect">
            <a:avLst/>
          </a:prstGeom>
          <a:noFill/>
        </p:spPr>
        <p:txBody>
          <a:bodyPr wrap="square" lIns="0" rIns="0" tIns="0" bIns="0" anchor="t">
            <a:noAutofit/>
          </a:bodyPr>
          <a:lstStyle/>
          <a:p>
            <a:pPr algn="l"/>
            <a:r>
              <a:rPr sz="3000" b="0" i="0">
                <a:solidFill>
                  <a:srgbClr val="5F6B76"/>
                </a:solidFill>
                <a:latin typeface="Gill Sans"/>
              </a:rPr>
              <a:t>~70K lines of Fortran, full physics pipeline, one OpenACC source tree.</a:t>
            </a:r>
          </a:p>
        </p:txBody>
      </p:sp>
      <p:sp>
        <p:nvSpPr>
          <p:cNvPr id="153" name="Oval 152"/>
          <p:cNvSpPr/>
          <p:nvPr/>
        </p:nvSpPr>
        <p:spPr>
          <a:xfrm>
            <a:off x="1097280" y="5724144"/>
            <a:ext cx="914400" cy="914400"/>
          </a:xfrm>
          <a:prstGeom prst="ellipse">
            <a:avLst/>
          </a:prstGeom>
          <a:solidFill>
            <a:srgbClr val="3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097280" y="5724144"/>
            <a:ext cx="914400" cy="914400"/>
          </a:xfrm>
          <a:prstGeom prst="rect">
            <a:avLst/>
          </a:prstGeom>
          <a:noFill/>
        </p:spPr>
        <p:txBody>
          <a:bodyPr wrap="square" lIns="0" rIns="0" tIns="0" bIns="0" anchor="ctr">
            <a:noAutofit/>
          </a:bodyPr>
          <a:lstStyle/>
          <a:p>
            <a:pPr algn="ctr"/>
            <a:r>
              <a:rPr sz="3400" b="1" i="0">
                <a:solidFill>
                  <a:srgbClr val="FFFFFF"/>
                </a:solidFill>
                <a:latin typeface="Arial"/>
              </a:rPr>
              <a:t>2</a:t>
            </a:r>
          </a:p>
        </p:txBody>
      </p:sp>
      <p:sp>
        <p:nvSpPr>
          <p:cNvPr id="155" name="TextBox 154"/>
          <p:cNvSpPr txBox="1"/>
          <p:nvPr/>
        </p:nvSpPr>
        <p:spPr>
          <a:xfrm>
            <a:off x="2468880" y="5687568"/>
            <a:ext cx="12527280" cy="768096"/>
          </a:xfrm>
          <a:prstGeom prst="rect">
            <a:avLst/>
          </a:prstGeom>
          <a:noFill/>
        </p:spPr>
        <p:txBody>
          <a:bodyPr wrap="square" lIns="0" rIns="0" tIns="0" bIns="0" anchor="t">
            <a:noAutofit/>
          </a:bodyPr>
          <a:lstStyle/>
          <a:p>
            <a:pPr algn="l"/>
            <a:r>
              <a:rPr sz="3800" b="1" i="0">
                <a:solidFill>
                  <a:srgbClr val="2A2F30"/>
                </a:solidFill>
                <a:latin typeface="Gill Sans"/>
              </a:rPr>
              <a:t>Data movement governs performance</a:t>
            </a:r>
          </a:p>
        </p:txBody>
      </p:sp>
      <p:sp>
        <p:nvSpPr>
          <p:cNvPr id="156" name="TextBox 155"/>
          <p:cNvSpPr txBox="1"/>
          <p:nvPr/>
        </p:nvSpPr>
        <p:spPr>
          <a:xfrm>
            <a:off x="2468880" y="6492240"/>
            <a:ext cx="12527280" cy="1097280"/>
          </a:xfrm>
          <a:prstGeom prst="rect">
            <a:avLst/>
          </a:prstGeom>
          <a:noFill/>
        </p:spPr>
        <p:txBody>
          <a:bodyPr wrap="square" lIns="0" rIns="0" tIns="0" bIns="0" anchor="t">
            <a:noAutofit/>
          </a:bodyPr>
          <a:lstStyle/>
          <a:p>
            <a:pPr algn="l"/>
            <a:r>
              <a:rPr sz="3000" b="0" i="0">
                <a:solidFill>
                  <a:srgbClr val="5F6B76"/>
                </a:solidFill>
                <a:latin typeface="Gill Sans"/>
              </a:rPr>
              <a:t>Nine coupling-point classes, resolved by gate, relocate, slice, and overlap.</a:t>
            </a:r>
          </a:p>
        </p:txBody>
      </p:sp>
      <p:sp>
        <p:nvSpPr>
          <p:cNvPr id="157" name="Oval 156"/>
          <p:cNvSpPr/>
          <p:nvPr/>
        </p:nvSpPr>
        <p:spPr>
          <a:xfrm>
            <a:off x="1097280" y="7882128"/>
            <a:ext cx="914400" cy="914400"/>
          </a:xfrm>
          <a:prstGeom prst="ellipse">
            <a:avLst/>
          </a:prstGeom>
          <a:solidFill>
            <a:srgbClr val="3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097280" y="7882128"/>
            <a:ext cx="914400" cy="914400"/>
          </a:xfrm>
          <a:prstGeom prst="rect">
            <a:avLst/>
          </a:prstGeom>
          <a:noFill/>
        </p:spPr>
        <p:txBody>
          <a:bodyPr wrap="square" lIns="0" rIns="0" tIns="0" bIns="0" anchor="ctr">
            <a:noAutofit/>
          </a:bodyPr>
          <a:lstStyle/>
          <a:p>
            <a:pPr algn="ctr"/>
            <a:r>
              <a:rPr sz="3400" b="1" i="0">
                <a:solidFill>
                  <a:srgbClr val="FFFFFF"/>
                </a:solidFill>
                <a:latin typeface="Arial"/>
              </a:rPr>
              <a:t>3</a:t>
            </a:r>
          </a:p>
        </p:txBody>
      </p:sp>
      <p:sp>
        <p:nvSpPr>
          <p:cNvPr id="159" name="TextBox 158"/>
          <p:cNvSpPr txBox="1"/>
          <p:nvPr/>
        </p:nvSpPr>
        <p:spPr>
          <a:xfrm>
            <a:off x="2468880" y="7845552"/>
            <a:ext cx="12527280" cy="768096"/>
          </a:xfrm>
          <a:prstGeom prst="rect">
            <a:avLst/>
          </a:prstGeom>
          <a:noFill/>
        </p:spPr>
        <p:txBody>
          <a:bodyPr wrap="square" lIns="0" rIns="0" tIns="0" bIns="0" anchor="t">
            <a:noAutofit/>
          </a:bodyPr>
          <a:lstStyle/>
          <a:p>
            <a:pPr algn="l"/>
            <a:r>
              <a:rPr sz="3800" b="1" i="0">
                <a:solidFill>
                  <a:srgbClr val="2A2F30"/>
                </a:solidFill>
                <a:latin typeface="Gill Sans"/>
              </a:rPr>
              <a:t>Three structural optimizations</a:t>
            </a:r>
          </a:p>
        </p:txBody>
      </p:sp>
      <p:sp>
        <p:nvSpPr>
          <p:cNvPr id="160" name="TextBox 159"/>
          <p:cNvSpPr txBox="1"/>
          <p:nvPr/>
        </p:nvSpPr>
        <p:spPr>
          <a:xfrm>
            <a:off x="2468880" y="8650224"/>
            <a:ext cx="12527280" cy="1097280"/>
          </a:xfrm>
          <a:prstGeom prst="rect">
            <a:avLst/>
          </a:prstGeom>
          <a:noFill/>
        </p:spPr>
        <p:txBody>
          <a:bodyPr wrap="square" lIns="0" rIns="0" tIns="0" bIns="0" anchor="t">
            <a:noAutofit/>
          </a:bodyPr>
          <a:lstStyle/>
          <a:p>
            <a:pPr algn="l"/>
            <a:r>
              <a:rPr sz="3000" b="0" i="0">
                <a:solidFill>
                  <a:srgbClr val="5F6B76"/>
                </a:solidFill>
                <a:latin typeface="Gill Sans"/>
              </a:rPr>
              <a:t>Chunk pipelining, batching, and CPU–GPU overlap: 93% GPU utilization.</a:t>
            </a:r>
          </a:p>
        </p:txBody>
      </p:sp>
      <p:sp>
        <p:nvSpPr>
          <p:cNvPr id="161" name="Oval 160"/>
          <p:cNvSpPr/>
          <p:nvPr/>
        </p:nvSpPr>
        <p:spPr>
          <a:xfrm>
            <a:off x="1097280" y="10040112"/>
            <a:ext cx="914400" cy="914400"/>
          </a:xfrm>
          <a:prstGeom prst="ellipse">
            <a:avLst/>
          </a:prstGeom>
          <a:solidFill>
            <a:srgbClr val="3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97280" y="10040112"/>
            <a:ext cx="914400" cy="914400"/>
          </a:xfrm>
          <a:prstGeom prst="rect">
            <a:avLst/>
          </a:prstGeom>
          <a:noFill/>
        </p:spPr>
        <p:txBody>
          <a:bodyPr wrap="square" lIns="0" rIns="0" tIns="0" bIns="0" anchor="ctr">
            <a:noAutofit/>
          </a:bodyPr>
          <a:lstStyle/>
          <a:p>
            <a:pPr algn="ctr"/>
            <a:r>
              <a:rPr sz="3400" b="1" i="0">
                <a:solidFill>
                  <a:srgbClr val="FFFFFF"/>
                </a:solidFill>
                <a:latin typeface="Arial"/>
              </a:rPr>
              <a:t>4</a:t>
            </a:r>
          </a:p>
        </p:txBody>
      </p:sp>
      <p:sp>
        <p:nvSpPr>
          <p:cNvPr id="163" name="TextBox 162"/>
          <p:cNvSpPr txBox="1"/>
          <p:nvPr/>
        </p:nvSpPr>
        <p:spPr>
          <a:xfrm>
            <a:off x="2468880" y="10003536"/>
            <a:ext cx="12527280" cy="768096"/>
          </a:xfrm>
          <a:prstGeom prst="rect">
            <a:avLst/>
          </a:prstGeom>
          <a:noFill/>
        </p:spPr>
        <p:txBody>
          <a:bodyPr wrap="square" lIns="0" rIns="0" tIns="0" bIns="0" anchor="t">
            <a:noAutofit/>
          </a:bodyPr>
          <a:lstStyle/>
          <a:p>
            <a:pPr algn="l"/>
            <a:r>
              <a:rPr sz="3800" b="1" i="0">
                <a:solidFill>
                  <a:srgbClr val="2A2F30"/>
                </a:solidFill>
                <a:latin typeface="Gill Sans"/>
              </a:rPr>
              <a:t>Production-scale speed</a:t>
            </a:r>
          </a:p>
        </p:txBody>
      </p:sp>
      <p:sp>
        <p:nvSpPr>
          <p:cNvPr id="164" name="TextBox 163"/>
          <p:cNvSpPr txBox="1"/>
          <p:nvPr/>
        </p:nvSpPr>
        <p:spPr>
          <a:xfrm>
            <a:off x="2468880" y="10808208"/>
            <a:ext cx="12527280" cy="1097280"/>
          </a:xfrm>
          <a:prstGeom prst="rect">
            <a:avLst/>
          </a:prstGeom>
          <a:noFill/>
        </p:spPr>
        <p:txBody>
          <a:bodyPr wrap="square" lIns="0" rIns="0" tIns="0" bIns="0" anchor="t">
            <a:noAutofit/>
          </a:bodyPr>
          <a:lstStyle/>
          <a:p>
            <a:pPr algn="l"/>
            <a:r>
              <a:rPr sz="3000" b="0" i="0">
                <a:solidFill>
                  <a:srgbClr val="5F6B76"/>
                </a:solidFill>
                <a:latin typeface="Gill Sans"/>
              </a:rPr>
              <a:t>Strong scaling to 128 GPUs on a 1.36B-cell grid.</a:t>
            </a:r>
          </a:p>
        </p:txBody>
      </p:sp>
      <p:sp>
        <p:nvSpPr>
          <p:cNvPr id="165" name="Rounded Rectangle 164"/>
          <p:cNvSpPr/>
          <p:nvPr/>
        </p:nvSpPr>
        <p:spPr>
          <a:xfrm>
            <a:off x="15453360" y="3566160"/>
            <a:ext cx="7772400" cy="8412480"/>
          </a:xfrm>
          <a:prstGeom prst="roundRect">
            <a:avLst>
              <a:gd name="adj" fmla="val 2823"/>
            </a:avLst>
          </a:prstGeom>
          <a:solidFill>
            <a:srgbClr val="3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6002000" y="4206240"/>
            <a:ext cx="6858000" cy="2377440"/>
          </a:xfrm>
          <a:prstGeom prst="rect">
            <a:avLst/>
          </a:prstGeom>
          <a:noFill/>
        </p:spPr>
        <p:txBody>
          <a:bodyPr wrap="square" lIns="0" rIns="0" tIns="0" bIns="0" anchor="ctr">
            <a:noAutofit/>
          </a:bodyPr>
          <a:lstStyle/>
          <a:p>
            <a:pPr algn="l"/>
            <a:r>
              <a:rPr sz="12800" b="1" i="0">
                <a:solidFill>
                  <a:srgbClr val="FFFFFF"/>
                </a:solidFill>
                <a:latin typeface="Arial"/>
              </a:rPr>
              <a:t>40–90×</a:t>
            </a:r>
          </a:p>
        </p:txBody>
      </p:sp>
      <p:sp>
        <p:nvSpPr>
          <p:cNvPr id="167" name="TextBox 166"/>
          <p:cNvSpPr txBox="1"/>
          <p:nvPr/>
        </p:nvSpPr>
        <p:spPr>
          <a:xfrm>
            <a:off x="16002000" y="6858000"/>
            <a:ext cx="6858000" cy="1645920"/>
          </a:xfrm>
          <a:prstGeom prst="rect">
            <a:avLst/>
          </a:prstGeom>
          <a:noFill/>
        </p:spPr>
        <p:txBody>
          <a:bodyPr wrap="square" lIns="0" rIns="0" tIns="0" bIns="0" anchor="t">
            <a:noAutofit/>
          </a:bodyPr>
          <a:lstStyle/>
          <a:p>
            <a:pPr algn="l"/>
            <a:r>
              <a:rPr sz="3000" b="0" i="0">
                <a:solidFill>
                  <a:srgbClr val="FFFFFF"/>
                </a:solidFill>
                <a:latin typeface="Gill Sans"/>
              </a:rPr>
              <a:t>speedup over the fastest CPU run on the production wind farm (604M cells)</a:t>
            </a:r>
          </a:p>
        </p:txBody>
      </p:sp>
      <p:sp>
        <p:nvSpPr>
          <p:cNvPr id="168" name="TextBox 167"/>
          <p:cNvSpPr txBox="1"/>
          <p:nvPr/>
        </p:nvSpPr>
        <p:spPr>
          <a:xfrm>
            <a:off x="16002000" y="9052560"/>
            <a:ext cx="6858000" cy="1463040"/>
          </a:xfrm>
          <a:prstGeom prst="rect">
            <a:avLst/>
          </a:prstGeom>
          <a:noFill/>
        </p:spPr>
        <p:txBody>
          <a:bodyPr wrap="square" lIns="0" rIns="0" tIns="0" bIns="0" anchor="t">
            <a:noAutofit/>
          </a:bodyPr>
          <a:lstStyle/>
          <a:p>
            <a:pPr algn="l"/>
            <a:r>
              <a:rPr sz="3000" b="0" i="1">
                <a:solidFill>
                  <a:srgbClr val="D5DFEA"/>
                </a:solidFill>
                <a:latin typeface="Gill Sans"/>
              </a:rPr>
              <a:t>Production campaigns: months → days.</a:t>
            </a:r>
          </a:p>
        </p:txBody>
      </p:sp>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25</Words>
  <Application>Microsoft Office PowerPoint</Application>
  <PresentationFormat>自定义</PresentationFormat>
  <Paragraphs>4</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vt:i4>
      </vt:variant>
    </vt:vector>
  </HeadingPairs>
  <TitlesOfParts>
    <vt:vector size="10" baseType="lpstr">
      <vt:lpstr>DIN Alternate Bold</vt:lpstr>
      <vt:lpstr>Helvetica Neue</vt:lpstr>
      <vt:lpstr>Helvetica Neue Light</vt:lpstr>
      <vt:lpstr>Helvetica Neue Medium</vt:lpstr>
      <vt:lpstr>Arial</vt:lpstr>
      <vt:lpstr>Gill Sans</vt:lpstr>
      <vt:lpstr>White</vt:lpstr>
      <vt:lpstr>The Case of the Elusive Application Performance on Production GPU Supercomputers</vt:lpstr>
      <vt:lpstr>What is Performance Variability?</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c'y v</cp:lastModifiedBy>
  <cp:revision>1</cp:revision>
  <dcterms:modified xsi:type="dcterms:W3CDTF">2026-05-14T19:23:09Z</dcterms:modified>
</cp:coreProperties>
</file>